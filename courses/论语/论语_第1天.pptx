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国学经典精读 · 第1天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1E3C72"/>
                </a:solidFill>
              </a:defRPr>
            </a:pPr>
            <a:r>
              <a:t>论语 · 学而第一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6583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</a:defRPr>
            </a:pPr>
            <a:r>
              <a:t>1/14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第1章 · 学而时习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8229600" cy="1645920"/>
          </a:xfrm>
          <a:prstGeom prst="roundRect">
            <a:avLst/>
          </a:prstGeom>
          <a:solidFill>
            <a:srgbClr val="F5F5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E3C72"/>
                </a:solidFill>
              </a:defRPr>
            </a:pPr>
            <a:r>
              <a:t>[原文]</a:t>
            </a:r>
          </a:p>
          <a:p>
            <a:pPr>
              <a:defRPr sz="2400">
                <a:solidFill>
                  <a:srgbClr val="333333"/>
                </a:solidFill>
              </a:defRPr>
            </a:pPr>
            <a:r>
              <a:t>子曰：学而时习之，不亦说乎？</a:t>
            </a:r>
          </a:p>
          <a:p>
            <a:pPr>
              <a:defRPr sz="2400">
                <a:solidFill>
                  <a:srgbClr val="333333"/>
                </a:solidFill>
              </a:defRPr>
            </a:pPr>
            <a:r>
              <a:t>有朋自远方来，不亦乐乎？</a:t>
            </a:r>
          </a:p>
          <a:p>
            <a:pPr>
              <a:defRPr sz="2400">
                <a:solidFill>
                  <a:srgbClr val="333333"/>
                </a:solidFill>
              </a:defRPr>
            </a:pPr>
            <a:r>
              <a:t>人不知而不愠，不亦君子乎？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200400"/>
            <a:ext cx="8229600" cy="1188720"/>
          </a:xfrm>
          <a:prstGeom prst="roundRect">
            <a:avLst/>
          </a:prstGeom>
          <a:solidFill>
            <a:srgbClr val="4682B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C8DCFF"/>
                </a:solidFill>
              </a:defRPr>
            </a:pPr>
            <a:r>
              <a:t>[Translation]</a:t>
            </a: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The Master said: 'Is it not pleasant to learn with constant practice? Is it not delightful to have friends coming from distant quarters? Is it not a gentleman who is never angry when others do not understand him?'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1. Learning and Practice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学而时习：学习知识后时常复习，是喜悦的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2. Friendship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有朋自远方来：志同道合的朋友是人生的财富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126479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3. Patience</a:t>
            </a:r>
          </a:p>
          <a:p>
            <a:pPr>
              <a:defRPr sz="1400">
                <a:solidFill>
                  <a:srgbClr val="333333"/>
                </a:solidFill>
              </a:defRPr>
            </a:pPr>
            <a:r>
              <a:t>人不知而不愠：别人不了解我，我却不恼怒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583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</a:defRPr>
            </a:pPr>
            <a:r>
              <a:t>2/14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