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46304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914400"/>
          </a:xfrm>
          <a:prstGeom prst="rect">
            <a:avLst/>
          </a:prstGeom>
          <a:noFill/>
        </p:spPr>
        <p:txBody>
          <a:bodyPr wrap="none">
            <a:spAutoFit/>
          </a:bodyPr>
          <a:lstStyle/>
          <a:p>
            <a:pPr>
              <a:defRPr sz="3800" b="1">
                <a:solidFill>
                  <a:srgbClr val="FFFFFF"/>
                </a:solidFill>
              </a:defRPr>
            </a:pPr>
            <a:r>
              <a:t>Guo Xue Jing Dian Jing Du - Day 5</a:t>
            </a:r>
          </a:p>
        </p:txBody>
      </p:sp>
      <p:sp>
        <p:nvSpPr>
          <p:cNvPr id="4" name="TextBox 3"/>
          <p:cNvSpPr txBox="1"/>
          <p:nvPr/>
        </p:nvSpPr>
        <p:spPr>
          <a:xfrm>
            <a:off x="914400" y="2286000"/>
            <a:ext cx="7315200" cy="1371600"/>
          </a:xfrm>
          <a:prstGeom prst="rect">
            <a:avLst/>
          </a:prstGeom>
          <a:noFill/>
        </p:spPr>
        <p:txBody>
          <a:bodyPr wrap="none">
            <a:spAutoFit/>
          </a:bodyPr>
          <a:lstStyle/>
          <a:p>
            <a:pPr algn="ctr">
              <a:defRPr sz="6000" b="1">
                <a:solidFill>
                  <a:srgbClr val="1E3C72"/>
                </a:solidFill>
              </a:defRPr>
            </a:pPr>
            <a:r>
              <a:t>公冶长第五 Gong Ye Chang Di Wu</a:t>
            </a:r>
          </a:p>
        </p:txBody>
      </p:sp>
      <p:sp>
        <p:nvSpPr>
          <p:cNvPr id="5" name="TextBox 4"/>
          <p:cNvSpPr txBox="1"/>
          <p:nvPr/>
        </p:nvSpPr>
        <p:spPr>
          <a:xfrm>
            <a:off x="914400" y="3931920"/>
            <a:ext cx="7315200" cy="914400"/>
          </a:xfrm>
          <a:prstGeom prst="rect">
            <a:avLst/>
          </a:prstGeom>
          <a:noFill/>
        </p:spPr>
        <p:txBody>
          <a:bodyPr wrap="none">
            <a:spAutoFit/>
          </a:bodyPr>
          <a:lstStyle/>
          <a:p>
            <a:pPr algn="ctr">
              <a:defRPr sz="2800">
                <a:solidFill>
                  <a:srgbClr val="666666"/>
                </a:solidFill>
              </a:defRPr>
            </a:pPr>
            <a:r>
              <a:t>Zi Jian Zhi Xian (子贱之贤), Kongzi Ping Qi Diao Kai (孔子评漆雕开), Zi Lu Wu Su Xie (子路无宿诺)</a:t>
            </a:r>
          </a:p>
        </p:txBody>
      </p:sp>
      <p:sp>
        <p:nvSpPr>
          <p:cNvPr id="6" name="Rounded Rectangle 5"/>
          <p:cNvSpPr/>
          <p:nvPr/>
        </p:nvSpPr>
        <p:spPr>
          <a:xfrm>
            <a:off x="1371600" y="5029200"/>
            <a:ext cx="64008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i="1">
                <a:solidFill>
                  <a:srgbClr val="1E3C72"/>
                </a:solidFill>
              </a:defRPr>
            </a:pPr>
            <a:r>
              <a:t>Zi Wei Zi Jian:</a:t>
            </a:r>
          </a:p>
        </p:txBody>
      </p:sp>
      <p:sp>
        <p:nvSpPr>
          <p:cNvPr id="7" name="TextBox 6"/>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13 - Zi Jian Zhi Xian (子贱之贤)</a:t>
            </a:r>
          </a:p>
        </p:txBody>
      </p:sp>
      <p:sp>
        <p:nvSpPr>
          <p:cNvPr id="4" name="Rounded Rectangle 3"/>
          <p:cNvSpPr/>
          <p:nvPr/>
        </p:nvSpPr>
        <p:spPr>
          <a:xfrm>
            <a:off x="457200" y="1371600"/>
            <a:ext cx="8229600" cy="3474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[Original Text]</a:t>
            </a:r>
          </a:p>
          <a:p>
            <a:pPr>
              <a:spcBef>
                <a:spcPts val="400"/>
              </a:spcBef>
              <a:defRPr sz="2200">
                <a:solidFill>
                  <a:srgbClr val="333333"/>
                </a:solidFill>
              </a:defRPr>
            </a:pPr>
            <a:r>
              <a:t>Zi Wei Zi Jian:</a:t>
            </a:r>
          </a:p>
          <a:p>
            <a:pPr>
              <a:spcBef>
                <a:spcPts val="400"/>
              </a:spcBef>
              <a:defRPr sz="2200">
                <a:solidFill>
                  <a:srgbClr val="333333"/>
                </a:solidFill>
              </a:defRPr>
            </a:pPr>
            <a:r>
              <a:t>'Junzi Zai Ruo Ren!</a:t>
            </a:r>
          </a:p>
          <a:p>
            <a:pPr>
              <a:spcBef>
                <a:spcPts val="400"/>
              </a:spcBef>
              <a:defRPr sz="2200">
                <a:solidFill>
                  <a:srgbClr val="333333"/>
                </a:solidFill>
              </a:defRPr>
            </a:pPr>
            <a:r>
              <a:t>Lu Wu Junzi Zhe, Si Yan Qu Si?'</a:t>
            </a:r>
          </a:p>
        </p:txBody>
      </p:sp>
      <p:sp>
        <p:nvSpPr>
          <p:cNvPr id="5" name="Rounded Rectangle 4"/>
          <p:cNvSpPr/>
          <p:nvPr/>
        </p:nvSpPr>
        <p:spPr>
          <a:xfrm>
            <a:off x="457200" y="4937760"/>
            <a:ext cx="8229600" cy="100584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[Translation] 孔子评价子贱说：这个人是君子啊！如果鲁国没有君子，他从哪里获得这样的品德呢？</a:t>
            </a:r>
          </a:p>
          <a:p>
            <a:pPr>
              <a:defRPr sz="1500" i="1">
                <a:solidFill>
                  <a:srgbClr val="DCDCFF"/>
                </a:solidFill>
              </a:defRPr>
            </a:pPr>
            <a:r>
              <a:t>[EN] Confucius commented on Zijian: 'What a noble person! If there were no gentlemen in Lu, where would he have acquired such virtue?'</a:t>
            </a:r>
          </a:p>
        </p:txBody>
      </p:sp>
      <p:sp>
        <p:nvSpPr>
          <p:cNvPr id="6" name="TextBox 5"/>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2/14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13 - Zi Jian Zhi Xian (子贱之贤) [Annotations]</a:t>
            </a:r>
          </a:p>
        </p:txBody>
      </p:sp>
      <p:sp>
        <p:nvSpPr>
          <p:cNvPr id="4" name="Rounded Rectangle 3"/>
          <p:cNvSpPr/>
          <p:nvPr/>
        </p:nvSpPr>
        <p:spPr>
          <a:xfrm>
            <a:off x="457200" y="1371600"/>
            <a:ext cx="8229600" cy="38404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[Annotations]</a:t>
            </a:r>
          </a:p>
          <a:p>
            <a:pPr>
              <a:spcBef>
                <a:spcPts val="500"/>
              </a:spcBef>
              <a:defRPr sz="1700">
                <a:solidFill>
                  <a:srgbClr val="333333"/>
                </a:solidFill>
              </a:defRPr>
            </a:pPr>
            <a:r>
              <a:t>* Zi Jian (子贱): Mi Buqi, courtesy name Zijian, disciple of Confucius</a:t>
            </a:r>
          </a:p>
          <a:p>
            <a:pPr>
              <a:spcBef>
                <a:spcPts val="500"/>
              </a:spcBef>
              <a:defRPr sz="1700">
                <a:solidFill>
                  <a:srgbClr val="333333"/>
                </a:solidFill>
              </a:defRPr>
            </a:pPr>
            <a:r>
              <a:t>* Ruo Ren (若人): This person</a:t>
            </a:r>
          </a:p>
          <a:p>
            <a:pPr>
              <a:spcBef>
                <a:spcPts val="500"/>
              </a:spcBef>
              <a:defRPr sz="1700">
                <a:solidFill>
                  <a:srgbClr val="333333"/>
                </a:solidFill>
              </a:defRPr>
            </a:pPr>
            <a:r>
              <a:t>* Si Yan Qu Si (斯焉取斯): From where did he acquire such virtue?</a:t>
            </a:r>
          </a:p>
        </p:txBody>
      </p:sp>
      <p:sp>
        <p:nvSpPr>
          <p:cNvPr id="5" name="TextBox 4"/>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3/14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13 - Core Ideas</a:t>
            </a:r>
          </a:p>
        </p:txBody>
      </p:sp>
      <p:sp>
        <p:nvSpPr>
          <p:cNvPr id="4" name="Rounded Rectangle 3"/>
          <p:cNvSpPr/>
          <p:nvPr/>
        </p:nvSpPr>
        <p:spPr>
          <a:xfrm>
            <a:off x="457200" y="1371600"/>
            <a:ext cx="8229600" cy="137160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Core Concept</a:t>
            </a:r>
          </a:p>
          <a:p>
            <a:pPr>
              <a:defRPr sz="1700">
                <a:solidFill>
                  <a:srgbClr val="E6E6E6"/>
                </a:solidFill>
              </a:defRPr>
            </a:pPr>
            <a:r>
              <a:t>鲁无君子者，斯焉取斯: One's achievement is inseparable from their environment. Zijian beca...</a:t>
            </a:r>
          </a:p>
        </p:txBody>
      </p:sp>
      <p:sp>
        <p:nvSpPr>
          <p:cNvPr id="5" name="TextBox 4"/>
          <p:cNvSpPr txBox="1"/>
          <p:nvPr/>
        </p:nvSpPr>
        <p:spPr>
          <a:xfrm>
            <a:off x="457200" y="2926080"/>
            <a:ext cx="8229600" cy="1097280"/>
          </a:xfrm>
          <a:prstGeom prst="rect">
            <a:avLst/>
          </a:prstGeom>
          <a:noFill/>
        </p:spPr>
        <p:txBody>
          <a:bodyPr wrap="square">
            <a:spAutoFit/>
          </a:bodyPr>
          <a:lstStyle/>
          <a:p>
            <a:pPr>
              <a:defRPr sz="1900" b="1">
                <a:solidFill>
                  <a:srgbClr val="1E3C72"/>
                </a:solidFill>
              </a:defRPr>
            </a:pPr>
            <a:r>
              <a:t>1. 子贱之贤</a:t>
            </a:r>
          </a:p>
          <a:p>
            <a:pPr>
              <a:defRPr sz="1600">
                <a:solidFill>
                  <a:srgbClr val="333333"/>
                </a:solidFill>
              </a:defRPr>
            </a:pPr>
            <a:r>
              <a:t>子贱是孔子的弟子，以德行著称——孔子称赞他为'君子'。</a:t>
            </a:r>
          </a:p>
        </p:txBody>
      </p:sp>
      <p:sp>
        <p:nvSpPr>
          <p:cNvPr id="6" name="TextBox 5"/>
          <p:cNvSpPr txBox="1"/>
          <p:nvPr/>
        </p:nvSpPr>
        <p:spPr>
          <a:xfrm>
            <a:off x="457200" y="4023360"/>
            <a:ext cx="8229600" cy="1097280"/>
          </a:xfrm>
          <a:prstGeom prst="rect">
            <a:avLst/>
          </a:prstGeom>
          <a:noFill/>
        </p:spPr>
        <p:txBody>
          <a:bodyPr wrap="square">
            <a:spAutoFit/>
          </a:bodyPr>
          <a:lstStyle/>
          <a:p>
            <a:pPr>
              <a:defRPr sz="1900" b="1">
                <a:solidFill>
                  <a:srgbClr val="1E3C72"/>
                </a:solidFill>
              </a:defRPr>
            </a:pPr>
            <a:r>
              <a:t>2. 环境影响</a:t>
            </a:r>
          </a:p>
          <a:p>
            <a:pPr>
              <a:defRPr sz="1600">
                <a:solidFill>
                  <a:srgbClr val="333333"/>
                </a:solidFill>
              </a:defRPr>
            </a:pPr>
            <a:r>
              <a:t>孔子认为子贱的贤德来自鲁国的环境——鲁国当时有众多君子。</a:t>
            </a:r>
          </a:p>
        </p:txBody>
      </p:sp>
      <p:sp>
        <p:nvSpPr>
          <p:cNvPr id="7" name="TextBox 6"/>
          <p:cNvSpPr txBox="1"/>
          <p:nvPr/>
        </p:nvSpPr>
        <p:spPr>
          <a:xfrm>
            <a:off x="457200" y="5120640"/>
            <a:ext cx="8229600" cy="1097280"/>
          </a:xfrm>
          <a:prstGeom prst="rect">
            <a:avLst/>
          </a:prstGeom>
          <a:noFill/>
        </p:spPr>
        <p:txBody>
          <a:bodyPr wrap="square">
            <a:spAutoFit/>
          </a:bodyPr>
          <a:lstStyle/>
          <a:p>
            <a:pPr>
              <a:defRPr sz="1900" b="1">
                <a:solidFill>
                  <a:srgbClr val="1E3C72"/>
                </a:solidFill>
              </a:defRPr>
            </a:pPr>
            <a:r>
              <a:t>3. 环境育人</a:t>
            </a:r>
          </a:p>
          <a:p>
            <a:pPr>
              <a:defRPr sz="1600">
                <a:solidFill>
                  <a:srgbClr val="333333"/>
                </a:solidFill>
              </a:defRPr>
            </a:pPr>
            <a:r>
              <a:t>一个人能否成为君子，与他所处的环境密切相关——鲁多君子，所以子贱能成君子。</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4/14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14 - Kongzi Ping Qi Diao Kai (孔子评漆雕开)</a:t>
            </a:r>
          </a:p>
        </p:txBody>
      </p:sp>
      <p:sp>
        <p:nvSpPr>
          <p:cNvPr id="4" name="Rounded Rectangle 3"/>
          <p:cNvSpPr/>
          <p:nvPr/>
        </p:nvSpPr>
        <p:spPr>
          <a:xfrm>
            <a:off x="457200" y="1371600"/>
            <a:ext cx="8229600" cy="3474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[Original Text]</a:t>
            </a:r>
          </a:p>
          <a:p>
            <a:pPr>
              <a:spcBef>
                <a:spcPts val="400"/>
              </a:spcBef>
              <a:defRPr sz="2200">
                <a:solidFill>
                  <a:srgbClr val="333333"/>
                </a:solidFill>
              </a:defRPr>
            </a:pPr>
            <a:r>
              <a:t>Zi Shi Qi Diao Kai Shi.</a:t>
            </a:r>
          </a:p>
          <a:p>
            <a:pPr>
              <a:spcBef>
                <a:spcPts val="400"/>
              </a:spcBef>
              <a:defRPr sz="2200">
                <a:solidFill>
                  <a:srgbClr val="333333"/>
                </a:solidFill>
              </a:defRPr>
            </a:pPr>
            <a:r>
              <a:t>Dui Yue: 'Wu Si Zhi Wei Neng Xin.'</a:t>
            </a:r>
          </a:p>
          <a:p>
            <a:pPr>
              <a:spcBef>
                <a:spcPts val="400"/>
              </a:spcBef>
              <a:defRPr sz="2200">
                <a:solidFill>
                  <a:srgbClr val="333333"/>
                </a:solidFill>
              </a:defRPr>
            </a:pPr>
            <a:r>
              <a:t>Zi Yue.</a:t>
            </a:r>
          </a:p>
        </p:txBody>
      </p:sp>
      <p:sp>
        <p:nvSpPr>
          <p:cNvPr id="5" name="Rounded Rectangle 4"/>
          <p:cNvSpPr/>
          <p:nvPr/>
        </p:nvSpPr>
        <p:spPr>
          <a:xfrm>
            <a:off x="457200" y="4937760"/>
            <a:ext cx="8229600" cy="100584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[Translation] 孔子让漆雕开去做官。他回答说：我对这件事还没有信心。孔子听了很高兴。</a:t>
            </a:r>
          </a:p>
          <a:p>
            <a:pPr>
              <a:defRPr sz="1500" i="1">
                <a:solidFill>
                  <a:srgbClr val="DCDCFF"/>
                </a:solidFill>
              </a:defRPr>
            </a:pPr>
            <a:r>
              <a:t>[EN] Confucius asked Qidiao Kai to take an official post. He replied: 'I am not yet confident about this.' Confucius was pleased.</a:t>
            </a:r>
          </a:p>
        </p:txBody>
      </p:sp>
      <p:sp>
        <p:nvSpPr>
          <p:cNvPr id="6" name="TextBox 5"/>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5/14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14 - Kongzi Ping Qi Diao Kai (孔子评漆雕开) [Annotations]</a:t>
            </a:r>
          </a:p>
        </p:txBody>
      </p:sp>
      <p:sp>
        <p:nvSpPr>
          <p:cNvPr id="4" name="Rounded Rectangle 3"/>
          <p:cNvSpPr/>
          <p:nvPr/>
        </p:nvSpPr>
        <p:spPr>
          <a:xfrm>
            <a:off x="457200" y="1371600"/>
            <a:ext cx="8229600" cy="38404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[Annotations]</a:t>
            </a:r>
          </a:p>
          <a:p>
            <a:pPr>
              <a:spcBef>
                <a:spcPts val="500"/>
              </a:spcBef>
              <a:defRPr sz="1700">
                <a:solidFill>
                  <a:srgbClr val="333333"/>
                </a:solidFill>
              </a:defRPr>
            </a:pPr>
            <a:r>
              <a:t>* Qi Diao Kai (漆雕开): Disciple of Confucius, courtesy name Zikai</a:t>
            </a:r>
          </a:p>
          <a:p>
            <a:pPr>
              <a:spcBef>
                <a:spcPts val="500"/>
              </a:spcBef>
              <a:defRPr sz="1700">
                <a:solidFill>
                  <a:srgbClr val="333333"/>
                </a:solidFill>
              </a:defRPr>
            </a:pPr>
            <a:r>
              <a:t>* Shi (使): Let, send</a:t>
            </a:r>
          </a:p>
          <a:p>
            <a:pPr>
              <a:spcBef>
                <a:spcPts val="500"/>
              </a:spcBef>
              <a:defRPr sz="1700">
                <a:solidFill>
                  <a:srgbClr val="333333"/>
                </a:solidFill>
              </a:defRPr>
            </a:pPr>
            <a:r>
              <a:t>* Shi (仕): Take office, become an official</a:t>
            </a:r>
          </a:p>
          <a:p>
            <a:pPr>
              <a:spcBef>
                <a:spcPts val="500"/>
              </a:spcBef>
              <a:defRPr sz="1700">
                <a:solidFill>
                  <a:srgbClr val="333333"/>
                </a:solidFill>
              </a:defRPr>
            </a:pPr>
            <a:r>
              <a:t>* Wu Si Zhi Wei Neng Xin (吾斯之未能信): I am not yet confident about this</a:t>
            </a:r>
          </a:p>
        </p:txBody>
      </p:sp>
      <p:sp>
        <p:nvSpPr>
          <p:cNvPr id="5" name="TextBox 4"/>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6/14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14 - Core Ideas</a:t>
            </a:r>
          </a:p>
        </p:txBody>
      </p:sp>
      <p:sp>
        <p:nvSpPr>
          <p:cNvPr id="4" name="Rounded Rectangle 3"/>
          <p:cNvSpPr/>
          <p:nvPr/>
        </p:nvSpPr>
        <p:spPr>
          <a:xfrm>
            <a:off x="457200" y="1371600"/>
            <a:ext cx="8229600" cy="137160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Core Concept</a:t>
            </a:r>
          </a:p>
          <a:p>
            <a:pPr>
              <a:defRPr sz="1700">
                <a:solidFill>
                  <a:srgbClr val="E6E6E6"/>
                </a:solidFill>
              </a:defRPr>
            </a:pPr>
            <a:r>
              <a:t>吾斯之未能信: In modern society, eager to perform and succeed is a common problem. Qi ...</a:t>
            </a:r>
          </a:p>
        </p:txBody>
      </p:sp>
      <p:sp>
        <p:nvSpPr>
          <p:cNvPr id="5" name="TextBox 4"/>
          <p:cNvSpPr txBox="1"/>
          <p:nvPr/>
        </p:nvSpPr>
        <p:spPr>
          <a:xfrm>
            <a:off x="457200" y="2926080"/>
            <a:ext cx="8229600" cy="1097280"/>
          </a:xfrm>
          <a:prstGeom prst="rect">
            <a:avLst/>
          </a:prstGeom>
          <a:noFill/>
        </p:spPr>
        <p:txBody>
          <a:bodyPr wrap="square">
            <a:spAutoFit/>
          </a:bodyPr>
          <a:lstStyle/>
          <a:p>
            <a:pPr>
              <a:defRPr sz="1900" b="1">
                <a:solidFill>
                  <a:srgbClr val="1E3C72"/>
                </a:solidFill>
              </a:defRPr>
            </a:pPr>
            <a:r>
              <a:t>1. 谦虚谨慎</a:t>
            </a:r>
          </a:p>
          <a:p>
            <a:pPr>
              <a:defRPr sz="1600">
                <a:solidFill>
                  <a:srgbClr val="333333"/>
                </a:solidFill>
              </a:defRPr>
            </a:pPr>
            <a:r>
              <a:t>漆雕开对自己的能力表示怀疑，这种谦虚是儒家推崇的美德——知道自己的不足是进步的开始。</a:t>
            </a:r>
          </a:p>
        </p:txBody>
      </p:sp>
      <p:sp>
        <p:nvSpPr>
          <p:cNvPr id="6" name="TextBox 5"/>
          <p:cNvSpPr txBox="1"/>
          <p:nvPr/>
        </p:nvSpPr>
        <p:spPr>
          <a:xfrm>
            <a:off x="457200" y="4023360"/>
            <a:ext cx="8229600" cy="1097280"/>
          </a:xfrm>
          <a:prstGeom prst="rect">
            <a:avLst/>
          </a:prstGeom>
          <a:noFill/>
        </p:spPr>
        <p:txBody>
          <a:bodyPr wrap="square">
            <a:spAutoFit/>
          </a:bodyPr>
          <a:lstStyle/>
          <a:p>
            <a:pPr>
              <a:defRPr sz="1900" b="1">
                <a:solidFill>
                  <a:srgbClr val="1E3C72"/>
                </a:solidFill>
              </a:defRPr>
            </a:pPr>
            <a:r>
              <a:t>2. 孔子悦之</a:t>
            </a:r>
          </a:p>
          <a:p>
            <a:pPr>
              <a:defRPr sz="1600">
                <a:solidFill>
                  <a:srgbClr val="333333"/>
                </a:solidFill>
              </a:defRPr>
            </a:pPr>
            <a:r>
              <a:t>孔子对漆雕开的回答感到高兴——因为这说明漆雕开有自知之明，不轻率出仕。</a:t>
            </a:r>
          </a:p>
        </p:txBody>
      </p:sp>
      <p:sp>
        <p:nvSpPr>
          <p:cNvPr id="7" name="TextBox 6"/>
          <p:cNvSpPr txBox="1"/>
          <p:nvPr/>
        </p:nvSpPr>
        <p:spPr>
          <a:xfrm>
            <a:off x="457200" y="5120640"/>
            <a:ext cx="8229600" cy="1097280"/>
          </a:xfrm>
          <a:prstGeom prst="rect">
            <a:avLst/>
          </a:prstGeom>
          <a:noFill/>
        </p:spPr>
        <p:txBody>
          <a:bodyPr wrap="square">
            <a:spAutoFit/>
          </a:bodyPr>
          <a:lstStyle/>
          <a:p>
            <a:pPr>
              <a:defRPr sz="1900" b="1">
                <a:solidFill>
                  <a:srgbClr val="1E3C72"/>
                </a:solidFill>
              </a:defRPr>
            </a:pPr>
            <a:r>
              <a:t>3. 信而后仕</a:t>
            </a:r>
          </a:p>
          <a:p>
            <a:pPr>
              <a:defRPr sz="1600">
                <a:solidFill>
                  <a:srgbClr val="333333"/>
                </a:solidFill>
              </a:defRPr>
            </a:pPr>
            <a:r>
              <a:t>做官要有充分的准备和信心，不打无把握之仗——机会来临时，要确保自己真正准备好了。</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7/14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15 - Zi Lu Wu Su Xie (子路无宿诺)</a:t>
            </a:r>
          </a:p>
        </p:txBody>
      </p:sp>
      <p:sp>
        <p:nvSpPr>
          <p:cNvPr id="4" name="Rounded Rectangle 3"/>
          <p:cNvSpPr/>
          <p:nvPr/>
        </p:nvSpPr>
        <p:spPr>
          <a:xfrm>
            <a:off x="457200" y="1371600"/>
            <a:ext cx="8229600" cy="3474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[Original Text]</a:t>
            </a:r>
          </a:p>
          <a:p>
            <a:pPr>
              <a:spcBef>
                <a:spcPts val="400"/>
              </a:spcBef>
              <a:defRPr sz="2200">
                <a:solidFill>
                  <a:srgbClr val="333333"/>
                </a:solidFill>
              </a:defRPr>
            </a:pPr>
            <a:r>
              <a:t>Zi Lu You Wen, Wei Zhi Neng Xing,</a:t>
            </a:r>
          </a:p>
          <a:p>
            <a:pPr>
              <a:spcBef>
                <a:spcPts val="400"/>
              </a:spcBef>
              <a:defRPr sz="2200">
                <a:solidFill>
                  <a:srgbClr val="333333"/>
                </a:solidFill>
              </a:defRPr>
            </a:pPr>
            <a:r>
              <a:t>Wei Kong You Wen.</a:t>
            </a:r>
          </a:p>
        </p:txBody>
      </p:sp>
      <p:sp>
        <p:nvSpPr>
          <p:cNvPr id="5" name="Rounded Rectangle 4"/>
          <p:cNvSpPr/>
          <p:nvPr/>
        </p:nvSpPr>
        <p:spPr>
          <a:xfrm>
            <a:off x="457200" y="4937760"/>
            <a:ext cx="8229600" cy="100584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[Translation] 子路听到了一个道理，如果还没有能够去实践，就只怕又听到新的道理了。</a:t>
            </a:r>
          </a:p>
          <a:p>
            <a:pPr>
              <a:defRPr sz="1500" i="1">
                <a:solidFill>
                  <a:srgbClr val="DCDCFF"/>
                </a:solidFill>
              </a:defRPr>
            </a:pPr>
            <a:r>
              <a:t>[EN] When Zilu learned something, he would put it into practice before learning more - for he feared he might not be able to act on what he heard.</a:t>
            </a:r>
          </a:p>
        </p:txBody>
      </p:sp>
      <p:sp>
        <p:nvSpPr>
          <p:cNvPr id="6" name="TextBox 5"/>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8/14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15 - Zi Lu Wu Su Xie (子路无宿诺) [Annotations]</a:t>
            </a:r>
          </a:p>
        </p:txBody>
      </p:sp>
      <p:sp>
        <p:nvSpPr>
          <p:cNvPr id="4" name="Rounded Rectangle 3"/>
          <p:cNvSpPr/>
          <p:nvPr/>
        </p:nvSpPr>
        <p:spPr>
          <a:xfrm>
            <a:off x="457200" y="1371600"/>
            <a:ext cx="8229600" cy="38404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[Annotations]</a:t>
            </a:r>
          </a:p>
          <a:p>
            <a:pPr>
              <a:spcBef>
                <a:spcPts val="500"/>
              </a:spcBef>
              <a:defRPr sz="1700">
                <a:solidFill>
                  <a:srgbClr val="333333"/>
                </a:solidFill>
              </a:defRPr>
            </a:pPr>
            <a:r>
              <a:t>* You Wen (有闻): Heard a principle</a:t>
            </a:r>
          </a:p>
          <a:p>
            <a:pPr>
              <a:spcBef>
                <a:spcPts val="500"/>
              </a:spcBef>
              <a:defRPr sz="1700">
                <a:solidFill>
                  <a:srgbClr val="333333"/>
                </a:solidFill>
              </a:defRPr>
            </a:pPr>
            <a:r>
              <a:t>* Wei Zhi Neng Xing (未之能行): Not yet able to practice it</a:t>
            </a:r>
          </a:p>
          <a:p>
            <a:pPr>
              <a:spcBef>
                <a:spcPts val="500"/>
              </a:spcBef>
              <a:defRPr sz="1700">
                <a:solidFill>
                  <a:srgbClr val="333333"/>
                </a:solidFill>
              </a:defRPr>
            </a:pPr>
            <a:r>
              <a:t>* Wei Kong You Wen (唯恐有闻): Only fears hearing new principles</a:t>
            </a:r>
          </a:p>
        </p:txBody>
      </p:sp>
      <p:sp>
        <p:nvSpPr>
          <p:cNvPr id="5" name="TextBox 4"/>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9/14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15 - Core Ideas</a:t>
            </a:r>
          </a:p>
        </p:txBody>
      </p:sp>
      <p:sp>
        <p:nvSpPr>
          <p:cNvPr id="4" name="Rounded Rectangle 3"/>
          <p:cNvSpPr/>
          <p:nvPr/>
        </p:nvSpPr>
        <p:spPr>
          <a:xfrm>
            <a:off x="457200" y="1371600"/>
            <a:ext cx="8229600" cy="137160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Core Concept</a:t>
            </a:r>
          </a:p>
          <a:p>
            <a:pPr>
              <a:defRPr sz="1700">
                <a:solidFill>
                  <a:srgbClr val="E6E6E6"/>
                </a:solidFill>
              </a:defRPr>
            </a:pPr>
            <a:r>
              <a:t>唯恐有闻: Modern people receive huge amounts of information daily, but truly transfo...</a:t>
            </a:r>
          </a:p>
        </p:txBody>
      </p:sp>
      <p:sp>
        <p:nvSpPr>
          <p:cNvPr id="5" name="TextBox 4"/>
          <p:cNvSpPr txBox="1"/>
          <p:nvPr/>
        </p:nvSpPr>
        <p:spPr>
          <a:xfrm>
            <a:off x="457200" y="2926080"/>
            <a:ext cx="8229600" cy="1097280"/>
          </a:xfrm>
          <a:prstGeom prst="rect">
            <a:avLst/>
          </a:prstGeom>
          <a:noFill/>
        </p:spPr>
        <p:txBody>
          <a:bodyPr wrap="square">
            <a:spAutoFit/>
          </a:bodyPr>
          <a:lstStyle/>
          <a:p>
            <a:pPr>
              <a:defRPr sz="1900" b="1">
                <a:solidFill>
                  <a:srgbClr val="1E3C72"/>
                </a:solidFill>
              </a:defRPr>
            </a:pPr>
            <a:r>
              <a:t>1. 知行合一</a:t>
            </a:r>
          </a:p>
          <a:p>
            <a:pPr>
              <a:defRPr sz="1600">
                <a:solidFill>
                  <a:srgbClr val="333333"/>
                </a:solidFill>
              </a:defRPr>
            </a:pPr>
            <a:r>
              <a:t>子路听到道理就要去实践，不是听完就算了——知识必须转化为行动。</a:t>
            </a:r>
          </a:p>
        </p:txBody>
      </p:sp>
      <p:sp>
        <p:nvSpPr>
          <p:cNvPr id="6" name="TextBox 5"/>
          <p:cNvSpPr txBox="1"/>
          <p:nvPr/>
        </p:nvSpPr>
        <p:spPr>
          <a:xfrm>
            <a:off x="457200" y="4023360"/>
            <a:ext cx="8229600" cy="1097280"/>
          </a:xfrm>
          <a:prstGeom prst="rect">
            <a:avLst/>
          </a:prstGeom>
          <a:noFill/>
        </p:spPr>
        <p:txBody>
          <a:bodyPr wrap="square">
            <a:spAutoFit/>
          </a:bodyPr>
          <a:lstStyle/>
          <a:p>
            <a:pPr>
              <a:defRPr sz="1900" b="1">
                <a:solidFill>
                  <a:srgbClr val="1E3C72"/>
                </a:solidFill>
              </a:defRPr>
            </a:pPr>
            <a:r>
              <a:t>2. 恐有新闻</a:t>
            </a:r>
          </a:p>
          <a:p>
            <a:pPr>
              <a:defRPr sz="1600">
                <a:solidFill>
                  <a:srgbClr val="333333"/>
                </a:solidFill>
              </a:defRPr>
            </a:pPr>
            <a:r>
              <a:t>子路怕听到新道理是因为旧道理还没实践——不是贪婪新知，而是担心行动跟不上。</a:t>
            </a:r>
          </a:p>
        </p:txBody>
      </p:sp>
      <p:sp>
        <p:nvSpPr>
          <p:cNvPr id="7" name="TextBox 6"/>
          <p:cNvSpPr txBox="1"/>
          <p:nvPr/>
        </p:nvSpPr>
        <p:spPr>
          <a:xfrm>
            <a:off x="457200" y="5120640"/>
            <a:ext cx="8229600" cy="1097280"/>
          </a:xfrm>
          <a:prstGeom prst="rect">
            <a:avLst/>
          </a:prstGeom>
          <a:noFill/>
        </p:spPr>
        <p:txBody>
          <a:bodyPr wrap="square">
            <a:spAutoFit/>
          </a:bodyPr>
          <a:lstStyle/>
          <a:p>
            <a:pPr>
              <a:defRPr sz="1900" b="1">
                <a:solidFill>
                  <a:srgbClr val="1E3C72"/>
                </a:solidFill>
              </a:defRPr>
            </a:pPr>
            <a:r>
              <a:t>3. 先行后学</a:t>
            </a:r>
          </a:p>
          <a:p>
            <a:pPr>
              <a:defRPr sz="1600">
                <a:solidFill>
                  <a:srgbClr val="333333"/>
                </a:solidFill>
              </a:defRPr>
            </a:pPr>
            <a:r>
              <a:t>先把当前的事情做好，再去学新的——这是一种务实的学习态度。</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10/14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Western Thought Comparison</a:t>
            </a:r>
          </a:p>
        </p:txBody>
      </p:sp>
      <p:sp>
        <p:nvSpPr>
          <p:cNvPr id="4" name="Rounded Rectangle 3"/>
          <p:cNvSpPr/>
          <p:nvPr/>
        </p:nvSpPr>
        <p:spPr>
          <a:xfrm>
            <a:off x="457200" y="1371600"/>
            <a:ext cx="8229600" cy="10972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1E3C72"/>
                </a:solidFill>
              </a:defRPr>
            </a:pPr>
            <a:r>
              <a:t>Mencius: Circumstances Over Talent</a:t>
            </a:r>
          </a:p>
          <a:p>
            <a:pPr>
              <a:defRPr sz="1500">
                <a:solidFill>
                  <a:srgbClr val="333333"/>
                </a:solidFill>
              </a:defRPr>
            </a:pPr>
            <a:r>
              <a:t>With the right circumstances, anything is possible - environment has a decisive influence on a person's success. c. 300 BCE</a:t>
            </a:r>
          </a:p>
        </p:txBody>
      </p:sp>
      <p:sp>
        <p:nvSpPr>
          <p:cNvPr id="5" name="Rounded Rectangle 4"/>
          <p:cNvSpPr/>
          <p:nvPr/>
        </p:nvSpPr>
        <p:spPr>
          <a:xfrm>
            <a:off x="457200" y="2560320"/>
            <a:ext cx="8229600" cy="10972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1E3C72"/>
                </a:solidFill>
              </a:defRPr>
            </a:pPr>
            <a:r>
              <a:t>Bacon: Knowledge is Power</a:t>
            </a:r>
          </a:p>
          <a:p>
            <a:pPr>
              <a:defRPr sz="1500">
                <a:solidFill>
                  <a:srgbClr val="333333"/>
                </a:solidFill>
              </a:defRPr>
            </a:pPr>
            <a:r>
              <a:t>Knowledge changes destiny, but acquiring knowledge requires environment and education - junzi cultivation requires cultural soil. 1597</a:t>
            </a:r>
          </a:p>
        </p:txBody>
      </p:sp>
      <p:sp>
        <p:nvSpPr>
          <p:cNvPr id="6" name="Rounded Rectangle 5"/>
          <p:cNvSpPr/>
          <p:nvPr/>
        </p:nvSpPr>
        <p:spPr>
          <a:xfrm>
            <a:off x="457200" y="3749039"/>
            <a:ext cx="8229600" cy="10972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1E3C72"/>
                </a:solidFill>
              </a:defRPr>
            </a:pPr>
            <a:r>
              <a:t>Bandura: Observational Learning</a:t>
            </a:r>
          </a:p>
          <a:p>
            <a:pPr>
              <a:defRPr sz="1500">
                <a:solidFill>
                  <a:srgbClr val="333333"/>
                </a:solidFill>
              </a:defRPr>
            </a:pPr>
            <a:r>
              <a:t>People learn through observing others' behaviors and their consequences - models in the environment shape personality. 1977</a:t>
            </a:r>
          </a:p>
        </p:txBody>
      </p:sp>
      <p:sp>
        <p:nvSpPr>
          <p:cNvPr id="7" name="Rounded Rectangle 6"/>
          <p:cNvSpPr/>
          <p:nvPr/>
        </p:nvSpPr>
        <p:spPr>
          <a:xfrm>
            <a:off x="457200" y="4937759"/>
            <a:ext cx="8229600" cy="10972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1E3C72"/>
                </a:solidFill>
              </a:defRPr>
            </a:pPr>
            <a:r>
              <a:t>Csikszentmihalyi: Systems View of Creativity</a:t>
            </a:r>
          </a:p>
          <a:p>
            <a:pPr>
              <a:defRPr sz="1500">
                <a:solidFill>
                  <a:srgbClr val="333333"/>
                </a:solidFill>
              </a:defRPr>
            </a:pPr>
            <a:r>
              <a:t>Individual achievement cannot be separated from the cultural system - environment provides the 'symbolic pool' for innovation. 1999</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11/14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Modern Application</a:t>
            </a:r>
          </a:p>
        </p:txBody>
      </p:sp>
      <p:sp>
        <p:nvSpPr>
          <p:cNvPr id="4" name="Rounded Rectangle 3"/>
          <p:cNvSpPr/>
          <p:nvPr/>
        </p:nvSpPr>
        <p:spPr>
          <a:xfrm>
            <a:off x="457200" y="137160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1. 子贱之贤</a:t>
            </a:r>
          </a:p>
          <a:p>
            <a:pPr>
              <a:defRPr sz="1500">
                <a:solidFill>
                  <a:srgbClr val="333333"/>
                </a:solidFill>
              </a:defRPr>
            </a:pPr>
            <a:r>
              <a:t>子贱是孔子的弟子，以德行著称——孔子称赞他为'君子'。</a:t>
            </a:r>
          </a:p>
        </p:txBody>
      </p:sp>
      <p:sp>
        <p:nvSpPr>
          <p:cNvPr id="5" name="Rounded Rectangle 4"/>
          <p:cNvSpPr/>
          <p:nvPr/>
        </p:nvSpPr>
        <p:spPr>
          <a:xfrm>
            <a:off x="457200" y="265176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2. 孔子悦之</a:t>
            </a:r>
          </a:p>
          <a:p>
            <a:pPr>
              <a:defRPr sz="1500">
                <a:solidFill>
                  <a:srgbClr val="333333"/>
                </a:solidFill>
              </a:defRPr>
            </a:pPr>
            <a:r>
              <a:t>孔子对漆雕开的回答感到高兴——因为这说明漆雕开有自知之明，不轻率出仕。</a:t>
            </a:r>
          </a:p>
        </p:txBody>
      </p:sp>
      <p:sp>
        <p:nvSpPr>
          <p:cNvPr id="6" name="Rounded Rectangle 5"/>
          <p:cNvSpPr/>
          <p:nvPr/>
        </p:nvSpPr>
        <p:spPr>
          <a:xfrm>
            <a:off x="457200" y="393192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3. 先行后学</a:t>
            </a:r>
          </a:p>
          <a:p>
            <a:pPr>
              <a:defRPr sz="1500">
                <a:solidFill>
                  <a:srgbClr val="333333"/>
                </a:solidFill>
              </a:defRPr>
            </a:pPr>
            <a:r>
              <a:t>先把当前的事情做好，再去学新的——这是一种务实的学习态度。</a:t>
            </a:r>
          </a:p>
        </p:txBody>
      </p:sp>
      <p:sp>
        <p:nvSpPr>
          <p:cNvPr id="7" name="TextBox 6"/>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12/14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Historical Background</a:t>
            </a:r>
          </a:p>
        </p:txBody>
      </p:sp>
      <p:sp>
        <p:nvSpPr>
          <p:cNvPr id="4" name="Rounded Rectangle 3"/>
          <p:cNvSpPr/>
          <p:nvPr/>
        </p:nvSpPr>
        <p:spPr>
          <a:xfrm>
            <a:off x="457200" y="1371600"/>
            <a:ext cx="8229600" cy="228600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Zi Jian Zhi Xian (子贱之贤) - Background</a:t>
            </a:r>
          </a:p>
          <a:p>
            <a:pPr>
              <a:spcBef>
                <a:spcPts val="800"/>
              </a:spcBef>
              <a:defRPr sz="1500">
                <a:solidFill>
                  <a:srgbClr val="333333"/>
                </a:solidFill>
              </a:defRPr>
            </a:pPr>
            <a:r>
              <a:t>Zijian (520-445 BCE), named Mi Buqi, was one of Confucius's important disciples. He served as the official of Shanfu and governed it well, leaving the famous story 'Zijian Governs Shanfu'. Confucius believed Zijian became a junzi precisely because Lu had a good cultural environment - this embodies the '里仁为美' thought.</a:t>
            </a:r>
          </a:p>
        </p:txBody>
      </p:sp>
      <p:sp>
        <p:nvSpPr>
          <p:cNvPr id="5" name="TextBox 4"/>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13/14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Day 5 - Summary</a:t>
            </a:r>
          </a:p>
        </p:txBody>
      </p:sp>
      <p:sp>
        <p:nvSpPr>
          <p:cNvPr id="4" name="Rounded Rectangle 3"/>
          <p:cNvSpPr/>
          <p:nvPr/>
        </p:nvSpPr>
        <p:spPr>
          <a:xfrm>
            <a:off x="457200" y="1371600"/>
            <a:ext cx="8229600" cy="128016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Chapter 13: Zi Jian Zhi Xian (子贱之贤)</a:t>
            </a:r>
          </a:p>
          <a:p>
            <a:pPr>
              <a:defRPr sz="1400">
                <a:solidFill>
                  <a:srgbClr val="333333"/>
                </a:solidFill>
              </a:defRPr>
            </a:pPr>
            <a:r>
              <a:t>子贱是孔子的弟子，以德行著称——孔子称赞他为'君子'。</a:t>
            </a:r>
          </a:p>
        </p:txBody>
      </p:sp>
      <p:sp>
        <p:nvSpPr>
          <p:cNvPr id="5" name="Rounded Rectangle 4"/>
          <p:cNvSpPr/>
          <p:nvPr/>
        </p:nvSpPr>
        <p:spPr>
          <a:xfrm>
            <a:off x="457200" y="2743200"/>
            <a:ext cx="8229600" cy="128016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Chapter 14: Kongzi Ping Qi Diao Kai (孔子评漆雕开)</a:t>
            </a:r>
          </a:p>
          <a:p>
            <a:pPr>
              <a:defRPr sz="1400">
                <a:solidFill>
                  <a:srgbClr val="333333"/>
                </a:solidFill>
              </a:defRPr>
            </a:pPr>
            <a:r>
              <a:t>漆雕开对自己的能力表示怀疑，这种谦虚是儒家推崇的美德——知道自己的不足是进步的开始。</a:t>
            </a:r>
          </a:p>
        </p:txBody>
      </p:sp>
      <p:sp>
        <p:nvSpPr>
          <p:cNvPr id="6" name="Rounded Rectangle 5"/>
          <p:cNvSpPr/>
          <p:nvPr/>
        </p:nvSpPr>
        <p:spPr>
          <a:xfrm>
            <a:off x="457200" y="4114800"/>
            <a:ext cx="8229600" cy="128016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Chapter 15: Zi Lu Wu Su Xie (子路无宿诺)</a:t>
            </a:r>
          </a:p>
          <a:p>
            <a:pPr>
              <a:defRPr sz="1400">
                <a:solidFill>
                  <a:srgbClr val="333333"/>
                </a:solidFill>
              </a:defRPr>
            </a:pPr>
            <a:r>
              <a:t>子路听到道理就要去实践，不是听完就算了——知识必须转化为行动。</a:t>
            </a:r>
          </a:p>
        </p:txBody>
      </p:sp>
      <p:sp>
        <p:nvSpPr>
          <p:cNvPr id="7" name="Rounded Rectangle 6"/>
          <p:cNvSpPr/>
          <p:nvPr/>
        </p:nvSpPr>
        <p:spPr>
          <a:xfrm>
            <a:off x="457200" y="5577840"/>
            <a:ext cx="8229600" cy="914400"/>
          </a:xfrm>
          <a:prstGeom prst="roundRect">
            <a:avLst/>
          </a:prstGeom>
          <a:solidFill>
            <a:srgbClr val="1E3C72"/>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Zi Wei Zi Jian:</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14/14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