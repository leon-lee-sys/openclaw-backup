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46304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914400"/>
          </a:xfrm>
          <a:prstGeom prst="rect">
            <a:avLst/>
          </a:prstGeom>
          <a:noFill/>
        </p:spPr>
        <p:txBody>
          <a:bodyPr wrap="none">
            <a:spAutoFit/>
          </a:bodyPr>
          <a:lstStyle/>
          <a:p>
            <a:pPr>
              <a:defRPr sz="3800" b="1">
                <a:solidFill>
                  <a:srgbClr val="FFFFFF"/>
                </a:solidFill>
              </a:defRPr>
            </a:pPr>
            <a:r>
              <a:t>Guo Xue Jing Dian Jing Du - Day 2</a:t>
            </a:r>
          </a:p>
        </p:txBody>
      </p:sp>
      <p:sp>
        <p:nvSpPr>
          <p:cNvPr id="4" name="TextBox 3"/>
          <p:cNvSpPr txBox="1"/>
          <p:nvPr/>
        </p:nvSpPr>
        <p:spPr>
          <a:xfrm>
            <a:off x="914400" y="2286000"/>
            <a:ext cx="7315200" cy="1371600"/>
          </a:xfrm>
          <a:prstGeom prst="rect">
            <a:avLst/>
          </a:prstGeom>
          <a:noFill/>
        </p:spPr>
        <p:txBody>
          <a:bodyPr wrap="none">
            <a:spAutoFit/>
          </a:bodyPr>
          <a:lstStyle/>
          <a:p>
            <a:pPr algn="ctr">
              <a:defRPr sz="6000" b="1">
                <a:solidFill>
                  <a:srgbClr val="1E3C72"/>
                </a:solidFill>
              </a:defRPr>
            </a:pPr>
            <a:r>
              <a:t>为政第二 Wei Zheng Di Er</a:t>
            </a:r>
          </a:p>
        </p:txBody>
      </p:sp>
      <p:sp>
        <p:nvSpPr>
          <p:cNvPr id="5" name="TextBox 4"/>
          <p:cNvSpPr txBox="1"/>
          <p:nvPr/>
        </p:nvSpPr>
        <p:spPr>
          <a:xfrm>
            <a:off x="914400" y="3931920"/>
            <a:ext cx="7315200" cy="914400"/>
          </a:xfrm>
          <a:prstGeom prst="rect">
            <a:avLst/>
          </a:prstGeom>
          <a:noFill/>
        </p:spPr>
        <p:txBody>
          <a:bodyPr wrap="none">
            <a:spAutoFit/>
          </a:bodyPr>
          <a:lstStyle/>
          <a:p>
            <a:pPr algn="ctr">
              <a:defRPr sz="2800">
                <a:solidFill>
                  <a:srgbClr val="666666"/>
                </a:solidFill>
              </a:defRPr>
            </a:pPr>
            <a:r>
              <a:t>Wei Zheng Yi De (为政以德), Si Wu Xie (思无邪), Wen Gu Zhi Xin (温故知新)</a:t>
            </a:r>
          </a:p>
        </p:txBody>
      </p:sp>
      <p:sp>
        <p:nvSpPr>
          <p:cNvPr id="6" name="Rounded Rectangle 5"/>
          <p:cNvSpPr/>
          <p:nvPr/>
        </p:nvSpPr>
        <p:spPr>
          <a:xfrm>
            <a:off x="1371600" y="5029200"/>
            <a:ext cx="64008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i="1">
                <a:solidFill>
                  <a:srgbClr val="1E3C72"/>
                </a:solidFill>
              </a:defRPr>
            </a:pPr>
            <a:r>
              <a:t>Zi Yue: 'Wei Zheng Yi De,</a:t>
            </a:r>
          </a:p>
        </p:txBody>
      </p:sp>
      <p:sp>
        <p:nvSpPr>
          <p:cNvPr id="7" name="TextBox 6"/>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4 - Wei Zheng Yi De (为政以德)</a:t>
            </a:r>
          </a:p>
        </p:txBody>
      </p:sp>
      <p:sp>
        <p:nvSpPr>
          <p:cNvPr id="4" name="Rounded Rectangle 3"/>
          <p:cNvSpPr/>
          <p:nvPr/>
        </p:nvSpPr>
        <p:spPr>
          <a:xfrm>
            <a:off x="457200" y="1371600"/>
            <a:ext cx="8229600" cy="3474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[Original Text]</a:t>
            </a:r>
          </a:p>
          <a:p>
            <a:pPr>
              <a:spcBef>
                <a:spcPts val="400"/>
              </a:spcBef>
              <a:defRPr sz="2200">
                <a:solidFill>
                  <a:srgbClr val="333333"/>
                </a:solidFill>
              </a:defRPr>
            </a:pPr>
            <a:r>
              <a:t>Zi Yue: 'Wei Zheng Yi De,</a:t>
            </a:r>
          </a:p>
          <a:p>
            <a:pPr>
              <a:spcBef>
                <a:spcPts val="400"/>
              </a:spcBef>
              <a:defRPr sz="2200">
                <a:solidFill>
                  <a:srgbClr val="333333"/>
                </a:solidFill>
              </a:defRPr>
            </a:pPr>
            <a:r>
              <a:t>Pi Ru Bei Chen, Ju Qi Suo Er Zhong Xing Gong Zhi.'</a:t>
            </a:r>
          </a:p>
        </p:txBody>
      </p:sp>
      <p:sp>
        <p:nvSpPr>
          <p:cNvPr id="5" name="Rounded Rectangle 4"/>
          <p:cNvSpPr/>
          <p:nvPr/>
        </p:nvSpPr>
        <p:spPr>
          <a:xfrm>
            <a:off x="457200" y="4937760"/>
            <a:ext cx="8229600" cy="100584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[Translation] 孔子说：用道德来治理国家，就像北极星一样，处在自己的位置上，而众星都环绕着它。</a:t>
            </a:r>
          </a:p>
          <a:p>
            <a:pPr>
              <a:defRPr sz="1500" i="1">
                <a:solidFill>
                  <a:srgbClr val="DCDCFF"/>
                </a:solidFill>
              </a:defRPr>
            </a:pPr>
            <a:r>
              <a:t>[EN] Confucius said: 'Govern with virtue, and the people will be like the stars revolving around the North Star - each in its proper place.'</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2/14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4 - Wei Zheng Yi De (为政以德) [Annotations]</a:t>
            </a:r>
          </a:p>
        </p:txBody>
      </p:sp>
      <p:sp>
        <p:nvSpPr>
          <p:cNvPr id="4" name="Rounded Rectangle 3"/>
          <p:cNvSpPr/>
          <p:nvPr/>
        </p:nvSpPr>
        <p:spPr>
          <a:xfrm>
            <a:off x="457200" y="1371600"/>
            <a:ext cx="8229600" cy="38404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[Annotations]</a:t>
            </a:r>
          </a:p>
          <a:p>
            <a:pPr>
              <a:spcBef>
                <a:spcPts val="500"/>
              </a:spcBef>
              <a:defRPr sz="1700">
                <a:solidFill>
                  <a:srgbClr val="333333"/>
                </a:solidFill>
              </a:defRPr>
            </a:pPr>
            <a:r>
              <a:t>* Wei Zheng Yi De (为政以德): Govern with virtue</a:t>
            </a:r>
          </a:p>
          <a:p>
            <a:pPr>
              <a:spcBef>
                <a:spcPts val="500"/>
              </a:spcBef>
              <a:defRPr sz="1700">
                <a:solidFill>
                  <a:srgbClr val="333333"/>
                </a:solidFill>
              </a:defRPr>
            </a:pPr>
            <a:r>
              <a:t>* Bei Chen (北辰): North Star</a:t>
            </a:r>
          </a:p>
          <a:p>
            <a:pPr>
              <a:spcBef>
                <a:spcPts val="500"/>
              </a:spcBef>
              <a:defRPr sz="1700">
                <a:solidFill>
                  <a:srgbClr val="333333"/>
                </a:solidFill>
              </a:defRPr>
            </a:pPr>
            <a:r>
              <a:t>* Gong (共): Same as '拱' - surround</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3/14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4 -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为政以德: Modern management's 'Situational Leadership' and 'Servant Leadership' both...</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为政以德</a:t>
            </a:r>
          </a:p>
          <a:p>
            <a:pPr>
              <a:defRPr sz="1600">
                <a:solidFill>
                  <a:srgbClr val="333333"/>
                </a:solidFill>
              </a:defRPr>
            </a:pPr>
            <a:r>
              <a:t>用道德而非刑罚来治理国家——领导者的德行感化民众，比强制更有效。</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北辰比喻</a:t>
            </a:r>
          </a:p>
          <a:p>
            <a:pPr>
              <a:defRPr sz="1600">
                <a:solidFill>
                  <a:srgbClr val="333333"/>
                </a:solidFill>
              </a:defRPr>
            </a:pPr>
            <a:r>
              <a:t>有德的领导者像北极星，自己安坐不动，众星自然环绕——以身作则的力量。</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无为而治</a:t>
            </a:r>
          </a:p>
          <a:p>
            <a:pPr>
              <a:defRPr sz="1600">
                <a:solidFill>
                  <a:srgbClr val="333333"/>
                </a:solidFill>
              </a:defRPr>
            </a:pPr>
            <a:r>
              <a:t>最高的领导是不需要刻意管理的，德行所至，人心自服——这也是道家的理想。</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4/14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5 - Si Wu Xie (思无邪)</a:t>
            </a:r>
          </a:p>
        </p:txBody>
      </p:sp>
      <p:sp>
        <p:nvSpPr>
          <p:cNvPr id="4" name="Rounded Rectangle 3"/>
          <p:cNvSpPr/>
          <p:nvPr/>
        </p:nvSpPr>
        <p:spPr>
          <a:xfrm>
            <a:off x="457200" y="1371600"/>
            <a:ext cx="8229600" cy="3474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[Original Text]</a:t>
            </a:r>
          </a:p>
          <a:p>
            <a:pPr>
              <a:spcBef>
                <a:spcPts val="400"/>
              </a:spcBef>
              <a:defRPr sz="2200">
                <a:solidFill>
                  <a:srgbClr val="333333"/>
                </a:solidFill>
              </a:defRPr>
            </a:pPr>
            <a:r>
              <a:t>Zi Yue: 'Shi San Bai, Yi Yan Yi Bi Zhi,</a:t>
            </a:r>
          </a:p>
          <a:p>
            <a:pPr>
              <a:spcBef>
                <a:spcPts val="400"/>
              </a:spcBef>
              <a:defRPr sz="2200">
                <a:solidFill>
                  <a:srgbClr val="333333"/>
                </a:solidFill>
              </a:defRPr>
            </a:pPr>
            <a:r>
              <a:t>Yue: 'Si Wu Xie.'"</a:t>
            </a:r>
          </a:p>
        </p:txBody>
      </p:sp>
      <p:sp>
        <p:nvSpPr>
          <p:cNvPr id="5" name="Rounded Rectangle 4"/>
          <p:cNvSpPr/>
          <p:nvPr/>
        </p:nvSpPr>
        <p:spPr>
          <a:xfrm>
            <a:off x="457200" y="4937760"/>
            <a:ext cx="8229600" cy="100584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[Translation] 孔子说：《诗经》三百首，用一句话来概括，就是'思想纯正'。</a:t>
            </a:r>
          </a:p>
          <a:p>
            <a:pPr>
              <a:defRPr sz="1500" i="1">
                <a:solidFill>
                  <a:srgbClr val="DCDCFF"/>
                </a:solidFill>
              </a:defRPr>
            </a:pPr>
            <a:r>
              <a:t>[EN] Confucius said: 'The Book of Songs has three hundred pieces, yet they can be summed up in one phrase: having a heart free of evil.'</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5/14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5 - Si Wu Xie (思无邪) [Annotations]</a:t>
            </a:r>
          </a:p>
        </p:txBody>
      </p:sp>
      <p:sp>
        <p:nvSpPr>
          <p:cNvPr id="4" name="Rounded Rectangle 3"/>
          <p:cNvSpPr/>
          <p:nvPr/>
        </p:nvSpPr>
        <p:spPr>
          <a:xfrm>
            <a:off x="457200" y="1371600"/>
            <a:ext cx="8229600" cy="38404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[Annotations]</a:t>
            </a:r>
          </a:p>
          <a:p>
            <a:pPr>
              <a:spcBef>
                <a:spcPts val="500"/>
              </a:spcBef>
              <a:defRPr sz="1700">
                <a:solidFill>
                  <a:srgbClr val="333333"/>
                </a:solidFill>
              </a:defRPr>
            </a:pPr>
            <a:r>
              <a:t>* Shi San Bai (诗三百): The Book of Songs has 305 pieces, here as an approximate</a:t>
            </a:r>
          </a:p>
          <a:p>
            <a:pPr>
              <a:spcBef>
                <a:spcPts val="500"/>
              </a:spcBef>
              <a:defRPr sz="1700">
                <a:solidFill>
                  <a:srgbClr val="333333"/>
                </a:solidFill>
              </a:defRPr>
            </a:pPr>
            <a:r>
              <a:t>* Bi (蔽): Summarize, conclude</a:t>
            </a:r>
          </a:p>
          <a:p>
            <a:pPr>
              <a:spcBef>
                <a:spcPts val="500"/>
              </a:spcBef>
              <a:defRPr sz="1700">
                <a:solidFill>
                  <a:srgbClr val="333333"/>
                </a:solidFill>
              </a:defRPr>
            </a:pPr>
            <a:r>
              <a:t>* Si Wu Xie (思无邪): Pure thoughts, free from evil</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6/14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5 -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思无邪: Confucius's 'Poetry Education' thought remains significant today. Modern ps...</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诗教功能</a:t>
            </a:r>
          </a:p>
          <a:p>
            <a:pPr>
              <a:defRPr sz="1600">
                <a:solidFill>
                  <a:srgbClr val="333333"/>
                </a:solidFill>
              </a:defRPr>
            </a:pPr>
            <a:r>
              <a:t>《诗经》能让人思想纯正——文学有教化人心的力量。</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思无邪</a:t>
            </a:r>
          </a:p>
          <a:p>
            <a:pPr>
              <a:defRPr sz="1600">
                <a:solidFill>
                  <a:srgbClr val="333333"/>
                </a:solidFill>
              </a:defRPr>
            </a:pPr>
            <a:r>
              <a:t>真正美好的诗歌，能净化人的心灵，让人思想纯正、情感真挚。</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情感到理</a:t>
            </a:r>
          </a:p>
          <a:p>
            <a:pPr>
              <a:defRPr sz="1600">
                <a:solidFill>
                  <a:srgbClr val="333333"/>
                </a:solidFill>
              </a:defRPr>
            </a:pPr>
            <a:r>
              <a:t>从真挚情感出发，到达道德境界——诗是情感的桥梁。</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7/14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6 - Wen Gu Zhi Xin (温故知新)</a:t>
            </a:r>
          </a:p>
        </p:txBody>
      </p:sp>
      <p:sp>
        <p:nvSpPr>
          <p:cNvPr id="4" name="Rounded Rectangle 3"/>
          <p:cNvSpPr/>
          <p:nvPr/>
        </p:nvSpPr>
        <p:spPr>
          <a:xfrm>
            <a:off x="457200" y="1371600"/>
            <a:ext cx="8229600" cy="3474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[Original Text]</a:t>
            </a:r>
          </a:p>
          <a:p>
            <a:pPr>
              <a:spcBef>
                <a:spcPts val="400"/>
              </a:spcBef>
              <a:defRPr sz="2200">
                <a:solidFill>
                  <a:srgbClr val="333333"/>
                </a:solidFill>
              </a:defRPr>
            </a:pPr>
            <a:r>
              <a:t>Zi Yue: 'Wen Gu Er Zhi Xin, Ke Yi Wei Shi Yi.'"</a:t>
            </a:r>
          </a:p>
        </p:txBody>
      </p:sp>
      <p:sp>
        <p:nvSpPr>
          <p:cNvPr id="5" name="Rounded Rectangle 4"/>
          <p:cNvSpPr/>
          <p:nvPr/>
        </p:nvSpPr>
        <p:spPr>
          <a:xfrm>
            <a:off x="457200" y="4937760"/>
            <a:ext cx="8229600" cy="100584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[Translation] 孔子说：温习学过的知识，并从中获得新的理解，这样的人可以当老师了。</a:t>
            </a:r>
          </a:p>
          <a:p>
            <a:pPr>
              <a:defRPr sz="1500" i="1">
                <a:solidFill>
                  <a:srgbClr val="DCDCFF"/>
                </a:solidFill>
              </a:defRPr>
            </a:pPr>
            <a:r>
              <a:t>[EN] Confucius said: 'One who reviews what has been learned and gains new understanding may become a teacher.'</a:t>
            </a:r>
          </a:p>
        </p:txBody>
      </p:sp>
      <p:sp>
        <p:nvSpPr>
          <p:cNvPr id="6" name="TextBox 5"/>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8/14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6 - Wen Gu Zhi Xin (温故知新) [Annotations]</a:t>
            </a:r>
          </a:p>
        </p:txBody>
      </p:sp>
      <p:sp>
        <p:nvSpPr>
          <p:cNvPr id="4" name="Rounded Rectangle 3"/>
          <p:cNvSpPr/>
          <p:nvPr/>
        </p:nvSpPr>
        <p:spPr>
          <a:xfrm>
            <a:off x="457200" y="1371600"/>
            <a:ext cx="8229600" cy="38404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[Annotations]</a:t>
            </a:r>
          </a:p>
          <a:p>
            <a:pPr>
              <a:spcBef>
                <a:spcPts val="500"/>
              </a:spcBef>
              <a:defRPr sz="1700">
                <a:solidFill>
                  <a:srgbClr val="333333"/>
                </a:solidFill>
              </a:defRPr>
            </a:pPr>
            <a:r>
              <a:t>* Wen Gu (温故): Review learned knowledge</a:t>
            </a:r>
          </a:p>
          <a:p>
            <a:pPr>
              <a:spcBef>
                <a:spcPts val="500"/>
              </a:spcBef>
              <a:defRPr sz="1700">
                <a:solidFill>
                  <a:srgbClr val="333333"/>
                </a:solidFill>
              </a:defRPr>
            </a:pPr>
            <a:r>
              <a:t>* Zhi Xin (知新): Gain new understanding and new knowledge</a:t>
            </a:r>
          </a:p>
          <a:p>
            <a:pPr>
              <a:spcBef>
                <a:spcPts val="500"/>
              </a:spcBef>
              <a:defRPr sz="1700">
                <a:solidFill>
                  <a:srgbClr val="333333"/>
                </a:solidFill>
              </a:defRPr>
            </a:pPr>
            <a:r>
              <a:t>* Wei Shi (为师): Become a teacher</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9/14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Chapter 6 - Core Ideas</a:t>
            </a:r>
          </a:p>
        </p:txBody>
      </p:sp>
      <p:sp>
        <p:nvSpPr>
          <p:cNvPr id="4" name="Rounded Rectangle 3"/>
          <p:cNvSpPr/>
          <p:nvPr/>
        </p:nvSpPr>
        <p:spPr>
          <a:xfrm>
            <a:off x="457200" y="1371600"/>
            <a:ext cx="8229600" cy="1371600"/>
          </a:xfrm>
          <a:prstGeom prst="roundRect">
            <a:avLst/>
          </a:prstGeom>
          <a:solidFill>
            <a:srgbClr val="4682B4"/>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Core Concept</a:t>
            </a:r>
          </a:p>
          <a:p>
            <a:pPr>
              <a:defRPr sz="1700">
                <a:solidFill>
                  <a:srgbClr val="E6E6E6"/>
                </a:solidFill>
              </a:defRPr>
            </a:pPr>
            <a:r>
              <a:t>温故知新: Modern neuroscience finds that every time we recall a memory, we strengthe...</a:t>
            </a:r>
          </a:p>
        </p:txBody>
      </p:sp>
      <p:sp>
        <p:nvSpPr>
          <p:cNvPr id="5" name="TextBox 4"/>
          <p:cNvSpPr txBox="1"/>
          <p:nvPr/>
        </p:nvSpPr>
        <p:spPr>
          <a:xfrm>
            <a:off x="457200" y="2926080"/>
            <a:ext cx="8229600" cy="1097280"/>
          </a:xfrm>
          <a:prstGeom prst="rect">
            <a:avLst/>
          </a:prstGeom>
          <a:noFill/>
        </p:spPr>
        <p:txBody>
          <a:bodyPr wrap="square">
            <a:spAutoFit/>
          </a:bodyPr>
          <a:lstStyle/>
          <a:p>
            <a:pPr>
              <a:defRPr sz="1900" b="1">
                <a:solidFill>
                  <a:srgbClr val="1E3C72"/>
                </a:solidFill>
              </a:defRPr>
            </a:pPr>
            <a:r>
              <a:t>1. 温故为基</a:t>
            </a:r>
          </a:p>
          <a:p>
            <a:pPr>
              <a:defRPr sz="1600">
                <a:solidFill>
                  <a:srgbClr val="333333"/>
                </a:solidFill>
              </a:defRPr>
            </a:pPr>
            <a:r>
              <a:t>学习首先要打好基础，反复温习是学习的必经之路——没有白学的知识。</a:t>
            </a:r>
          </a:p>
        </p:txBody>
      </p:sp>
      <p:sp>
        <p:nvSpPr>
          <p:cNvPr id="6" name="TextBox 5"/>
          <p:cNvSpPr txBox="1"/>
          <p:nvPr/>
        </p:nvSpPr>
        <p:spPr>
          <a:xfrm>
            <a:off x="457200" y="4023360"/>
            <a:ext cx="8229600" cy="1097280"/>
          </a:xfrm>
          <a:prstGeom prst="rect">
            <a:avLst/>
          </a:prstGeom>
          <a:noFill/>
        </p:spPr>
        <p:txBody>
          <a:bodyPr wrap="square">
            <a:spAutoFit/>
          </a:bodyPr>
          <a:lstStyle/>
          <a:p>
            <a:pPr>
              <a:defRPr sz="1900" b="1">
                <a:solidFill>
                  <a:srgbClr val="1E3C72"/>
                </a:solidFill>
              </a:defRPr>
            </a:pPr>
            <a:r>
              <a:t>2. 知新是进</a:t>
            </a:r>
          </a:p>
          <a:p>
            <a:pPr>
              <a:defRPr sz="1600">
                <a:solidFill>
                  <a:srgbClr val="333333"/>
                </a:solidFill>
              </a:defRPr>
            </a:pPr>
            <a:r>
              <a:t>在旧知识中发现新意义是进步的标志——同样的话在不同人生阶段有不同感悟。</a:t>
            </a:r>
          </a:p>
        </p:txBody>
      </p:sp>
      <p:sp>
        <p:nvSpPr>
          <p:cNvPr id="7" name="TextBox 6"/>
          <p:cNvSpPr txBox="1"/>
          <p:nvPr/>
        </p:nvSpPr>
        <p:spPr>
          <a:xfrm>
            <a:off x="457200" y="5120640"/>
            <a:ext cx="8229600" cy="1097280"/>
          </a:xfrm>
          <a:prstGeom prst="rect">
            <a:avLst/>
          </a:prstGeom>
          <a:noFill/>
        </p:spPr>
        <p:txBody>
          <a:bodyPr wrap="square">
            <a:spAutoFit/>
          </a:bodyPr>
          <a:lstStyle/>
          <a:p>
            <a:pPr>
              <a:defRPr sz="1900" b="1">
                <a:solidFill>
                  <a:srgbClr val="1E3C72"/>
                </a:solidFill>
              </a:defRPr>
            </a:pPr>
            <a:r>
              <a:t>3. 师道尊严</a:t>
            </a:r>
          </a:p>
          <a:p>
            <a:pPr>
              <a:defRPr sz="1600">
                <a:solidFill>
                  <a:srgbClr val="333333"/>
                </a:solidFill>
              </a:defRPr>
            </a:pPr>
            <a:r>
              <a:t>能'温故知新'的人才配当老师——老师不是知识的唯一来源，而是引导你发现的人。</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10/14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Western Thought Comparison</a:t>
            </a:r>
          </a:p>
        </p:txBody>
      </p:sp>
      <p:sp>
        <p:nvSpPr>
          <p:cNvPr id="4" name="Rounded Rectangle 3"/>
          <p:cNvSpPr/>
          <p:nvPr/>
        </p:nvSpPr>
        <p:spPr>
          <a:xfrm>
            <a:off x="457200" y="1371600"/>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Machiavelli: The Prince</a:t>
            </a:r>
          </a:p>
          <a:p>
            <a:pPr>
              <a:defRPr sz="1500">
                <a:solidFill>
                  <a:srgbClr val="333333"/>
                </a:solidFill>
              </a:defRPr>
            </a:pPr>
            <a:r>
              <a:t>The prince should make the people love and fear him, but if only one can be chosen, being feared is safer than being loved. 1532</a:t>
            </a:r>
          </a:p>
        </p:txBody>
      </p:sp>
      <p:sp>
        <p:nvSpPr>
          <p:cNvPr id="5" name="Rounded Rectangle 4"/>
          <p:cNvSpPr/>
          <p:nvPr/>
        </p:nvSpPr>
        <p:spPr>
          <a:xfrm>
            <a:off x="457200" y="2560320"/>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Rousseau: Social Contract</a:t>
            </a:r>
          </a:p>
          <a:p>
            <a:pPr>
              <a:defRPr sz="1500">
                <a:solidFill>
                  <a:srgbClr val="333333"/>
                </a:solidFill>
              </a:defRPr>
            </a:pPr>
            <a:r>
              <a:t>The legitimacy of rulers comes from the consent of the ruled, not from virtue or lineage. 1762</a:t>
            </a:r>
          </a:p>
        </p:txBody>
      </p:sp>
      <p:sp>
        <p:nvSpPr>
          <p:cNvPr id="6" name="Rounded Rectangle 5"/>
          <p:cNvSpPr/>
          <p:nvPr/>
        </p:nvSpPr>
        <p:spPr>
          <a:xfrm>
            <a:off x="457200" y="3749039"/>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Jefferson: Democratic Thought</a:t>
            </a:r>
          </a:p>
          <a:p>
            <a:pPr>
              <a:defRPr sz="1500">
                <a:solidFill>
                  <a:srgbClr val="333333"/>
                </a:solidFill>
              </a:defRPr>
            </a:pPr>
            <a:r>
              <a:t>The best government is one that governs least - connecting with Confucian 'Wu Wei Er Zhi'. 1776</a:t>
            </a:r>
          </a:p>
        </p:txBody>
      </p:sp>
      <p:sp>
        <p:nvSpPr>
          <p:cNvPr id="7" name="Rounded Rectangle 6"/>
          <p:cNvSpPr/>
          <p:nvPr/>
        </p:nvSpPr>
        <p:spPr>
          <a:xfrm>
            <a:off x="457200" y="4937759"/>
            <a:ext cx="8229600" cy="109728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1E3C72"/>
                </a:solidFill>
              </a:defRPr>
            </a:pPr>
            <a:r>
              <a:t>Greenleaf: Servant Leadership</a:t>
            </a:r>
          </a:p>
          <a:p>
            <a:pPr>
              <a:defRPr sz="1500">
                <a:solidFill>
                  <a:srgbClr val="333333"/>
                </a:solidFill>
              </a:defRPr>
            </a:pPr>
            <a:r>
              <a:t>True leaders are servants, leading by example rather than giving orders. 1989</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11/14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Modern Application</a:t>
            </a:r>
          </a:p>
        </p:txBody>
      </p:sp>
      <p:sp>
        <p:nvSpPr>
          <p:cNvPr id="4" name="Rounded Rectangle 3"/>
          <p:cNvSpPr/>
          <p:nvPr/>
        </p:nvSpPr>
        <p:spPr>
          <a:xfrm>
            <a:off x="457200" y="137160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1. 为政以德</a:t>
            </a:r>
          </a:p>
          <a:p>
            <a:pPr>
              <a:defRPr sz="1500">
                <a:solidFill>
                  <a:srgbClr val="333333"/>
                </a:solidFill>
              </a:defRPr>
            </a:pPr>
            <a:r>
              <a:t>用道德而非刑罚来治理国家——领导者的德行感化民众，比强制更有效。</a:t>
            </a:r>
          </a:p>
        </p:txBody>
      </p:sp>
      <p:sp>
        <p:nvSpPr>
          <p:cNvPr id="5" name="Rounded Rectangle 4"/>
          <p:cNvSpPr/>
          <p:nvPr/>
        </p:nvSpPr>
        <p:spPr>
          <a:xfrm>
            <a:off x="457200" y="265176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2. 思无邪</a:t>
            </a:r>
          </a:p>
          <a:p>
            <a:pPr>
              <a:defRPr sz="1500">
                <a:solidFill>
                  <a:srgbClr val="333333"/>
                </a:solidFill>
              </a:defRPr>
            </a:pPr>
            <a:r>
              <a:t>真正美好的诗歌，能净化人的心灵，让人思想纯正、情感真挚。</a:t>
            </a:r>
          </a:p>
        </p:txBody>
      </p:sp>
      <p:sp>
        <p:nvSpPr>
          <p:cNvPr id="6" name="Rounded Rectangle 5"/>
          <p:cNvSpPr/>
          <p:nvPr/>
        </p:nvSpPr>
        <p:spPr>
          <a:xfrm>
            <a:off x="457200" y="3931920"/>
            <a:ext cx="8229600" cy="118872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3. 师道尊严</a:t>
            </a:r>
          </a:p>
          <a:p>
            <a:pPr>
              <a:defRPr sz="1500">
                <a:solidFill>
                  <a:srgbClr val="333333"/>
                </a:solidFill>
              </a:defRPr>
            </a:pPr>
            <a:r>
              <a:t>能'温故知新'的人才配当老师——老师不是知识的唯一来源，而是引导你发现的人。</a:t>
            </a:r>
          </a:p>
        </p:txBody>
      </p:sp>
      <p:sp>
        <p:nvSpPr>
          <p:cNvPr id="7" name="TextBox 6"/>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12/14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Historical Background</a:t>
            </a:r>
          </a:p>
        </p:txBody>
      </p:sp>
      <p:sp>
        <p:nvSpPr>
          <p:cNvPr id="4" name="Rounded Rectangle 3"/>
          <p:cNvSpPr/>
          <p:nvPr/>
        </p:nvSpPr>
        <p:spPr>
          <a:xfrm>
            <a:off x="457200" y="1371600"/>
            <a:ext cx="8229600" cy="228600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Wei Zheng Yi De (为政以德) - Background</a:t>
            </a:r>
          </a:p>
          <a:p>
            <a:pPr>
              <a:spcBef>
                <a:spcPts val="800"/>
              </a:spcBef>
              <a:defRPr sz="1500">
                <a:solidFill>
                  <a:srgbClr val="333333"/>
                </a:solidFill>
              </a:defRPr>
            </a:pPr>
            <a:r>
              <a:t>This is Confucius's famous 'Rule by Virtue' thought. During the Spring and Autumn period, many rulers relied on harsh laws. Confucius advocated governing by virtue, believing moral influence was more effective than legal coercion. The Han Dynasty adopted Confucian Rule by Virtue 200 years later, creating a 400-year golden age.</a:t>
            </a:r>
          </a:p>
        </p:txBody>
      </p:sp>
      <p:sp>
        <p:nvSpPr>
          <p:cNvPr id="5" name="TextBox 4"/>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13/14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E3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731520"/>
          </a:xfrm>
          <a:prstGeom prst="rect">
            <a:avLst/>
          </a:prstGeom>
          <a:noFill/>
        </p:spPr>
        <p:txBody>
          <a:bodyPr wrap="none">
            <a:spAutoFit/>
          </a:bodyPr>
          <a:lstStyle/>
          <a:p>
            <a:pPr>
              <a:defRPr sz="3400" b="1">
                <a:solidFill>
                  <a:srgbClr val="FFFFFF"/>
                </a:solidFill>
              </a:defRPr>
            </a:pPr>
            <a:r>
              <a:t>Day 2 - Summary</a:t>
            </a:r>
          </a:p>
        </p:txBody>
      </p:sp>
      <p:sp>
        <p:nvSpPr>
          <p:cNvPr id="4" name="Rounded Rectangle 3"/>
          <p:cNvSpPr/>
          <p:nvPr/>
        </p:nvSpPr>
        <p:spPr>
          <a:xfrm>
            <a:off x="457200" y="1371600"/>
            <a:ext cx="8229600" cy="128016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Chapter 4: Wei Zheng Yi De (为政以德)</a:t>
            </a:r>
          </a:p>
          <a:p>
            <a:pPr>
              <a:defRPr sz="1400">
                <a:solidFill>
                  <a:srgbClr val="333333"/>
                </a:solidFill>
              </a:defRPr>
            </a:pPr>
            <a:r>
              <a:t>用道德而非刑罚来治理国家——领导者的德行感化民众，比强制更有效。</a:t>
            </a:r>
          </a:p>
        </p:txBody>
      </p:sp>
      <p:sp>
        <p:nvSpPr>
          <p:cNvPr id="5" name="Rounded Rectangle 4"/>
          <p:cNvSpPr/>
          <p:nvPr/>
        </p:nvSpPr>
        <p:spPr>
          <a:xfrm>
            <a:off x="457200" y="2743200"/>
            <a:ext cx="8229600" cy="128016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Chapter 5: Si Wu Xie (思无邪)</a:t>
            </a:r>
          </a:p>
          <a:p>
            <a:pPr>
              <a:defRPr sz="1400">
                <a:solidFill>
                  <a:srgbClr val="333333"/>
                </a:solidFill>
              </a:defRPr>
            </a:pPr>
            <a:r>
              <a:t>《诗经》能让人思想纯正——文学有教化人心的力量。</a:t>
            </a:r>
          </a:p>
        </p:txBody>
      </p:sp>
      <p:sp>
        <p:nvSpPr>
          <p:cNvPr id="6" name="Rounded Rectangle 5"/>
          <p:cNvSpPr/>
          <p:nvPr/>
        </p:nvSpPr>
        <p:spPr>
          <a:xfrm>
            <a:off x="457200" y="4114800"/>
            <a:ext cx="8229600" cy="1280160"/>
          </a:xfrm>
          <a:prstGeom prst="roundRect">
            <a:avLst/>
          </a:prstGeom>
          <a:solidFill>
            <a:srgbClr val="F5F5F0"/>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1E3C72"/>
                </a:solidFill>
              </a:defRPr>
            </a:pPr>
            <a:r>
              <a:t>Chapter 6: Wen Gu Zhi Xin (温故知新)</a:t>
            </a:r>
          </a:p>
          <a:p>
            <a:pPr>
              <a:defRPr sz="1400">
                <a:solidFill>
                  <a:srgbClr val="333333"/>
                </a:solidFill>
              </a:defRPr>
            </a:pPr>
            <a:r>
              <a:t>学习首先要打好基础，反复温习是学习的必经之路——没有白学的知识。</a:t>
            </a:r>
          </a:p>
        </p:txBody>
      </p:sp>
      <p:sp>
        <p:nvSpPr>
          <p:cNvPr id="7" name="Rounded Rectangle 6"/>
          <p:cNvSpPr/>
          <p:nvPr/>
        </p:nvSpPr>
        <p:spPr>
          <a:xfrm>
            <a:off x="457200" y="5577840"/>
            <a:ext cx="8229600" cy="914400"/>
          </a:xfrm>
          <a:prstGeom prst="roundRect">
            <a:avLst/>
          </a:prstGeom>
          <a:solidFill>
            <a:srgbClr val="1E3C72"/>
          </a:solidFill>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Zi Yue: 'Wei Zheng Yi De,</a:t>
            </a:r>
          </a:p>
        </p:txBody>
      </p:sp>
      <p:sp>
        <p:nvSpPr>
          <p:cNvPr id="8" name="TextBox 7"/>
          <p:cNvSpPr txBox="1"/>
          <p:nvPr/>
        </p:nvSpPr>
        <p:spPr>
          <a:xfrm>
            <a:off x="8229600" y="6583680"/>
            <a:ext cx="731520" cy="274320"/>
          </a:xfrm>
          <a:prstGeom prst="rect">
            <a:avLst/>
          </a:prstGeom>
          <a:noFill/>
        </p:spPr>
        <p:txBody>
          <a:bodyPr wrap="none">
            <a:spAutoFit/>
          </a:bodyPr>
          <a:lstStyle/>
          <a:p>
            <a:pPr algn="r">
              <a:defRPr sz="1200">
                <a:solidFill>
                  <a:srgbClr val="969696"/>
                </a:solidFill>
              </a:defRPr>
            </a:pPr>
            <a:r>
              <a:t>14/14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