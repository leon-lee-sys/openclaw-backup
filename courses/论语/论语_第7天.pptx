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46304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8229600" cy="914400"/>
          </a:xfrm>
          <a:prstGeom prst="rect">
            <a:avLst/>
          </a:prstGeom>
          <a:noFill/>
        </p:spPr>
        <p:txBody>
          <a:bodyPr wrap="none">
            <a:spAutoFit/>
          </a:bodyPr>
          <a:lstStyle/>
          <a:p>
            <a:pPr>
              <a:defRPr sz="3800" b="1">
                <a:solidFill>
                  <a:srgbClr val="FFFFFF"/>
                </a:solidFill>
              </a:defRPr>
            </a:pPr>
            <a:r>
              <a:t>Guo Xue Jing Dian Jing Du - Day 7</a:t>
            </a:r>
          </a:p>
        </p:txBody>
      </p:sp>
      <p:sp>
        <p:nvSpPr>
          <p:cNvPr id="4" name="TextBox 3"/>
          <p:cNvSpPr txBox="1"/>
          <p:nvPr/>
        </p:nvSpPr>
        <p:spPr>
          <a:xfrm>
            <a:off x="914400" y="2286000"/>
            <a:ext cx="7315200" cy="1371600"/>
          </a:xfrm>
          <a:prstGeom prst="rect">
            <a:avLst/>
          </a:prstGeom>
          <a:noFill/>
        </p:spPr>
        <p:txBody>
          <a:bodyPr wrap="none">
            <a:spAutoFit/>
          </a:bodyPr>
          <a:lstStyle/>
          <a:p>
            <a:pPr algn="ctr">
              <a:defRPr sz="6000" b="1">
                <a:solidFill>
                  <a:srgbClr val="1E3C72"/>
                </a:solidFill>
              </a:defRPr>
            </a:pPr>
            <a:r>
              <a:t>述而第七 Shu Er Di Qi</a:t>
            </a:r>
          </a:p>
        </p:txBody>
      </p:sp>
      <p:sp>
        <p:nvSpPr>
          <p:cNvPr id="5" name="TextBox 4"/>
          <p:cNvSpPr txBox="1"/>
          <p:nvPr/>
        </p:nvSpPr>
        <p:spPr>
          <a:xfrm>
            <a:off x="914400" y="3931920"/>
            <a:ext cx="7315200" cy="914400"/>
          </a:xfrm>
          <a:prstGeom prst="rect">
            <a:avLst/>
          </a:prstGeom>
          <a:noFill/>
        </p:spPr>
        <p:txBody>
          <a:bodyPr wrap="none">
            <a:spAutoFit/>
          </a:bodyPr>
          <a:lstStyle/>
          <a:p>
            <a:pPr algn="ctr">
              <a:defRPr sz="2800">
                <a:solidFill>
                  <a:srgbClr val="666666"/>
                </a:solidFill>
              </a:defRPr>
            </a:pPr>
            <a:r>
              <a:t>Shu Er Bu Zuo (述而不作), Xue Er Bu Yan (学而不厌)</a:t>
            </a:r>
          </a:p>
        </p:txBody>
      </p:sp>
      <p:sp>
        <p:nvSpPr>
          <p:cNvPr id="6" name="Rounded Rectangle 5"/>
          <p:cNvSpPr/>
          <p:nvPr/>
        </p:nvSpPr>
        <p:spPr>
          <a:xfrm>
            <a:off x="1371600" y="5029200"/>
            <a:ext cx="6400800" cy="1188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i="1">
                <a:solidFill>
                  <a:srgbClr val="1E3C72"/>
                </a:solidFill>
              </a:defRPr>
            </a:pPr>
            <a:r>
              <a:t>Zi Yue: 'Shu Er Bu Zuo, Xin Er Hao Gu,</a:t>
            </a:r>
          </a:p>
        </p:txBody>
      </p:sp>
      <p:sp>
        <p:nvSpPr>
          <p:cNvPr id="7" name="TextBox 6"/>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1/14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19 - Shu Er Bu Zuo (述而不作)</a:t>
            </a:r>
          </a:p>
        </p:txBody>
      </p:sp>
      <p:sp>
        <p:nvSpPr>
          <p:cNvPr id="4" name="Rounded Rectangle 3"/>
          <p:cNvSpPr/>
          <p:nvPr/>
        </p:nvSpPr>
        <p:spPr>
          <a:xfrm>
            <a:off x="457200" y="1371600"/>
            <a:ext cx="8229600" cy="3474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[Original Text]</a:t>
            </a:r>
          </a:p>
          <a:p>
            <a:pPr>
              <a:spcBef>
                <a:spcPts val="400"/>
              </a:spcBef>
              <a:defRPr sz="2200">
                <a:solidFill>
                  <a:srgbClr val="333333"/>
                </a:solidFill>
              </a:defRPr>
            </a:pPr>
            <a:r>
              <a:t>Zi Yue: 'Shu Er Bu Zuo, Xin Er Hao Gu,</a:t>
            </a:r>
          </a:p>
          <a:p>
            <a:pPr>
              <a:spcBef>
                <a:spcPts val="400"/>
              </a:spcBef>
              <a:defRPr sz="2200">
                <a:solidFill>
                  <a:srgbClr val="333333"/>
                </a:solidFill>
              </a:defRPr>
            </a:pPr>
            <a:r>
              <a:t>Qie Bi Yu Wo Lao Peng.'"</a:t>
            </a:r>
          </a:p>
        </p:txBody>
      </p:sp>
      <p:sp>
        <p:nvSpPr>
          <p:cNvPr id="5" name="Rounded Rectangle 4"/>
          <p:cNvSpPr/>
          <p:nvPr/>
        </p:nvSpPr>
        <p:spPr>
          <a:xfrm>
            <a:off x="457200" y="4937760"/>
            <a:ext cx="8229600" cy="1005840"/>
          </a:xfrm>
          <a:prstGeom prst="roundRect">
            <a:avLst/>
          </a:prstGeom>
          <a:solidFill>
            <a:srgbClr val="4682B4"/>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[Translation] 孔子说：我只是传述而不创作，相信并喜好古代文化，私下里把我和老彭相比。</a:t>
            </a:r>
          </a:p>
          <a:p>
            <a:pPr>
              <a:defRPr sz="1500" i="1">
                <a:solidFill>
                  <a:srgbClr val="DCDCFF"/>
                </a:solidFill>
              </a:defRPr>
            </a:pPr>
            <a:r>
              <a:t>[EN] Confucius said: 'I am one who transmits and does not innovate - believing in and loving the ancient. I venture to compare myself to Lao Peng.'</a:t>
            </a:r>
          </a:p>
        </p:txBody>
      </p:sp>
      <p:sp>
        <p:nvSpPr>
          <p:cNvPr id="6" name="TextBox 5"/>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2/14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19 - Shu Er Bu Zuo (述而不作) [Annotations]</a:t>
            </a:r>
          </a:p>
        </p:txBody>
      </p:sp>
      <p:sp>
        <p:nvSpPr>
          <p:cNvPr id="4" name="Rounded Rectangle 3"/>
          <p:cNvSpPr/>
          <p:nvPr/>
        </p:nvSpPr>
        <p:spPr>
          <a:xfrm>
            <a:off x="457200" y="1371600"/>
            <a:ext cx="8229600" cy="38404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[Annotations]</a:t>
            </a:r>
          </a:p>
          <a:p>
            <a:pPr>
              <a:spcBef>
                <a:spcPts val="500"/>
              </a:spcBef>
              <a:defRPr sz="1700">
                <a:solidFill>
                  <a:srgbClr val="333333"/>
                </a:solidFill>
              </a:defRPr>
            </a:pPr>
            <a:r>
              <a:t>* Shu (述): Transmit, explain</a:t>
            </a:r>
          </a:p>
          <a:p>
            <a:pPr>
              <a:spcBef>
                <a:spcPts val="500"/>
              </a:spcBef>
              <a:defRPr sz="1700">
                <a:solidFill>
                  <a:srgbClr val="333333"/>
                </a:solidFill>
              </a:defRPr>
            </a:pPr>
            <a:r>
              <a:t>* Zuo (作): Create, innovate</a:t>
            </a:r>
          </a:p>
          <a:p>
            <a:pPr>
              <a:spcBef>
                <a:spcPts val="500"/>
              </a:spcBef>
              <a:defRPr sz="1700">
                <a:solidFill>
                  <a:srgbClr val="333333"/>
                </a:solidFill>
              </a:defRPr>
            </a:pPr>
            <a:r>
              <a:t>* Xin Er Hao Gu (信而好古): Believe in and love ancient culture</a:t>
            </a:r>
          </a:p>
          <a:p>
            <a:pPr>
              <a:spcBef>
                <a:spcPts val="500"/>
              </a:spcBef>
              <a:defRPr sz="1700">
                <a:solidFill>
                  <a:srgbClr val="333333"/>
                </a:solidFill>
              </a:defRPr>
            </a:pPr>
            <a:r>
              <a:t>* Qie (窃): Privately, humble self-reference</a:t>
            </a:r>
          </a:p>
          <a:p>
            <a:pPr>
              <a:spcBef>
                <a:spcPts val="500"/>
              </a:spcBef>
              <a:defRPr sz="1700">
                <a:solidFill>
                  <a:srgbClr val="333333"/>
                </a:solidFill>
              </a:defRPr>
            </a:pPr>
            <a:r>
              <a:t>* Lao Peng (老彭): Laozi and Pengzu, referring to ancient sages in general</a:t>
            </a:r>
          </a:p>
        </p:txBody>
      </p:sp>
      <p:sp>
        <p:nvSpPr>
          <p:cNvPr id="5" name="TextBox 4"/>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3/14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19 - Core Ideas</a:t>
            </a:r>
          </a:p>
        </p:txBody>
      </p:sp>
      <p:sp>
        <p:nvSpPr>
          <p:cNvPr id="4" name="Rounded Rectangle 3"/>
          <p:cNvSpPr/>
          <p:nvPr/>
        </p:nvSpPr>
        <p:spPr>
          <a:xfrm>
            <a:off x="457200" y="1371600"/>
            <a:ext cx="8229600" cy="1371600"/>
          </a:xfrm>
          <a:prstGeom prst="roundRect">
            <a:avLst/>
          </a:prstGeom>
          <a:solidFill>
            <a:srgbClr val="4682B4"/>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Core Concept</a:t>
            </a:r>
          </a:p>
          <a:p>
            <a:pPr>
              <a:defRPr sz="1700">
                <a:solidFill>
                  <a:srgbClr val="E6E6E6"/>
                </a:solidFill>
              </a:defRPr>
            </a:pPr>
            <a:r>
              <a:t>述而不作: Modern people always emphasize 'innovation', but Confucius reminds us inno...</a:t>
            </a:r>
          </a:p>
        </p:txBody>
      </p:sp>
      <p:sp>
        <p:nvSpPr>
          <p:cNvPr id="5" name="TextBox 4"/>
          <p:cNvSpPr txBox="1"/>
          <p:nvPr/>
        </p:nvSpPr>
        <p:spPr>
          <a:xfrm>
            <a:off x="457200" y="2926080"/>
            <a:ext cx="8229600" cy="1097280"/>
          </a:xfrm>
          <a:prstGeom prst="rect">
            <a:avLst/>
          </a:prstGeom>
          <a:noFill/>
        </p:spPr>
        <p:txBody>
          <a:bodyPr wrap="square">
            <a:spAutoFit/>
          </a:bodyPr>
          <a:lstStyle/>
          <a:p>
            <a:pPr>
              <a:defRPr sz="1900" b="1">
                <a:solidFill>
                  <a:srgbClr val="1E3C72"/>
                </a:solidFill>
              </a:defRPr>
            </a:pPr>
            <a:r>
              <a:t>1. 述而不作</a:t>
            </a:r>
          </a:p>
          <a:p>
            <a:pPr>
              <a:defRPr sz="1600">
                <a:solidFill>
                  <a:srgbClr val="333333"/>
                </a:solidFill>
              </a:defRPr>
            </a:pPr>
            <a:r>
              <a:t>孔子认为自己只是传承者，不是创造者——这是谦虚，也是对传统的尊重。</a:t>
            </a:r>
          </a:p>
        </p:txBody>
      </p:sp>
      <p:sp>
        <p:nvSpPr>
          <p:cNvPr id="6" name="TextBox 5"/>
          <p:cNvSpPr txBox="1"/>
          <p:nvPr/>
        </p:nvSpPr>
        <p:spPr>
          <a:xfrm>
            <a:off x="457200" y="4023360"/>
            <a:ext cx="8229600" cy="1097280"/>
          </a:xfrm>
          <a:prstGeom prst="rect">
            <a:avLst/>
          </a:prstGeom>
          <a:noFill/>
        </p:spPr>
        <p:txBody>
          <a:bodyPr wrap="square">
            <a:spAutoFit/>
          </a:bodyPr>
          <a:lstStyle/>
          <a:p>
            <a:pPr>
              <a:defRPr sz="1900" b="1">
                <a:solidFill>
                  <a:srgbClr val="1E3C72"/>
                </a:solidFill>
              </a:defRPr>
            </a:pPr>
            <a:r>
              <a:t>2. 信而好古</a:t>
            </a:r>
          </a:p>
          <a:p>
            <a:pPr>
              <a:defRPr sz="1600">
                <a:solidFill>
                  <a:srgbClr val="333333"/>
                </a:solidFill>
              </a:defRPr>
            </a:pPr>
            <a:r>
              <a:t>相信并喜好古代文化——不是崇古媚古，而是认为古代文化有永恒价值。</a:t>
            </a:r>
          </a:p>
        </p:txBody>
      </p:sp>
      <p:sp>
        <p:nvSpPr>
          <p:cNvPr id="7" name="TextBox 6"/>
          <p:cNvSpPr txBox="1"/>
          <p:nvPr/>
        </p:nvSpPr>
        <p:spPr>
          <a:xfrm>
            <a:off x="457200" y="5120640"/>
            <a:ext cx="8229600" cy="1097280"/>
          </a:xfrm>
          <a:prstGeom prst="rect">
            <a:avLst/>
          </a:prstGeom>
          <a:noFill/>
        </p:spPr>
        <p:txBody>
          <a:bodyPr wrap="square">
            <a:spAutoFit/>
          </a:bodyPr>
          <a:lstStyle/>
          <a:p>
            <a:pPr>
              <a:defRPr sz="1900" b="1">
                <a:solidFill>
                  <a:srgbClr val="1E3C72"/>
                </a:solidFill>
              </a:defRPr>
            </a:pPr>
            <a:r>
              <a:t>3. 文化传承</a:t>
            </a:r>
          </a:p>
          <a:p>
            <a:pPr>
              <a:defRPr sz="1600">
                <a:solidFill>
                  <a:srgbClr val="333333"/>
                </a:solidFill>
              </a:defRPr>
            </a:pPr>
            <a:r>
              <a:t>真正的智慧需要传承，不能凭空创造——创新必须建立在继承的基础上。</a:t>
            </a:r>
          </a:p>
        </p:txBody>
      </p:sp>
      <p:sp>
        <p:nvSpPr>
          <p:cNvPr id="8" name="TextBox 7"/>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4/14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20 - Xue Er Bu Yan (学而不厌)</a:t>
            </a:r>
          </a:p>
        </p:txBody>
      </p:sp>
      <p:sp>
        <p:nvSpPr>
          <p:cNvPr id="4" name="Rounded Rectangle 3"/>
          <p:cNvSpPr/>
          <p:nvPr/>
        </p:nvSpPr>
        <p:spPr>
          <a:xfrm>
            <a:off x="457200" y="1371600"/>
            <a:ext cx="8229600" cy="3474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[Original Text]</a:t>
            </a:r>
          </a:p>
          <a:p>
            <a:pPr>
              <a:spcBef>
                <a:spcPts val="400"/>
              </a:spcBef>
              <a:defRPr sz="2200">
                <a:solidFill>
                  <a:srgbClr val="333333"/>
                </a:solidFill>
              </a:defRPr>
            </a:pPr>
            <a:r>
              <a:t>Zi Yue: 'Mo Er Shi Zhi, Xue Er Bu Yan,</a:t>
            </a:r>
          </a:p>
          <a:p>
            <a:pPr>
              <a:spcBef>
                <a:spcPts val="400"/>
              </a:spcBef>
              <a:defRPr sz="2200">
                <a:solidFill>
                  <a:srgbClr val="333333"/>
                </a:solidFill>
              </a:defRPr>
            </a:pPr>
            <a:r>
              <a:t>Hui Ren Bu Juan, He You Yu Wo Zai?'</a:t>
            </a:r>
          </a:p>
        </p:txBody>
      </p:sp>
      <p:sp>
        <p:nvSpPr>
          <p:cNvPr id="5" name="Rounded Rectangle 4"/>
          <p:cNvSpPr/>
          <p:nvPr/>
        </p:nvSpPr>
        <p:spPr>
          <a:xfrm>
            <a:off x="457200" y="4937760"/>
            <a:ext cx="8229600" cy="1005840"/>
          </a:xfrm>
          <a:prstGeom prst="roundRect">
            <a:avLst/>
          </a:prstGeom>
          <a:solidFill>
            <a:srgbClr val="4682B4"/>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[Translation] 孔子说：默默记住学到的知识，学习从不满足，教诲别人从不厌倦，这三件事对我来说有什么难的呢？</a:t>
            </a:r>
          </a:p>
          <a:p>
            <a:pPr>
              <a:defRPr sz="1500" i="1">
                <a:solidFill>
                  <a:srgbClr val="DCDCFF"/>
                </a:solidFill>
              </a:defRPr>
            </a:pPr>
            <a:r>
              <a:t>[EN] Confucius said: 'Silently commit to memory, never grow tired of learning, never tire of teaching others - what difficulty is there in these for me?'</a:t>
            </a:r>
          </a:p>
        </p:txBody>
      </p:sp>
      <p:sp>
        <p:nvSpPr>
          <p:cNvPr id="6" name="TextBox 5"/>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5/14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20 - Xue Er Bu Yan (学而不厌) [Annotations]</a:t>
            </a:r>
          </a:p>
        </p:txBody>
      </p:sp>
      <p:sp>
        <p:nvSpPr>
          <p:cNvPr id="4" name="Rounded Rectangle 3"/>
          <p:cNvSpPr/>
          <p:nvPr/>
        </p:nvSpPr>
        <p:spPr>
          <a:xfrm>
            <a:off x="457200" y="1371600"/>
            <a:ext cx="8229600" cy="38404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[Annotations]</a:t>
            </a:r>
          </a:p>
          <a:p>
            <a:pPr>
              <a:spcBef>
                <a:spcPts val="500"/>
              </a:spcBef>
              <a:defRPr sz="1700">
                <a:solidFill>
                  <a:srgbClr val="333333"/>
                </a:solidFill>
              </a:defRPr>
            </a:pPr>
            <a:r>
              <a:t>* Mo Er Shi Zhi (默而识之): Silently memorize learned knowledge</a:t>
            </a:r>
          </a:p>
          <a:p>
            <a:pPr>
              <a:spcBef>
                <a:spcPts val="500"/>
              </a:spcBef>
              <a:defRPr sz="1700">
                <a:solidFill>
                  <a:srgbClr val="333333"/>
                </a:solidFill>
              </a:defRPr>
            </a:pPr>
            <a:r>
              <a:t>* Xue Er Bu Yan (学而不厌): Never tire of learning</a:t>
            </a:r>
          </a:p>
          <a:p>
            <a:pPr>
              <a:spcBef>
                <a:spcPts val="500"/>
              </a:spcBef>
              <a:defRPr sz="1700">
                <a:solidFill>
                  <a:srgbClr val="333333"/>
                </a:solidFill>
              </a:defRPr>
            </a:pPr>
            <a:r>
              <a:t>* Hui Ren Bu Juan (诲人不倦): Never tire of teaching others</a:t>
            </a:r>
          </a:p>
          <a:p>
            <a:pPr>
              <a:spcBef>
                <a:spcPts val="500"/>
              </a:spcBef>
              <a:defRPr sz="1700">
                <a:solidFill>
                  <a:srgbClr val="333333"/>
                </a:solidFill>
              </a:defRPr>
            </a:pPr>
            <a:r>
              <a:t>* He You Yu Wo Zai (何有于我哉): What difficulty is there in these for me? - Confucius's self-deprecation</a:t>
            </a:r>
          </a:p>
        </p:txBody>
      </p:sp>
      <p:sp>
        <p:nvSpPr>
          <p:cNvPr id="5" name="TextBox 4"/>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6/14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20 - Core Ideas</a:t>
            </a:r>
          </a:p>
        </p:txBody>
      </p:sp>
      <p:sp>
        <p:nvSpPr>
          <p:cNvPr id="4" name="Rounded Rectangle 3"/>
          <p:cNvSpPr/>
          <p:nvPr/>
        </p:nvSpPr>
        <p:spPr>
          <a:xfrm>
            <a:off x="457200" y="1371600"/>
            <a:ext cx="8229600" cy="1371600"/>
          </a:xfrm>
          <a:prstGeom prst="roundRect">
            <a:avLst/>
          </a:prstGeom>
          <a:solidFill>
            <a:srgbClr val="4682B4"/>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Core Concept</a:t>
            </a:r>
          </a:p>
          <a:p>
            <a:pPr>
              <a:defRPr sz="1700">
                <a:solidFill>
                  <a:srgbClr val="E6E6E6"/>
                </a:solidFill>
              </a:defRPr>
            </a:pPr>
            <a:r>
              <a:t>学而不厌，诲人不倦: These two phrases are why Confucius became the 'Teacher of Ten Thousa...</a:t>
            </a:r>
          </a:p>
        </p:txBody>
      </p:sp>
      <p:sp>
        <p:nvSpPr>
          <p:cNvPr id="5" name="TextBox 4"/>
          <p:cNvSpPr txBox="1"/>
          <p:nvPr/>
        </p:nvSpPr>
        <p:spPr>
          <a:xfrm>
            <a:off x="457200" y="2926080"/>
            <a:ext cx="8229600" cy="1097280"/>
          </a:xfrm>
          <a:prstGeom prst="rect">
            <a:avLst/>
          </a:prstGeom>
          <a:noFill/>
        </p:spPr>
        <p:txBody>
          <a:bodyPr wrap="square">
            <a:spAutoFit/>
          </a:bodyPr>
          <a:lstStyle/>
          <a:p>
            <a:pPr>
              <a:defRPr sz="1900" b="1">
                <a:solidFill>
                  <a:srgbClr val="1E3C72"/>
                </a:solidFill>
              </a:defRPr>
            </a:pPr>
            <a:r>
              <a:t>1. 默而识之</a:t>
            </a:r>
          </a:p>
          <a:p>
            <a:pPr>
              <a:defRPr sz="1600">
                <a:solidFill>
                  <a:srgbClr val="333333"/>
                </a:solidFill>
              </a:defRPr>
            </a:pPr>
            <a:r>
              <a:t>学习要默默记住，不是为了炫耀，而是内化——真正的学习是消化，不是表演。</a:t>
            </a:r>
          </a:p>
        </p:txBody>
      </p:sp>
      <p:sp>
        <p:nvSpPr>
          <p:cNvPr id="6" name="TextBox 5"/>
          <p:cNvSpPr txBox="1"/>
          <p:nvPr/>
        </p:nvSpPr>
        <p:spPr>
          <a:xfrm>
            <a:off x="457200" y="4023360"/>
            <a:ext cx="8229600" cy="1097280"/>
          </a:xfrm>
          <a:prstGeom prst="rect">
            <a:avLst/>
          </a:prstGeom>
          <a:noFill/>
        </p:spPr>
        <p:txBody>
          <a:bodyPr wrap="square">
            <a:spAutoFit/>
          </a:bodyPr>
          <a:lstStyle/>
          <a:p>
            <a:pPr>
              <a:defRPr sz="1900" b="1">
                <a:solidFill>
                  <a:srgbClr val="1E3C72"/>
                </a:solidFill>
              </a:defRPr>
            </a:pPr>
            <a:r>
              <a:t>2. 学而不厌</a:t>
            </a:r>
          </a:p>
          <a:p>
            <a:pPr>
              <a:defRPr sz="1600">
                <a:solidFill>
                  <a:srgbClr val="333333"/>
                </a:solidFill>
              </a:defRPr>
            </a:pPr>
            <a:r>
              <a:t>学习永远不满足——知识没有尽头，学习没有止境，真正学者永远谦逊。</a:t>
            </a:r>
          </a:p>
        </p:txBody>
      </p:sp>
      <p:sp>
        <p:nvSpPr>
          <p:cNvPr id="7" name="TextBox 6"/>
          <p:cNvSpPr txBox="1"/>
          <p:nvPr/>
        </p:nvSpPr>
        <p:spPr>
          <a:xfrm>
            <a:off x="457200" y="5120640"/>
            <a:ext cx="8229600" cy="1097280"/>
          </a:xfrm>
          <a:prstGeom prst="rect">
            <a:avLst/>
          </a:prstGeom>
          <a:noFill/>
        </p:spPr>
        <p:txBody>
          <a:bodyPr wrap="square">
            <a:spAutoFit/>
          </a:bodyPr>
          <a:lstStyle/>
          <a:p>
            <a:pPr>
              <a:defRPr sz="1900" b="1">
                <a:solidFill>
                  <a:srgbClr val="1E3C72"/>
                </a:solidFill>
              </a:defRPr>
            </a:pPr>
            <a:r>
              <a:t>3. 诲人不倦</a:t>
            </a:r>
          </a:p>
          <a:p>
            <a:pPr>
              <a:defRPr sz="1600">
                <a:solidFill>
                  <a:srgbClr val="333333"/>
                </a:solidFill>
              </a:defRPr>
            </a:pPr>
            <a:r>
              <a:t>教别人永远不厌倦——教是另一种学，教的过程也是自己提高的过程。</a:t>
            </a:r>
          </a:p>
        </p:txBody>
      </p:sp>
      <p:sp>
        <p:nvSpPr>
          <p:cNvPr id="8" name="TextBox 7"/>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7/14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20 - Core Ideas</a:t>
            </a:r>
          </a:p>
        </p:txBody>
      </p:sp>
      <p:sp>
        <p:nvSpPr>
          <p:cNvPr id="4" name="Rounded Rectangle 3"/>
          <p:cNvSpPr/>
          <p:nvPr/>
        </p:nvSpPr>
        <p:spPr>
          <a:xfrm>
            <a:off x="457200" y="1371600"/>
            <a:ext cx="8229600" cy="1371600"/>
          </a:xfrm>
          <a:prstGeom prst="roundRect">
            <a:avLst/>
          </a:prstGeom>
          <a:solidFill>
            <a:srgbClr val="4682B4"/>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Core Concept</a:t>
            </a:r>
          </a:p>
          <a:p>
            <a:pPr>
              <a:defRPr sz="1700">
                <a:solidFill>
                  <a:srgbClr val="E6E6E6"/>
                </a:solidFill>
              </a:defRPr>
            </a:pPr>
            <a:r>
              <a:t>学而不厌，诲人不倦: These two phrases are why Confucius became the 'Teacher of Ten Thousa...</a:t>
            </a:r>
          </a:p>
        </p:txBody>
      </p:sp>
      <p:sp>
        <p:nvSpPr>
          <p:cNvPr id="5" name="TextBox 4"/>
          <p:cNvSpPr txBox="1"/>
          <p:nvPr/>
        </p:nvSpPr>
        <p:spPr>
          <a:xfrm>
            <a:off x="457200" y="2926080"/>
            <a:ext cx="8229600" cy="1097280"/>
          </a:xfrm>
          <a:prstGeom prst="rect">
            <a:avLst/>
          </a:prstGeom>
          <a:noFill/>
        </p:spPr>
        <p:txBody>
          <a:bodyPr wrap="square">
            <a:spAutoFit/>
          </a:bodyPr>
          <a:lstStyle/>
          <a:p>
            <a:pPr>
              <a:defRPr sz="1900" b="1">
                <a:solidFill>
                  <a:srgbClr val="1E3C72"/>
                </a:solidFill>
              </a:defRPr>
            </a:pPr>
            <a:r>
              <a:t>1. 默而识之</a:t>
            </a:r>
          </a:p>
          <a:p>
            <a:pPr>
              <a:defRPr sz="1600">
                <a:solidFill>
                  <a:srgbClr val="333333"/>
                </a:solidFill>
              </a:defRPr>
            </a:pPr>
            <a:r>
              <a:t>学习要默默记住，不是为了炫耀，而是内化——真正的学习是消化，不是表演。</a:t>
            </a:r>
          </a:p>
        </p:txBody>
      </p:sp>
      <p:sp>
        <p:nvSpPr>
          <p:cNvPr id="6" name="TextBox 5"/>
          <p:cNvSpPr txBox="1"/>
          <p:nvPr/>
        </p:nvSpPr>
        <p:spPr>
          <a:xfrm>
            <a:off x="457200" y="4023360"/>
            <a:ext cx="8229600" cy="1097280"/>
          </a:xfrm>
          <a:prstGeom prst="rect">
            <a:avLst/>
          </a:prstGeom>
          <a:noFill/>
        </p:spPr>
        <p:txBody>
          <a:bodyPr wrap="square">
            <a:spAutoFit/>
          </a:bodyPr>
          <a:lstStyle/>
          <a:p>
            <a:pPr>
              <a:defRPr sz="1900" b="1">
                <a:solidFill>
                  <a:srgbClr val="1E3C72"/>
                </a:solidFill>
              </a:defRPr>
            </a:pPr>
            <a:r>
              <a:t>2. 学而不厌</a:t>
            </a:r>
          </a:p>
          <a:p>
            <a:pPr>
              <a:defRPr sz="1600">
                <a:solidFill>
                  <a:srgbClr val="333333"/>
                </a:solidFill>
              </a:defRPr>
            </a:pPr>
            <a:r>
              <a:t>学习永远不满足——知识没有尽头，学习没有止境，真正学者永远谦逊。</a:t>
            </a:r>
          </a:p>
        </p:txBody>
      </p:sp>
      <p:sp>
        <p:nvSpPr>
          <p:cNvPr id="7" name="TextBox 6"/>
          <p:cNvSpPr txBox="1"/>
          <p:nvPr/>
        </p:nvSpPr>
        <p:spPr>
          <a:xfrm>
            <a:off x="457200" y="5120640"/>
            <a:ext cx="8229600" cy="1097280"/>
          </a:xfrm>
          <a:prstGeom prst="rect">
            <a:avLst/>
          </a:prstGeom>
          <a:noFill/>
        </p:spPr>
        <p:txBody>
          <a:bodyPr wrap="square">
            <a:spAutoFit/>
          </a:bodyPr>
          <a:lstStyle/>
          <a:p>
            <a:pPr>
              <a:defRPr sz="1900" b="1">
                <a:solidFill>
                  <a:srgbClr val="1E3C72"/>
                </a:solidFill>
              </a:defRPr>
            </a:pPr>
            <a:r>
              <a:t>3. 诲人不倦</a:t>
            </a:r>
          </a:p>
          <a:p>
            <a:pPr>
              <a:defRPr sz="1600">
                <a:solidFill>
                  <a:srgbClr val="333333"/>
                </a:solidFill>
              </a:defRPr>
            </a:pPr>
            <a:r>
              <a:t>教别人永远不厌倦——教是另一种学，教的过程也是自己提高的过程。</a:t>
            </a:r>
          </a:p>
        </p:txBody>
      </p:sp>
      <p:sp>
        <p:nvSpPr>
          <p:cNvPr id="8" name="TextBox 7"/>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8/14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Western Thought Comparison</a:t>
            </a:r>
          </a:p>
        </p:txBody>
      </p:sp>
      <p:sp>
        <p:nvSpPr>
          <p:cNvPr id="4" name="Rounded Rectangle 3"/>
          <p:cNvSpPr/>
          <p:nvPr/>
        </p:nvSpPr>
        <p:spPr>
          <a:xfrm>
            <a:off x="457200" y="1371600"/>
            <a:ext cx="8229600" cy="10972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1E3C72"/>
                </a:solidFill>
              </a:defRPr>
            </a:pPr>
            <a:r>
              <a:t>Aristotle: I Love My Teacher</a:t>
            </a:r>
          </a:p>
          <a:p>
            <a:pPr>
              <a:defRPr sz="1500">
                <a:solidFill>
                  <a:srgbClr val="333333"/>
                </a:solidFill>
              </a:defRPr>
            </a:pPr>
            <a:r>
              <a:t>I love my teacher, but I love truth more - but truth must be built on the shoulders of predecessors. c. 340 BCE</a:t>
            </a:r>
          </a:p>
        </p:txBody>
      </p:sp>
      <p:sp>
        <p:nvSpPr>
          <p:cNvPr id="5" name="Rounded Rectangle 4"/>
          <p:cNvSpPr/>
          <p:nvPr/>
        </p:nvSpPr>
        <p:spPr>
          <a:xfrm>
            <a:off x="457200" y="2560320"/>
            <a:ext cx="8229600" cy="10972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1E3C72"/>
                </a:solidFill>
              </a:defRPr>
            </a:pPr>
            <a:r>
              <a:t>Newton: Standing on Shoulders</a:t>
            </a:r>
          </a:p>
          <a:p>
            <a:pPr>
              <a:defRPr sz="1500">
                <a:solidFill>
                  <a:srgbClr val="333333"/>
                </a:solidFill>
              </a:defRPr>
            </a:pPr>
            <a:r>
              <a:t>If I have seen further, it is by standing on the shoulders of giants - all innovation extends from predecessors. 1675</a:t>
            </a:r>
          </a:p>
        </p:txBody>
      </p:sp>
      <p:sp>
        <p:nvSpPr>
          <p:cNvPr id="6" name="Rounded Rectangle 5"/>
          <p:cNvSpPr/>
          <p:nvPr/>
        </p:nvSpPr>
        <p:spPr>
          <a:xfrm>
            <a:off x="457200" y="3749039"/>
            <a:ext cx="8229600" cy="10972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1E3C72"/>
                </a:solidFill>
              </a:defRPr>
            </a:pPr>
            <a:r>
              <a:t>Wittgenstein: Language Tradition</a:t>
            </a:r>
          </a:p>
          <a:p>
            <a:pPr>
              <a:defRPr sz="1500">
                <a:solidFill>
                  <a:srgbClr val="333333"/>
                </a:solidFill>
              </a:defRPr>
            </a:pPr>
            <a:r>
              <a:t>Language is a tradition - we cannot create language, only inherit and use it. 1953</a:t>
            </a:r>
          </a:p>
        </p:txBody>
      </p:sp>
      <p:sp>
        <p:nvSpPr>
          <p:cNvPr id="7" name="Rounded Rectangle 6"/>
          <p:cNvSpPr/>
          <p:nvPr/>
        </p:nvSpPr>
        <p:spPr>
          <a:xfrm>
            <a:off x="457200" y="4937759"/>
            <a:ext cx="8229600" cy="10972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1E3C72"/>
                </a:solidFill>
              </a:defRPr>
            </a:pPr>
            <a:r>
              <a:t>Gadamer: Hermeneutics</a:t>
            </a:r>
          </a:p>
          <a:p>
            <a:pPr>
              <a:defRPr sz="1500">
                <a:solidFill>
                  <a:srgbClr val="333333"/>
                </a:solidFill>
              </a:defRPr>
            </a:pPr>
            <a:r>
              <a:t>Understanding is always historically situated - we always understand from our own historical horizon. 1960</a:t>
            </a:r>
          </a:p>
        </p:txBody>
      </p:sp>
      <p:sp>
        <p:nvSpPr>
          <p:cNvPr id="8" name="TextBox 7"/>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9/14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Modern Application</a:t>
            </a:r>
          </a:p>
        </p:txBody>
      </p:sp>
      <p:sp>
        <p:nvSpPr>
          <p:cNvPr id="4" name="Rounded Rectangle 3"/>
          <p:cNvSpPr/>
          <p:nvPr/>
        </p:nvSpPr>
        <p:spPr>
          <a:xfrm>
            <a:off x="457200" y="1371600"/>
            <a:ext cx="8229600" cy="1188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1. 述而不作</a:t>
            </a:r>
          </a:p>
          <a:p>
            <a:pPr>
              <a:defRPr sz="1500">
                <a:solidFill>
                  <a:srgbClr val="333333"/>
                </a:solidFill>
              </a:defRPr>
            </a:pPr>
            <a:r>
              <a:t>孔子认为自己只是传承者，不是创造者——这是谦虚，也是对传统的尊重。</a:t>
            </a:r>
          </a:p>
        </p:txBody>
      </p:sp>
      <p:sp>
        <p:nvSpPr>
          <p:cNvPr id="5" name="Rounded Rectangle 4"/>
          <p:cNvSpPr/>
          <p:nvPr/>
        </p:nvSpPr>
        <p:spPr>
          <a:xfrm>
            <a:off x="457200" y="2651760"/>
            <a:ext cx="8229600" cy="1188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2. 学而不厌</a:t>
            </a:r>
          </a:p>
          <a:p>
            <a:pPr>
              <a:defRPr sz="1500">
                <a:solidFill>
                  <a:srgbClr val="333333"/>
                </a:solidFill>
              </a:defRPr>
            </a:pPr>
            <a:r>
              <a:t>学习永远不满足——知识没有尽头，学习没有止境，真正学者永远谦逊。</a:t>
            </a:r>
          </a:p>
        </p:txBody>
      </p:sp>
      <p:sp>
        <p:nvSpPr>
          <p:cNvPr id="6" name="TextBox 5"/>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10/14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Historical Background</a:t>
            </a:r>
          </a:p>
        </p:txBody>
      </p:sp>
      <p:sp>
        <p:nvSpPr>
          <p:cNvPr id="4" name="Rounded Rectangle 3"/>
          <p:cNvSpPr/>
          <p:nvPr/>
        </p:nvSpPr>
        <p:spPr>
          <a:xfrm>
            <a:off x="457200" y="1371600"/>
            <a:ext cx="8229600" cy="228600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Shu Er Bu Zuo (述而不作) - Background</a:t>
            </a:r>
          </a:p>
          <a:p>
            <a:pPr>
              <a:spcBef>
                <a:spcPts val="800"/>
              </a:spcBef>
              <a:defRPr sz="1500">
                <a:solidFill>
                  <a:srgbClr val="333333"/>
                </a:solidFill>
              </a:defRPr>
            </a:pPr>
            <a:r>
              <a:t>This is Confucius's summary of his academic attitude. 'Shu er bu zuo' doesn't mean he lacked ability to create, but that true wisdom lies in transmission rather than novelty. Confucius's life work was compiling and transmitting the Six Classics (Poetry, Documents, Rites, Music, Changes, Spring and Autumn) rather than creating something new. This attitude deeply influenced later generations - Chinese scholarship emphasizes 'Dao Tong' (transmission of the Way), this spirit of passing down through generations.</a:t>
            </a:r>
          </a:p>
        </p:txBody>
      </p:sp>
      <p:sp>
        <p:nvSpPr>
          <p:cNvPr id="5" name="TextBox 4"/>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11/14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Discussion Questions</a:t>
            </a:r>
          </a:p>
        </p:txBody>
      </p:sp>
      <p:sp>
        <p:nvSpPr>
          <p:cNvPr id="4" name="Rounded Rectangle 3"/>
          <p:cNvSpPr/>
          <p:nvPr/>
        </p:nvSpPr>
        <p:spPr>
          <a:xfrm>
            <a:off x="457200" y="1371600"/>
            <a:ext cx="8229600" cy="1188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B43C3C"/>
                </a:solidFill>
              </a:defRPr>
            </a:pPr>
            <a:r>
              <a:t>Q1: Question 1</a:t>
            </a:r>
          </a:p>
          <a:p>
            <a:pPr>
              <a:defRPr sz="1500">
                <a:solidFill>
                  <a:srgbClr val="333333"/>
                </a:solidFill>
              </a:defRPr>
            </a:pPr>
            <a:r>
              <a:t>Why did Confucius say '述而不作' rather than '创作'? What academic attitude does this reflect?</a:t>
            </a:r>
          </a:p>
        </p:txBody>
      </p:sp>
      <p:sp>
        <p:nvSpPr>
          <p:cNvPr id="5" name="Rounded Rectangle 4"/>
          <p:cNvSpPr/>
          <p:nvPr/>
        </p:nvSpPr>
        <p:spPr>
          <a:xfrm>
            <a:off x="457200" y="2651760"/>
            <a:ext cx="8229600" cy="1188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B43C3C"/>
                </a:solidFill>
              </a:defRPr>
            </a:pPr>
            <a:r>
              <a:t>Q2: Question 2</a:t>
            </a:r>
          </a:p>
          <a:p>
            <a:pPr>
              <a:defRPr sz="1500">
                <a:solidFill>
                  <a:srgbClr val="333333"/>
                </a:solidFill>
              </a:defRPr>
            </a:pPr>
            <a:r>
              <a:t>In an era where innovation is the main theme, does '述而不作' attitude still have value?</a:t>
            </a:r>
          </a:p>
        </p:txBody>
      </p:sp>
      <p:sp>
        <p:nvSpPr>
          <p:cNvPr id="6" name="Rounded Rectangle 5"/>
          <p:cNvSpPr/>
          <p:nvPr/>
        </p:nvSpPr>
        <p:spPr>
          <a:xfrm>
            <a:off x="457200" y="3931920"/>
            <a:ext cx="8229600" cy="1188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B43C3C"/>
                </a:solidFill>
              </a:defRPr>
            </a:pPr>
            <a:r>
              <a:t>Q3: Question 3</a:t>
            </a:r>
          </a:p>
          <a:p>
            <a:pPr>
              <a:defRPr sz="1500">
                <a:solidFill>
                  <a:srgbClr val="333333"/>
                </a:solidFill>
              </a:defRPr>
            </a:pPr>
            <a:r>
              <a:t>In your field, talk about the relationship between transmission and innovation - how to both inherit traditions and not be stagnant?</a:t>
            </a:r>
          </a:p>
        </p:txBody>
      </p:sp>
      <p:sp>
        <p:nvSpPr>
          <p:cNvPr id="7" name="TextBox 6"/>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12/14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Discussion Questions</a:t>
            </a:r>
          </a:p>
        </p:txBody>
      </p:sp>
      <p:sp>
        <p:nvSpPr>
          <p:cNvPr id="4" name="Rounded Rectangle 3"/>
          <p:cNvSpPr/>
          <p:nvPr/>
        </p:nvSpPr>
        <p:spPr>
          <a:xfrm>
            <a:off x="457200" y="1371600"/>
            <a:ext cx="8229600" cy="1188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B43C3C"/>
                </a:solidFill>
              </a:defRPr>
            </a:pPr>
            <a:r>
              <a:t>Q1: Question 1</a:t>
            </a:r>
          </a:p>
          <a:p>
            <a:pPr>
              <a:defRPr sz="1500">
                <a:solidFill>
                  <a:srgbClr val="333333"/>
                </a:solidFill>
              </a:defRPr>
            </a:pPr>
            <a:r>
              <a:t>Do you feel '厌' in learning? How to maintain the state of '学而不厌'?</a:t>
            </a:r>
          </a:p>
        </p:txBody>
      </p:sp>
      <p:sp>
        <p:nvSpPr>
          <p:cNvPr id="5" name="Rounded Rectangle 4"/>
          <p:cNvSpPr/>
          <p:nvPr/>
        </p:nvSpPr>
        <p:spPr>
          <a:xfrm>
            <a:off x="457200" y="2651760"/>
            <a:ext cx="8229600" cy="1188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B43C3C"/>
                </a:solidFill>
              </a:defRPr>
            </a:pPr>
            <a:r>
              <a:t>Q2: Question 2</a:t>
            </a:r>
          </a:p>
          <a:p>
            <a:pPr>
              <a:defRPr sz="1500">
                <a:solidFill>
                  <a:srgbClr val="333333"/>
                </a:solidFill>
              </a:defRPr>
            </a:pPr>
            <a:r>
              <a:t>'诲人不倦' - why is teaching others also beneficial to oneself? How does teaching and learning enhance each other?</a:t>
            </a:r>
          </a:p>
        </p:txBody>
      </p:sp>
      <p:sp>
        <p:nvSpPr>
          <p:cNvPr id="6" name="Rounded Rectangle 5"/>
          <p:cNvSpPr/>
          <p:nvPr/>
        </p:nvSpPr>
        <p:spPr>
          <a:xfrm>
            <a:off x="457200" y="3931920"/>
            <a:ext cx="8229600" cy="1188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B43C3C"/>
                </a:solidFill>
              </a:defRPr>
            </a:pPr>
            <a:r>
              <a:t>Q3: Question 3</a:t>
            </a:r>
          </a:p>
          <a:p>
            <a:pPr>
              <a:defRPr sz="1500">
                <a:solidFill>
                  <a:srgbClr val="333333"/>
                </a:solidFill>
              </a:defRPr>
            </a:pPr>
            <a:r>
              <a:t>'默而识之' - how to truly remember rather than superficially memorize? What are the learning methods?</a:t>
            </a:r>
          </a:p>
        </p:txBody>
      </p:sp>
      <p:sp>
        <p:nvSpPr>
          <p:cNvPr id="7" name="TextBox 6"/>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13/14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Day 7 - Summary</a:t>
            </a:r>
          </a:p>
        </p:txBody>
      </p:sp>
      <p:sp>
        <p:nvSpPr>
          <p:cNvPr id="4" name="Rounded Rectangle 3"/>
          <p:cNvSpPr/>
          <p:nvPr/>
        </p:nvSpPr>
        <p:spPr>
          <a:xfrm>
            <a:off x="457200" y="1371600"/>
            <a:ext cx="8229600" cy="128016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Chapter 19: Shu Er Bu Zuo (述而不作)</a:t>
            </a:r>
          </a:p>
          <a:p>
            <a:pPr>
              <a:defRPr sz="1400">
                <a:solidFill>
                  <a:srgbClr val="333333"/>
                </a:solidFill>
              </a:defRPr>
            </a:pPr>
            <a:r>
              <a:t>孔子认为自己只是传承者，不是创造者——这是谦虚，也是对传统的尊重。</a:t>
            </a:r>
          </a:p>
        </p:txBody>
      </p:sp>
      <p:sp>
        <p:nvSpPr>
          <p:cNvPr id="5" name="Rounded Rectangle 4"/>
          <p:cNvSpPr/>
          <p:nvPr/>
        </p:nvSpPr>
        <p:spPr>
          <a:xfrm>
            <a:off x="457200" y="2743200"/>
            <a:ext cx="8229600" cy="128016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Chapter 20: Xue Er Bu Yan (学而不厌)</a:t>
            </a:r>
          </a:p>
          <a:p>
            <a:pPr>
              <a:defRPr sz="1400">
                <a:solidFill>
                  <a:srgbClr val="333333"/>
                </a:solidFill>
              </a:defRPr>
            </a:pPr>
            <a:r>
              <a:t>学习要默默记住，不是为了炫耀，而是内化——真正的学习是消化，不是表演。</a:t>
            </a:r>
          </a:p>
        </p:txBody>
      </p:sp>
      <p:sp>
        <p:nvSpPr>
          <p:cNvPr id="6" name="Rounded Rectangle 5"/>
          <p:cNvSpPr/>
          <p:nvPr/>
        </p:nvSpPr>
        <p:spPr>
          <a:xfrm>
            <a:off x="457200" y="5577840"/>
            <a:ext cx="8229600" cy="914400"/>
          </a:xfrm>
          <a:prstGeom prst="roundRect">
            <a:avLst/>
          </a:prstGeom>
          <a:solidFill>
            <a:srgbClr val="1E3C72"/>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Zi Yue: 'Shu Er Bu Zuo, Xin Er Hao Gu,</a:t>
            </a:r>
          </a:p>
        </p:txBody>
      </p:sp>
      <p:sp>
        <p:nvSpPr>
          <p:cNvPr id="7" name="TextBox 6"/>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14/14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