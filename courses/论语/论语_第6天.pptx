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46304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8229600" cy="914400"/>
          </a:xfrm>
          <a:prstGeom prst="rect">
            <a:avLst/>
          </a:prstGeom>
          <a:noFill/>
        </p:spPr>
        <p:txBody>
          <a:bodyPr wrap="none">
            <a:spAutoFit/>
          </a:bodyPr>
          <a:lstStyle/>
          <a:p>
            <a:pPr>
              <a:defRPr sz="3800" b="1">
                <a:solidFill>
                  <a:srgbClr val="FFFFFF"/>
                </a:solidFill>
              </a:defRPr>
            </a:pPr>
            <a:r>
              <a:t>Guo Xue Jing Dian Jing Du - Day 6</a:t>
            </a:r>
          </a:p>
        </p:txBody>
      </p:sp>
      <p:sp>
        <p:nvSpPr>
          <p:cNvPr id="4" name="TextBox 3"/>
          <p:cNvSpPr txBox="1"/>
          <p:nvPr/>
        </p:nvSpPr>
        <p:spPr>
          <a:xfrm>
            <a:off x="914400" y="2286000"/>
            <a:ext cx="7315200" cy="1371600"/>
          </a:xfrm>
          <a:prstGeom prst="rect">
            <a:avLst/>
          </a:prstGeom>
          <a:noFill/>
        </p:spPr>
        <p:txBody>
          <a:bodyPr wrap="none">
            <a:spAutoFit/>
          </a:bodyPr>
          <a:lstStyle/>
          <a:p>
            <a:pPr algn="ctr">
              <a:defRPr sz="6000" b="1">
                <a:solidFill>
                  <a:srgbClr val="1E3C72"/>
                </a:solidFill>
              </a:defRPr>
            </a:pPr>
            <a:r>
              <a:t>雍也第六 Yong Ye Di Liu</a:t>
            </a:r>
          </a:p>
        </p:txBody>
      </p:sp>
      <p:sp>
        <p:nvSpPr>
          <p:cNvPr id="5" name="TextBox 4"/>
          <p:cNvSpPr txBox="1"/>
          <p:nvPr/>
        </p:nvSpPr>
        <p:spPr>
          <a:xfrm>
            <a:off x="914400" y="3931920"/>
            <a:ext cx="7315200" cy="914400"/>
          </a:xfrm>
          <a:prstGeom prst="rect">
            <a:avLst/>
          </a:prstGeom>
          <a:noFill/>
        </p:spPr>
        <p:txBody>
          <a:bodyPr wrap="none">
            <a:spAutoFit/>
          </a:bodyPr>
          <a:lstStyle/>
          <a:p>
            <a:pPr algn="ctr">
              <a:defRPr sz="2800">
                <a:solidFill>
                  <a:srgbClr val="666666"/>
                </a:solidFill>
              </a:defRPr>
            </a:pPr>
            <a:r>
              <a:t>Bu Qian Nu Bu Er Guo (不迁怒不贰过), Xian Zai Hui Ye (贤哉回也), Ran Bo Niu You Ji (冉伯牛有疾)</a:t>
            </a:r>
          </a:p>
        </p:txBody>
      </p:sp>
      <p:sp>
        <p:nvSpPr>
          <p:cNvPr id="6" name="Rounded Rectangle 5"/>
          <p:cNvSpPr/>
          <p:nvPr/>
        </p:nvSpPr>
        <p:spPr>
          <a:xfrm>
            <a:off x="1371600" y="5029200"/>
            <a:ext cx="6400800" cy="1188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400" i="1">
                <a:solidFill>
                  <a:srgbClr val="1E3C72"/>
                </a:solidFill>
              </a:defRPr>
            </a:pPr>
            <a:r>
              <a:t>Ai Gong Wen: 'Di Zi Shu Wei Hao Xue?'</a:t>
            </a:r>
          </a:p>
        </p:txBody>
      </p:sp>
      <p:sp>
        <p:nvSpPr>
          <p:cNvPr id="7" name="TextBox 6"/>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16 - Bu Qian Nu Bu Er Guo (不迁怒不贰过)</a:t>
            </a:r>
          </a:p>
        </p:txBody>
      </p:sp>
      <p:sp>
        <p:nvSpPr>
          <p:cNvPr id="4" name="Rounded Rectangle 3"/>
          <p:cNvSpPr/>
          <p:nvPr/>
        </p:nvSpPr>
        <p:spPr>
          <a:xfrm>
            <a:off x="457200" y="1371600"/>
            <a:ext cx="8229600" cy="3474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[Original Text]</a:t>
            </a:r>
          </a:p>
          <a:p>
            <a:pPr>
              <a:spcBef>
                <a:spcPts val="400"/>
              </a:spcBef>
              <a:defRPr sz="2200">
                <a:solidFill>
                  <a:srgbClr val="333333"/>
                </a:solidFill>
              </a:defRPr>
            </a:pPr>
            <a:r>
              <a:t>Ai Gong Wen: 'Di Zi Shu Wei Hao Xue?'</a:t>
            </a:r>
          </a:p>
          <a:p>
            <a:pPr>
              <a:spcBef>
                <a:spcPts val="400"/>
              </a:spcBef>
              <a:defRPr sz="2200">
                <a:solidFill>
                  <a:srgbClr val="333333"/>
                </a:solidFill>
              </a:defRPr>
            </a:pPr>
            <a:r>
              <a:t>Kongzi Dui Yue: 'You Yan Hui Zhe Hao Xue,</a:t>
            </a:r>
          </a:p>
          <a:p>
            <a:pPr>
              <a:spcBef>
                <a:spcPts val="400"/>
              </a:spcBef>
              <a:defRPr sz="2200">
                <a:solidFill>
                  <a:srgbClr val="333333"/>
                </a:solidFill>
              </a:defRPr>
            </a:pPr>
            <a:r>
              <a:t>Bu Qian Nu, Bu Er Guo,</a:t>
            </a:r>
          </a:p>
          <a:p>
            <a:pPr>
              <a:spcBef>
                <a:spcPts val="400"/>
              </a:spcBef>
              <a:defRPr sz="2200">
                <a:solidFill>
                  <a:srgbClr val="333333"/>
                </a:solidFill>
              </a:defRPr>
            </a:pPr>
            <a:r>
              <a:t>Bu Xing Duan Ming Si Yi.</a:t>
            </a:r>
          </a:p>
          <a:p>
            <a:pPr>
              <a:spcBef>
                <a:spcPts val="400"/>
              </a:spcBef>
              <a:defRPr sz="2200">
                <a:solidFill>
                  <a:srgbClr val="333333"/>
                </a:solidFill>
              </a:defRPr>
            </a:pPr>
            <a:r>
              <a:t>Jin Ye Ze Wang, Wei Wen Hao Xue Zhe Ye.'"</a:t>
            </a:r>
          </a:p>
        </p:txBody>
      </p:sp>
      <p:sp>
        <p:nvSpPr>
          <p:cNvPr id="5" name="Rounded Rectangle 4"/>
          <p:cNvSpPr/>
          <p:nvPr/>
        </p:nvSpPr>
        <p:spPr>
          <a:xfrm>
            <a:off x="457200" y="4937760"/>
            <a:ext cx="8229600" cy="100584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defRPr>
            </a:pPr>
            <a:r>
              <a:t>[Translation] 鲁哀公问：你的学生中谁是最好学的？孔子回答说：有颜回这样的人好学，他不把怒气转移到别人身上，不重复犯同样的错误。他不幸短命死了，现在没有这样的人了，没听说过还有好学的人。</a:t>
            </a:r>
          </a:p>
          <a:p>
            <a:pPr>
              <a:defRPr sz="1500" i="1">
                <a:solidFill>
                  <a:srgbClr val="DCDCFF"/>
                </a:solidFill>
              </a:defRPr>
            </a:pPr>
            <a:r>
              <a:t>[EN] Duke Ai asked: 'Which of your disciples is most devoted to learning?' Confucius replied: 'Yan Hui - devoted to learning. He never transferred his anger, never repeated a mistake. Unfortunate indeed that he died young. Now there is no one like him; I have not heard of anyone else who loves learning so deeply.'</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2/14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16 - Bu Qian Nu Bu Er Guo (不迁怒不贰过) [Annotations]</a:t>
            </a:r>
          </a:p>
        </p:txBody>
      </p:sp>
      <p:sp>
        <p:nvSpPr>
          <p:cNvPr id="4" name="Rounded Rectangle 3"/>
          <p:cNvSpPr/>
          <p:nvPr/>
        </p:nvSpPr>
        <p:spPr>
          <a:xfrm>
            <a:off x="457200" y="1371600"/>
            <a:ext cx="8229600" cy="38404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[Annotations]</a:t>
            </a:r>
          </a:p>
          <a:p>
            <a:pPr>
              <a:spcBef>
                <a:spcPts val="500"/>
              </a:spcBef>
              <a:defRPr sz="1700">
                <a:solidFill>
                  <a:srgbClr val="333333"/>
                </a:solidFill>
              </a:defRPr>
            </a:pPr>
            <a:r>
              <a:t>* Ai Gong (哀公): Duke of Lu</a:t>
            </a:r>
          </a:p>
          <a:p>
            <a:pPr>
              <a:spcBef>
                <a:spcPts val="500"/>
              </a:spcBef>
              <a:defRPr sz="1700">
                <a:solidFill>
                  <a:srgbClr val="333333"/>
                </a:solidFill>
              </a:defRPr>
            </a:pPr>
            <a:r>
              <a:t>* Yan Hui (颜回): Yan Yuan, courtesy name Ziyan, Confucius's most favored disciple</a:t>
            </a:r>
          </a:p>
          <a:p>
            <a:pPr>
              <a:spcBef>
                <a:spcPts val="500"/>
              </a:spcBef>
              <a:defRPr sz="1700">
                <a:solidFill>
                  <a:srgbClr val="333333"/>
                </a:solidFill>
              </a:defRPr>
            </a:pPr>
            <a:r>
              <a:t>* Bu Qian Nu (不迁怒): Not transferring anger to others</a:t>
            </a:r>
          </a:p>
          <a:p>
            <a:pPr>
              <a:spcBef>
                <a:spcPts val="500"/>
              </a:spcBef>
              <a:defRPr sz="1700">
                <a:solidFill>
                  <a:srgbClr val="333333"/>
                </a:solidFill>
              </a:defRPr>
            </a:pPr>
            <a:r>
              <a:t>* Bu Er Guo (不贰过): Not repeating the same mistake</a:t>
            </a:r>
          </a:p>
          <a:p>
            <a:pPr>
              <a:spcBef>
                <a:spcPts val="500"/>
              </a:spcBef>
              <a:defRPr sz="1700">
                <a:solidFill>
                  <a:srgbClr val="333333"/>
                </a:solidFill>
              </a:defRPr>
            </a:pPr>
            <a:r>
              <a:t>* Duan Ming (短命): Yan Hui died early, only about 30 years old</a:t>
            </a:r>
          </a:p>
          <a:p>
            <a:pPr>
              <a:spcBef>
                <a:spcPts val="500"/>
              </a:spcBef>
              <a:defRPr sz="1700">
                <a:solidFill>
                  <a:srgbClr val="333333"/>
                </a:solidFill>
              </a:defRPr>
            </a:pPr>
            <a:r>
              <a:t>* Wang (亡): Same as '无' - none, not</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3/14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16 - Core Ideas</a:t>
            </a:r>
          </a:p>
        </p:txBody>
      </p:sp>
      <p:sp>
        <p:nvSpPr>
          <p:cNvPr id="4" name="Rounded Rectangle 3"/>
          <p:cNvSpPr/>
          <p:nvPr/>
        </p:nvSpPr>
        <p:spPr>
          <a:xfrm>
            <a:off x="457200" y="1371600"/>
            <a:ext cx="8229600" cy="137160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Core Concept</a:t>
            </a:r>
          </a:p>
          <a:p>
            <a:pPr>
              <a:defRPr sz="1700">
                <a:solidFill>
                  <a:srgbClr val="E6E6E6"/>
                </a:solidFill>
              </a:defRPr>
            </a:pPr>
            <a:r>
              <a:t>不迁怒不贰过: This is Confucius's definition of 'good learning' - not how much knowled...</a:t>
            </a:r>
          </a:p>
        </p:txBody>
      </p:sp>
      <p:sp>
        <p:nvSpPr>
          <p:cNvPr id="5" name="TextBox 4"/>
          <p:cNvSpPr txBox="1"/>
          <p:nvPr/>
        </p:nvSpPr>
        <p:spPr>
          <a:xfrm>
            <a:off x="457200" y="2926080"/>
            <a:ext cx="8229600" cy="1097280"/>
          </a:xfrm>
          <a:prstGeom prst="rect">
            <a:avLst/>
          </a:prstGeom>
          <a:noFill/>
        </p:spPr>
        <p:txBody>
          <a:bodyPr wrap="square">
            <a:spAutoFit/>
          </a:bodyPr>
          <a:lstStyle/>
          <a:p>
            <a:pPr>
              <a:defRPr sz="1900" b="1">
                <a:solidFill>
                  <a:srgbClr val="1E3C72"/>
                </a:solidFill>
              </a:defRPr>
            </a:pPr>
            <a:r>
              <a:t>1. 颜回之学</a:t>
            </a:r>
          </a:p>
          <a:p>
            <a:pPr>
              <a:defRPr sz="1600">
                <a:solidFill>
                  <a:srgbClr val="333333"/>
                </a:solidFill>
              </a:defRPr>
            </a:pPr>
            <a:r>
              <a:t>颜回是孔子最得意的弟子，他的'好学'不是学得多，而是不迁怒、不贰过——这是人格的完善。</a:t>
            </a:r>
          </a:p>
        </p:txBody>
      </p:sp>
      <p:sp>
        <p:nvSpPr>
          <p:cNvPr id="6" name="TextBox 5"/>
          <p:cNvSpPr txBox="1"/>
          <p:nvPr/>
        </p:nvSpPr>
        <p:spPr>
          <a:xfrm>
            <a:off x="457200" y="4023360"/>
            <a:ext cx="8229600" cy="1097280"/>
          </a:xfrm>
          <a:prstGeom prst="rect">
            <a:avLst/>
          </a:prstGeom>
          <a:noFill/>
        </p:spPr>
        <p:txBody>
          <a:bodyPr wrap="square">
            <a:spAutoFit/>
          </a:bodyPr>
          <a:lstStyle/>
          <a:p>
            <a:pPr>
              <a:defRPr sz="1900" b="1">
                <a:solidFill>
                  <a:srgbClr val="1E3C72"/>
                </a:solidFill>
              </a:defRPr>
            </a:pPr>
            <a:r>
              <a:t>2. 不迁怒</a:t>
            </a:r>
          </a:p>
          <a:p>
            <a:pPr>
              <a:defRPr sz="1600">
                <a:solidFill>
                  <a:srgbClr val="333333"/>
                </a:solidFill>
              </a:defRPr>
            </a:pPr>
            <a:r>
              <a:t>遇到挫折不向他人发泄情绪——这是情绪管理的能力，是成熟人格的标志。</a:t>
            </a:r>
          </a:p>
        </p:txBody>
      </p:sp>
      <p:sp>
        <p:nvSpPr>
          <p:cNvPr id="7" name="TextBox 6"/>
          <p:cNvSpPr txBox="1"/>
          <p:nvPr/>
        </p:nvSpPr>
        <p:spPr>
          <a:xfrm>
            <a:off x="457200" y="5120640"/>
            <a:ext cx="8229600" cy="1097280"/>
          </a:xfrm>
          <a:prstGeom prst="rect">
            <a:avLst/>
          </a:prstGeom>
          <a:noFill/>
        </p:spPr>
        <p:txBody>
          <a:bodyPr wrap="square">
            <a:spAutoFit/>
          </a:bodyPr>
          <a:lstStyle/>
          <a:p>
            <a:pPr>
              <a:defRPr sz="1900" b="1">
                <a:solidFill>
                  <a:srgbClr val="1E3C72"/>
                </a:solidFill>
              </a:defRPr>
            </a:pPr>
            <a:r>
              <a:t>3. 不贰过</a:t>
            </a:r>
          </a:p>
          <a:p>
            <a:pPr>
              <a:defRPr sz="1600">
                <a:solidFill>
                  <a:srgbClr val="333333"/>
                </a:solidFill>
              </a:defRPr>
            </a:pPr>
            <a:r>
              <a:t>同样的错误不犯第二次——这是从失败中学习的能力，是成长的关键。</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4/14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17 - Xian Zai Hui Ye (贤哉回也)</a:t>
            </a:r>
          </a:p>
        </p:txBody>
      </p:sp>
      <p:sp>
        <p:nvSpPr>
          <p:cNvPr id="4" name="Rounded Rectangle 3"/>
          <p:cNvSpPr/>
          <p:nvPr/>
        </p:nvSpPr>
        <p:spPr>
          <a:xfrm>
            <a:off x="457200" y="1371600"/>
            <a:ext cx="8229600" cy="3474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[Original Text]</a:t>
            </a:r>
          </a:p>
          <a:p>
            <a:pPr>
              <a:spcBef>
                <a:spcPts val="400"/>
              </a:spcBef>
              <a:defRPr sz="2200">
                <a:solidFill>
                  <a:srgbClr val="333333"/>
                </a:solidFill>
              </a:defRPr>
            </a:pPr>
            <a:r>
              <a:t>Zi Yue: 'Xian Zai, Hui Ye!</a:t>
            </a:r>
          </a:p>
          <a:p>
            <a:pPr>
              <a:spcBef>
                <a:spcPts val="400"/>
              </a:spcBef>
              <a:defRPr sz="2200">
                <a:solidFill>
                  <a:srgbClr val="333333"/>
                </a:solidFill>
              </a:defRPr>
            </a:pPr>
            <a:r>
              <a:t>Yi Dan Shi, Yi Piao Yin,</a:t>
            </a:r>
          </a:p>
          <a:p>
            <a:pPr>
              <a:spcBef>
                <a:spcPts val="400"/>
              </a:spcBef>
              <a:defRPr sz="2200">
                <a:solidFill>
                  <a:srgbClr val="333333"/>
                </a:solidFill>
              </a:defRPr>
            </a:pPr>
            <a:r>
              <a:t>Zai Lou Xiang, Ren Bu Kan Qi You,</a:t>
            </a:r>
          </a:p>
          <a:p>
            <a:pPr>
              <a:spcBef>
                <a:spcPts val="400"/>
              </a:spcBef>
              <a:defRPr sz="2200">
                <a:solidFill>
                  <a:srgbClr val="333333"/>
                </a:solidFill>
              </a:defRPr>
            </a:pPr>
            <a:r>
              <a:t>Hui Ye Bu Gai Qi Le.</a:t>
            </a:r>
          </a:p>
          <a:p>
            <a:pPr>
              <a:spcBef>
                <a:spcPts val="400"/>
              </a:spcBef>
              <a:defRPr sz="2200">
                <a:solidFill>
                  <a:srgbClr val="333333"/>
                </a:solidFill>
              </a:defRPr>
            </a:pPr>
            <a:r>
              <a:t>Xian Zai, Hui Ye!'</a:t>
            </a:r>
          </a:p>
        </p:txBody>
      </p:sp>
      <p:sp>
        <p:nvSpPr>
          <p:cNvPr id="5" name="Rounded Rectangle 4"/>
          <p:cNvSpPr/>
          <p:nvPr/>
        </p:nvSpPr>
        <p:spPr>
          <a:xfrm>
            <a:off x="457200" y="4937760"/>
            <a:ext cx="8229600" cy="100584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defRPr>
            </a:pPr>
            <a:r>
              <a:t>[Translation] 孔子说：多么贤德啊，颜回！一竹筐饭，一瓢水，住在简陋的巷子里，别人都不能忍受那种忧愁，颜回却不改变他的快乐。多么贤德啊，颜回！</a:t>
            </a:r>
          </a:p>
          <a:p>
            <a:pPr>
              <a:defRPr sz="1500" i="1">
                <a:solidFill>
                  <a:srgbClr val="DCDCFF"/>
                </a:solidFill>
              </a:defRPr>
            </a:pPr>
            <a:r>
              <a:t>[EN] Confucius said: 'How worthy is Yan Hui! Living on a basket of food and a gourd of water in a mean alley - others would find such poverty unbearable, yet Yan Hui does not alter his joy. How worthy is Yan Hui!'</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5/14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17 - Xian Zai Hui Ye (贤哉回也) [Annotations]</a:t>
            </a:r>
          </a:p>
        </p:txBody>
      </p:sp>
      <p:sp>
        <p:nvSpPr>
          <p:cNvPr id="4" name="Rounded Rectangle 3"/>
          <p:cNvSpPr/>
          <p:nvPr/>
        </p:nvSpPr>
        <p:spPr>
          <a:xfrm>
            <a:off x="457200" y="1371600"/>
            <a:ext cx="8229600" cy="38404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[Annotations]</a:t>
            </a:r>
          </a:p>
          <a:p>
            <a:pPr>
              <a:spcBef>
                <a:spcPts val="500"/>
              </a:spcBef>
              <a:defRPr sz="1700">
                <a:solidFill>
                  <a:srgbClr val="333333"/>
                </a:solidFill>
              </a:defRPr>
            </a:pPr>
            <a:r>
              <a:t>* Dan Shi (箪食): Basket of food</a:t>
            </a:r>
          </a:p>
          <a:p>
            <a:pPr>
              <a:spcBef>
                <a:spcPts val="500"/>
              </a:spcBef>
              <a:defRPr sz="1700">
                <a:solidFill>
                  <a:srgbClr val="333333"/>
                </a:solidFill>
              </a:defRPr>
            </a:pPr>
            <a:r>
              <a:t>* Piao Yin (瓢饮): Gourd of water</a:t>
            </a:r>
          </a:p>
          <a:p>
            <a:pPr>
              <a:spcBef>
                <a:spcPts val="500"/>
              </a:spcBef>
              <a:defRPr sz="1700">
                <a:solidFill>
                  <a:srgbClr val="333333"/>
                </a:solidFill>
              </a:defRPr>
            </a:pPr>
            <a:r>
              <a:t>* Lou Xiang (陋巷): Simple alley</a:t>
            </a:r>
          </a:p>
          <a:p>
            <a:pPr>
              <a:spcBef>
                <a:spcPts val="500"/>
              </a:spcBef>
              <a:defRPr sz="1700">
                <a:solidFill>
                  <a:srgbClr val="333333"/>
                </a:solidFill>
              </a:defRPr>
            </a:pPr>
            <a:r>
              <a:t>* Bu Kan Qi You (不堪其忧): Cannot bear that worry</a:t>
            </a:r>
          </a:p>
          <a:p>
            <a:pPr>
              <a:spcBef>
                <a:spcPts val="500"/>
              </a:spcBef>
              <a:defRPr sz="1700">
                <a:solidFill>
                  <a:srgbClr val="333333"/>
                </a:solidFill>
              </a:defRPr>
            </a:pPr>
            <a:r>
              <a:t>* Bu Gai Qi Le (不改其乐): Does not change his joy - inner peace, not moved by external things</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6/14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17 - Core Ideas</a:t>
            </a:r>
          </a:p>
        </p:txBody>
      </p:sp>
      <p:sp>
        <p:nvSpPr>
          <p:cNvPr id="4" name="Rounded Rectangle 3"/>
          <p:cNvSpPr/>
          <p:nvPr/>
        </p:nvSpPr>
        <p:spPr>
          <a:xfrm>
            <a:off x="457200" y="1371600"/>
            <a:ext cx="8229600" cy="137160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Core Concept</a:t>
            </a:r>
          </a:p>
          <a:p>
            <a:pPr>
              <a:defRPr sz="1700">
                <a:solidFill>
                  <a:srgbClr val="E6E6E6"/>
                </a:solidFill>
              </a:defRPr>
            </a:pPr>
            <a:r>
              <a:t>不改其乐: Modern people always link happiness with material conditions, but Yan Hui'...</a:t>
            </a:r>
          </a:p>
        </p:txBody>
      </p:sp>
      <p:sp>
        <p:nvSpPr>
          <p:cNvPr id="5" name="TextBox 4"/>
          <p:cNvSpPr txBox="1"/>
          <p:nvPr/>
        </p:nvSpPr>
        <p:spPr>
          <a:xfrm>
            <a:off x="457200" y="2926080"/>
            <a:ext cx="8229600" cy="1097280"/>
          </a:xfrm>
          <a:prstGeom prst="rect">
            <a:avLst/>
          </a:prstGeom>
          <a:noFill/>
        </p:spPr>
        <p:txBody>
          <a:bodyPr wrap="square">
            <a:spAutoFit/>
          </a:bodyPr>
          <a:lstStyle/>
          <a:p>
            <a:pPr>
              <a:defRPr sz="1900" b="1">
                <a:solidFill>
                  <a:srgbClr val="1E3C72"/>
                </a:solidFill>
              </a:defRPr>
            </a:pPr>
            <a:r>
              <a:t>1. 颜回之贤</a:t>
            </a:r>
          </a:p>
          <a:p>
            <a:pPr>
              <a:defRPr sz="1600">
                <a:solidFill>
                  <a:srgbClr val="333333"/>
                </a:solidFill>
              </a:defRPr>
            </a:pPr>
            <a:r>
              <a:t>颜回的贤德体现在'不改其乐'——无论环境如何，内心始终保持快乐。</a:t>
            </a:r>
          </a:p>
        </p:txBody>
      </p:sp>
      <p:sp>
        <p:nvSpPr>
          <p:cNvPr id="6" name="TextBox 5"/>
          <p:cNvSpPr txBox="1"/>
          <p:nvPr/>
        </p:nvSpPr>
        <p:spPr>
          <a:xfrm>
            <a:off x="457200" y="4023360"/>
            <a:ext cx="8229600" cy="1097280"/>
          </a:xfrm>
          <a:prstGeom prst="rect">
            <a:avLst/>
          </a:prstGeom>
          <a:noFill/>
        </p:spPr>
        <p:txBody>
          <a:bodyPr wrap="square">
            <a:spAutoFit/>
          </a:bodyPr>
          <a:lstStyle/>
          <a:p>
            <a:pPr>
              <a:defRPr sz="1900" b="1">
                <a:solidFill>
                  <a:srgbClr val="1E3C72"/>
                </a:solidFill>
              </a:defRPr>
            </a:pPr>
            <a:r>
              <a:t>2. 安贫乐道</a:t>
            </a:r>
          </a:p>
          <a:p>
            <a:pPr>
              <a:defRPr sz="1600">
                <a:solidFill>
                  <a:srgbClr val="333333"/>
                </a:solidFill>
              </a:defRPr>
            </a:pPr>
            <a:r>
              <a:t>物质匮乏不能动摇精神追求——真正的高人不在物质，在精神。</a:t>
            </a:r>
          </a:p>
        </p:txBody>
      </p:sp>
      <p:sp>
        <p:nvSpPr>
          <p:cNvPr id="7" name="TextBox 6"/>
          <p:cNvSpPr txBox="1"/>
          <p:nvPr/>
        </p:nvSpPr>
        <p:spPr>
          <a:xfrm>
            <a:off x="457200" y="5120640"/>
            <a:ext cx="8229600" cy="1097280"/>
          </a:xfrm>
          <a:prstGeom prst="rect">
            <a:avLst/>
          </a:prstGeom>
          <a:noFill/>
        </p:spPr>
        <p:txBody>
          <a:bodyPr wrap="square">
            <a:spAutoFit/>
          </a:bodyPr>
          <a:lstStyle/>
          <a:p>
            <a:pPr>
              <a:defRPr sz="1900" b="1">
                <a:solidFill>
                  <a:srgbClr val="1E3C72"/>
                </a:solidFill>
              </a:defRPr>
            </a:pPr>
            <a:r>
              <a:t>3. 人不堪其忧</a:t>
            </a:r>
          </a:p>
          <a:p>
            <a:pPr>
              <a:defRPr sz="1600">
                <a:solidFill>
                  <a:srgbClr val="333333"/>
                </a:solidFill>
              </a:defRPr>
            </a:pPr>
            <a:r>
              <a:t>普通人受不了这种贫困，颜回却乐在其中——境界不同，感受不同。</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7/14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18 - Ran Bo Niu You Ji (冉伯牛有疾)</a:t>
            </a:r>
          </a:p>
        </p:txBody>
      </p:sp>
      <p:sp>
        <p:nvSpPr>
          <p:cNvPr id="4" name="Rounded Rectangle 3"/>
          <p:cNvSpPr/>
          <p:nvPr/>
        </p:nvSpPr>
        <p:spPr>
          <a:xfrm>
            <a:off x="457200" y="1371600"/>
            <a:ext cx="8229600" cy="3474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[Original Text]</a:t>
            </a:r>
          </a:p>
          <a:p>
            <a:pPr>
              <a:spcBef>
                <a:spcPts val="400"/>
              </a:spcBef>
              <a:defRPr sz="2200">
                <a:solidFill>
                  <a:srgbClr val="333333"/>
                </a:solidFill>
              </a:defRPr>
            </a:pPr>
            <a:r>
              <a:t>Bo Niu You Ji, Zi Wen Zhi,</a:t>
            </a:r>
          </a:p>
          <a:p>
            <a:pPr>
              <a:spcBef>
                <a:spcPts val="400"/>
              </a:spcBef>
              <a:defRPr sz="2200">
                <a:solidFill>
                  <a:srgbClr val="333333"/>
                </a:solidFill>
              </a:defRPr>
            </a:pPr>
            <a:r>
              <a:t>Zi Yong Chuan Qi Shou, Yue:</a:t>
            </a:r>
          </a:p>
          <a:p>
            <a:pPr>
              <a:spcBef>
                <a:spcPts val="400"/>
              </a:spcBef>
              <a:defRPr sz="2200">
                <a:solidFill>
                  <a:srgbClr val="333333"/>
                </a:solidFill>
              </a:defRPr>
            </a:pPr>
            <a:r>
              <a:t>'Wang Zhi, Ming Yi Fu!</a:t>
            </a:r>
          </a:p>
          <a:p>
            <a:pPr>
              <a:spcBef>
                <a:spcPts val="400"/>
              </a:spcBef>
              <a:defRPr sz="2200">
                <a:solidFill>
                  <a:srgbClr val="333333"/>
                </a:solidFill>
              </a:defRPr>
            </a:pPr>
            <a:r>
              <a:t>Si Ren Ye Er You Si Ji Ye!</a:t>
            </a:r>
          </a:p>
          <a:p>
            <a:pPr>
              <a:spcBef>
                <a:spcPts val="400"/>
              </a:spcBef>
              <a:defRPr sz="2200">
                <a:solidFill>
                  <a:srgbClr val="333333"/>
                </a:solidFill>
              </a:defRPr>
            </a:pPr>
            <a:r>
              <a:t>Si Ren Ye Er You Si Ji Ye!'</a:t>
            </a:r>
          </a:p>
        </p:txBody>
      </p:sp>
      <p:sp>
        <p:nvSpPr>
          <p:cNvPr id="5" name="Rounded Rectangle 4"/>
          <p:cNvSpPr/>
          <p:nvPr/>
        </p:nvSpPr>
        <p:spPr>
          <a:xfrm>
            <a:off x="457200" y="4937760"/>
            <a:ext cx="8229600" cy="100584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FFFFFF"/>
                </a:solidFill>
              </a:defRPr>
            </a:pPr>
            <a:r>
              <a:t>[Translation] 冉伯牛得了恶疾，孔子去探望他，从窗户握着他的手，说：要失去了，这是命啊！这样的人却得了这样的病！这样的人却得了这样的病！</a:t>
            </a:r>
          </a:p>
          <a:p>
            <a:pPr>
              <a:defRPr sz="1500" i="1">
                <a:solidFill>
                  <a:srgbClr val="DCDCFF"/>
                </a:solidFill>
              </a:defRPr>
            </a:pPr>
            <a:r>
              <a:t>[EN] Ran Boniu fell ill. Confucius visited him, holding his hand through the window, saying: 'Losing him - is this not fate? Such a person, yet such an illness! Such a person, yet such an illness!'</a:t>
            </a:r>
          </a:p>
        </p:txBody>
      </p:sp>
      <p:sp>
        <p:nvSpPr>
          <p:cNvPr id="6" name="TextBox 5"/>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8/14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18 - Ran Bo Niu You Ji (冉伯牛有疾) [Annotations]</a:t>
            </a:r>
          </a:p>
        </p:txBody>
      </p:sp>
      <p:sp>
        <p:nvSpPr>
          <p:cNvPr id="4" name="Rounded Rectangle 3"/>
          <p:cNvSpPr/>
          <p:nvPr/>
        </p:nvSpPr>
        <p:spPr>
          <a:xfrm>
            <a:off x="457200" y="1371600"/>
            <a:ext cx="8229600" cy="38404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[Annotations]</a:t>
            </a:r>
          </a:p>
          <a:p>
            <a:pPr>
              <a:spcBef>
                <a:spcPts val="500"/>
              </a:spcBef>
              <a:defRPr sz="1700">
                <a:solidFill>
                  <a:srgbClr val="333333"/>
                </a:solidFill>
              </a:defRPr>
            </a:pPr>
            <a:r>
              <a:t>* Bo Niu (伯牛): Ran Geng, courtesy name Boniu, disciple of Confucius</a:t>
            </a:r>
          </a:p>
          <a:p>
            <a:pPr>
              <a:spcBef>
                <a:spcPts val="500"/>
              </a:spcBef>
              <a:defRPr sz="1700">
                <a:solidFill>
                  <a:srgbClr val="333333"/>
                </a:solidFill>
              </a:defRPr>
            </a:pPr>
            <a:r>
              <a:t>* You Ji (有疾): Had a serious illness - possibly leprosy</a:t>
            </a:r>
          </a:p>
          <a:p>
            <a:pPr>
              <a:spcBef>
                <a:spcPts val="500"/>
              </a:spcBef>
              <a:defRPr sz="1700">
                <a:solidFill>
                  <a:srgbClr val="333333"/>
                </a:solidFill>
              </a:defRPr>
            </a:pPr>
            <a:r>
              <a:t>* Zi Yong (自牖): From the window - Boniu didn't want people entering the room</a:t>
            </a:r>
          </a:p>
          <a:p>
            <a:pPr>
              <a:spcBef>
                <a:spcPts val="500"/>
              </a:spcBef>
              <a:defRPr sz="1700">
                <a:solidFill>
                  <a:srgbClr val="333333"/>
                </a:solidFill>
              </a:defRPr>
            </a:pPr>
            <a:r>
              <a:t>* Wang Zhi (亡之): About to lose him</a:t>
            </a:r>
          </a:p>
          <a:p>
            <a:pPr>
              <a:spcBef>
                <a:spcPts val="500"/>
              </a:spcBef>
              <a:defRPr sz="1700">
                <a:solidFill>
                  <a:srgbClr val="333333"/>
                </a:solidFill>
              </a:defRPr>
            </a:pPr>
            <a:r>
              <a:t>* Ming Yi Fu (命矣夫): This is fate!</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9/14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Chapter 18 - Core Ideas</a:t>
            </a:r>
          </a:p>
        </p:txBody>
      </p:sp>
      <p:sp>
        <p:nvSpPr>
          <p:cNvPr id="4" name="Rounded Rectangle 3"/>
          <p:cNvSpPr/>
          <p:nvPr/>
        </p:nvSpPr>
        <p:spPr>
          <a:xfrm>
            <a:off x="457200" y="1371600"/>
            <a:ext cx="8229600" cy="1371600"/>
          </a:xfrm>
          <a:prstGeom prst="roundRect">
            <a:avLst/>
          </a:prstGeom>
          <a:solidFill>
            <a:srgbClr val="4682B4"/>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FFFFF"/>
                </a:solidFill>
              </a:defRPr>
            </a:pPr>
            <a:r>
              <a:t>Core Concept</a:t>
            </a:r>
          </a:p>
          <a:p>
            <a:pPr>
              <a:defRPr sz="1700">
                <a:solidFill>
                  <a:srgbClr val="E6E6E6"/>
                </a:solidFill>
              </a:defRPr>
            </a:pPr>
            <a:r>
              <a:t>亡之，命矣夫: Facing Ran Boniu's illness, Confucius said 'This is fate' - this is not ...</a:t>
            </a:r>
          </a:p>
        </p:txBody>
      </p:sp>
      <p:sp>
        <p:nvSpPr>
          <p:cNvPr id="5" name="TextBox 4"/>
          <p:cNvSpPr txBox="1"/>
          <p:nvPr/>
        </p:nvSpPr>
        <p:spPr>
          <a:xfrm>
            <a:off x="457200" y="2926080"/>
            <a:ext cx="8229600" cy="1097280"/>
          </a:xfrm>
          <a:prstGeom prst="rect">
            <a:avLst/>
          </a:prstGeom>
          <a:noFill/>
        </p:spPr>
        <p:txBody>
          <a:bodyPr wrap="square">
            <a:spAutoFit/>
          </a:bodyPr>
          <a:lstStyle/>
          <a:p>
            <a:pPr>
              <a:defRPr sz="1900" b="1">
                <a:solidFill>
                  <a:srgbClr val="1E3C72"/>
                </a:solidFill>
              </a:defRPr>
            </a:pPr>
            <a:r>
              <a:t>1. 师生情深</a:t>
            </a:r>
          </a:p>
          <a:p>
            <a:pPr>
              <a:defRPr sz="1600">
                <a:solidFill>
                  <a:srgbClr val="333333"/>
                </a:solidFill>
              </a:defRPr>
            </a:pPr>
            <a:r>
              <a:t>孔子对冉伯牛的病情深表痛惜——师生感情深厚，孔子不能进屋却仍坚持探望。</a:t>
            </a:r>
          </a:p>
        </p:txBody>
      </p:sp>
      <p:sp>
        <p:nvSpPr>
          <p:cNvPr id="6" name="TextBox 5"/>
          <p:cNvSpPr txBox="1"/>
          <p:nvPr/>
        </p:nvSpPr>
        <p:spPr>
          <a:xfrm>
            <a:off x="457200" y="4023360"/>
            <a:ext cx="8229600" cy="1097280"/>
          </a:xfrm>
          <a:prstGeom prst="rect">
            <a:avLst/>
          </a:prstGeom>
          <a:noFill/>
        </p:spPr>
        <p:txBody>
          <a:bodyPr wrap="square">
            <a:spAutoFit/>
          </a:bodyPr>
          <a:lstStyle/>
          <a:p>
            <a:pPr>
              <a:defRPr sz="1900" b="1">
                <a:solidFill>
                  <a:srgbClr val="1E3C72"/>
                </a:solidFill>
              </a:defRPr>
            </a:pPr>
            <a:r>
              <a:t>2. 命矣夫</a:t>
            </a:r>
          </a:p>
          <a:p>
            <a:pPr>
              <a:defRPr sz="1600">
                <a:solidFill>
                  <a:srgbClr val="333333"/>
                </a:solidFill>
              </a:defRPr>
            </a:pPr>
            <a:r>
              <a:t>孔子感叹'这是命啊'——面对无法改变的命运，孔子表现出无奈但不绝望的态度。</a:t>
            </a:r>
          </a:p>
        </p:txBody>
      </p:sp>
      <p:sp>
        <p:nvSpPr>
          <p:cNvPr id="7" name="TextBox 6"/>
          <p:cNvSpPr txBox="1"/>
          <p:nvPr/>
        </p:nvSpPr>
        <p:spPr>
          <a:xfrm>
            <a:off x="457200" y="5120640"/>
            <a:ext cx="8229600" cy="1097280"/>
          </a:xfrm>
          <a:prstGeom prst="rect">
            <a:avLst/>
          </a:prstGeom>
          <a:noFill/>
        </p:spPr>
        <p:txBody>
          <a:bodyPr wrap="square">
            <a:spAutoFit/>
          </a:bodyPr>
          <a:lstStyle/>
          <a:p>
            <a:pPr>
              <a:defRPr sz="1900" b="1">
                <a:solidFill>
                  <a:srgbClr val="1E3C72"/>
                </a:solidFill>
              </a:defRPr>
            </a:pPr>
            <a:r>
              <a:t>3. 斯人有斯疾</a:t>
            </a:r>
          </a:p>
          <a:p>
            <a:pPr>
              <a:defRPr sz="1600">
                <a:solidFill>
                  <a:srgbClr val="333333"/>
                </a:solidFill>
              </a:defRPr>
            </a:pPr>
            <a:r>
              <a:t>这么好的人却得了这样的病——孔子对命运的不公发出感叹，但接受而不抱怨。</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10/14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Western Thought Comparison</a:t>
            </a:r>
          </a:p>
        </p:txBody>
      </p:sp>
      <p:sp>
        <p:nvSpPr>
          <p:cNvPr id="4" name="Rounded Rectangle 3"/>
          <p:cNvSpPr/>
          <p:nvPr/>
        </p:nvSpPr>
        <p:spPr>
          <a:xfrm>
            <a:off x="457200" y="1371600"/>
            <a:ext cx="8229600" cy="10972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E3C72"/>
                </a:solidFill>
              </a:defRPr>
            </a:pPr>
            <a:r>
              <a:t>Aristotle: Ethical Virtue</a:t>
            </a:r>
          </a:p>
          <a:p>
            <a:pPr>
              <a:defRPr sz="1500">
                <a:solidFill>
                  <a:srgbClr val="333333"/>
                </a:solidFill>
              </a:defRPr>
            </a:pPr>
            <a:r>
              <a:t>Virtue is expressing emotions at the right time, to the right people, in the right way. Anger should be expressed when it should be, and not exceeding necessary limits. c. 340 BCE</a:t>
            </a:r>
          </a:p>
        </p:txBody>
      </p:sp>
      <p:sp>
        <p:nvSpPr>
          <p:cNvPr id="5" name="Rounded Rectangle 4"/>
          <p:cNvSpPr/>
          <p:nvPr/>
        </p:nvSpPr>
        <p:spPr>
          <a:xfrm>
            <a:off x="457200" y="2560320"/>
            <a:ext cx="8229600" cy="10972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E3C72"/>
                </a:solidFill>
              </a:defRPr>
            </a:pPr>
            <a:r>
              <a:t>Seligman: Positive Psychology</a:t>
            </a:r>
          </a:p>
          <a:p>
            <a:pPr>
              <a:defRPr sz="1500">
                <a:solidFill>
                  <a:srgbClr val="333333"/>
                </a:solidFill>
              </a:defRPr>
            </a:pPr>
            <a:r>
              <a:t>Learn explanatory style - attribute failures to temporary, specific causes rather than permanent, universal ones. 2002</a:t>
            </a:r>
          </a:p>
        </p:txBody>
      </p:sp>
      <p:sp>
        <p:nvSpPr>
          <p:cNvPr id="6" name="Rounded Rectangle 5"/>
          <p:cNvSpPr/>
          <p:nvPr/>
        </p:nvSpPr>
        <p:spPr>
          <a:xfrm>
            <a:off x="457200" y="3749039"/>
            <a:ext cx="8229600" cy="10972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E3C72"/>
                </a:solidFill>
              </a:defRPr>
            </a:pPr>
            <a:r>
              <a:t>Markus: Possible Selves</a:t>
            </a:r>
          </a:p>
          <a:p>
            <a:pPr>
              <a:defRPr sz="1500">
                <a:solidFill>
                  <a:srgbClr val="333333"/>
                </a:solidFill>
              </a:defRPr>
            </a:pPr>
            <a:r>
              <a:t>Our self-concept determines how we respond to failure - growth mindset rather than fixed mindset. 1990s</a:t>
            </a:r>
          </a:p>
        </p:txBody>
      </p:sp>
      <p:sp>
        <p:nvSpPr>
          <p:cNvPr id="7" name="Rounded Rectangle 6"/>
          <p:cNvSpPr/>
          <p:nvPr/>
        </p:nvSpPr>
        <p:spPr>
          <a:xfrm>
            <a:off x="457200" y="4937759"/>
            <a:ext cx="8229600" cy="109728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E3C72"/>
                </a:solidFill>
              </a:defRPr>
            </a:pPr>
            <a:r>
              <a:t>Dalio: Pain Plus Reflection Equals Progress</a:t>
            </a:r>
          </a:p>
          <a:p>
            <a:pPr>
              <a:defRPr sz="1500">
                <a:solidFill>
                  <a:srgbClr val="333333"/>
                </a:solidFill>
              </a:defRPr>
            </a:pPr>
            <a:r>
              <a:t>Pain is a signal telling you need to change; reflection is the key to learning from pain. 2017</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11/14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Modern Application</a:t>
            </a:r>
          </a:p>
        </p:txBody>
      </p:sp>
      <p:sp>
        <p:nvSpPr>
          <p:cNvPr id="4" name="Rounded Rectangle 3"/>
          <p:cNvSpPr/>
          <p:nvPr/>
        </p:nvSpPr>
        <p:spPr>
          <a:xfrm>
            <a:off x="457200" y="1371600"/>
            <a:ext cx="8229600" cy="1188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1. 颜回之学</a:t>
            </a:r>
          </a:p>
          <a:p>
            <a:pPr>
              <a:defRPr sz="1500">
                <a:solidFill>
                  <a:srgbClr val="333333"/>
                </a:solidFill>
              </a:defRPr>
            </a:pPr>
            <a:r>
              <a:t>颜回是孔子最得意的弟子，他的'好学'不是学得多，而是不迁怒、不贰过——这是人格的完善。</a:t>
            </a:r>
          </a:p>
        </p:txBody>
      </p:sp>
      <p:sp>
        <p:nvSpPr>
          <p:cNvPr id="5" name="Rounded Rectangle 4"/>
          <p:cNvSpPr/>
          <p:nvPr/>
        </p:nvSpPr>
        <p:spPr>
          <a:xfrm>
            <a:off x="457200" y="2651760"/>
            <a:ext cx="8229600" cy="1188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2. 安贫乐道</a:t>
            </a:r>
          </a:p>
          <a:p>
            <a:pPr>
              <a:defRPr sz="1500">
                <a:solidFill>
                  <a:srgbClr val="333333"/>
                </a:solidFill>
              </a:defRPr>
            </a:pPr>
            <a:r>
              <a:t>物质匮乏不能动摇精神追求——真正的高人不在物质，在精神。</a:t>
            </a:r>
          </a:p>
        </p:txBody>
      </p:sp>
      <p:sp>
        <p:nvSpPr>
          <p:cNvPr id="6" name="Rounded Rectangle 5"/>
          <p:cNvSpPr/>
          <p:nvPr/>
        </p:nvSpPr>
        <p:spPr>
          <a:xfrm>
            <a:off x="457200" y="3931920"/>
            <a:ext cx="8229600" cy="118872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3. 斯人有斯疾</a:t>
            </a:r>
          </a:p>
          <a:p>
            <a:pPr>
              <a:defRPr sz="1500">
                <a:solidFill>
                  <a:srgbClr val="333333"/>
                </a:solidFill>
              </a:defRPr>
            </a:pPr>
            <a:r>
              <a:t>这么好的人却得了这样的病——孔子对命运的不公发出感叹，但接受而不抱怨。</a:t>
            </a:r>
          </a:p>
        </p:txBody>
      </p:sp>
      <p:sp>
        <p:nvSpPr>
          <p:cNvPr id="7" name="TextBox 6"/>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12/14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Historical Background</a:t>
            </a:r>
          </a:p>
        </p:txBody>
      </p:sp>
      <p:sp>
        <p:nvSpPr>
          <p:cNvPr id="4" name="Rounded Rectangle 3"/>
          <p:cNvSpPr/>
          <p:nvPr/>
        </p:nvSpPr>
        <p:spPr>
          <a:xfrm>
            <a:off x="457200" y="1371600"/>
            <a:ext cx="8229600" cy="228600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Bu Qian Nu Bu Er Guo (不迁怒不贰过) - Background</a:t>
            </a:r>
          </a:p>
          <a:p>
            <a:pPr>
              <a:spcBef>
                <a:spcPts val="800"/>
              </a:spcBef>
              <a:defRPr sz="1500">
                <a:solidFill>
                  <a:srgbClr val="333333"/>
                </a:solidFill>
              </a:defRPr>
            </a:pPr>
            <a:r>
              <a:t>Yan Hui (521-490 BCE), courtesy name Ziyan, was Confucius's most favored disciple, honored as 'Fu Sheng' (the Second Saint). Though he died early, his learning attitude and personal cultivation became a model for later generations. 'Bu Qian Nu, Bu Er Guo' seems simple but is extremely difficult to practice - many people spend their whole lives repeating the same mistakes, never truly reflecting.</a:t>
            </a:r>
          </a:p>
        </p:txBody>
      </p:sp>
      <p:sp>
        <p:nvSpPr>
          <p:cNvPr id="5" name="TextBox 4"/>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13/14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1188720"/>
          </a:xfrm>
          <a:prstGeom prst="rect">
            <a:avLst/>
          </a:prstGeom>
          <a:solidFill>
            <a:srgbClr val="1E3C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
            <a:ext cx="8229600" cy="731520"/>
          </a:xfrm>
          <a:prstGeom prst="rect">
            <a:avLst/>
          </a:prstGeom>
          <a:noFill/>
        </p:spPr>
        <p:txBody>
          <a:bodyPr wrap="none">
            <a:spAutoFit/>
          </a:bodyPr>
          <a:lstStyle/>
          <a:p>
            <a:pPr>
              <a:defRPr sz="3400" b="1">
                <a:solidFill>
                  <a:srgbClr val="FFFFFF"/>
                </a:solidFill>
              </a:defRPr>
            </a:pPr>
            <a:r>
              <a:t>Day 6 - Summary</a:t>
            </a:r>
          </a:p>
        </p:txBody>
      </p:sp>
      <p:sp>
        <p:nvSpPr>
          <p:cNvPr id="4" name="Rounded Rectangle 3"/>
          <p:cNvSpPr/>
          <p:nvPr/>
        </p:nvSpPr>
        <p:spPr>
          <a:xfrm>
            <a:off x="457200" y="1371600"/>
            <a:ext cx="8229600" cy="12801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Chapter 16: Bu Qian Nu Bu Er Guo (不迁怒不贰过)</a:t>
            </a:r>
          </a:p>
          <a:p>
            <a:pPr>
              <a:defRPr sz="1400">
                <a:solidFill>
                  <a:srgbClr val="333333"/>
                </a:solidFill>
              </a:defRPr>
            </a:pPr>
            <a:r>
              <a:t>颜回是孔子最得意的弟子，他的'好学'不是学得多，而是不迁怒、不贰过——这是人格的完善。</a:t>
            </a:r>
          </a:p>
        </p:txBody>
      </p:sp>
      <p:sp>
        <p:nvSpPr>
          <p:cNvPr id="5" name="Rounded Rectangle 4"/>
          <p:cNvSpPr/>
          <p:nvPr/>
        </p:nvSpPr>
        <p:spPr>
          <a:xfrm>
            <a:off x="457200" y="2743200"/>
            <a:ext cx="8229600" cy="12801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Chapter 17: Xian Zai Hui Ye (贤哉回也)</a:t>
            </a:r>
          </a:p>
          <a:p>
            <a:pPr>
              <a:defRPr sz="1400">
                <a:solidFill>
                  <a:srgbClr val="333333"/>
                </a:solidFill>
              </a:defRPr>
            </a:pPr>
            <a:r>
              <a:t>颜回的贤德体现在'不改其乐'——无论环境如何，内心始终保持快乐。</a:t>
            </a:r>
          </a:p>
        </p:txBody>
      </p:sp>
      <p:sp>
        <p:nvSpPr>
          <p:cNvPr id="6" name="Rounded Rectangle 5"/>
          <p:cNvSpPr/>
          <p:nvPr/>
        </p:nvSpPr>
        <p:spPr>
          <a:xfrm>
            <a:off x="457200" y="4114800"/>
            <a:ext cx="8229600" cy="1280160"/>
          </a:xfrm>
          <a:prstGeom prst="roundRect">
            <a:avLst/>
          </a:prstGeom>
          <a:solidFill>
            <a:srgbClr val="F5F5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1E3C72"/>
                </a:solidFill>
              </a:defRPr>
            </a:pPr>
            <a:r>
              <a:t>Chapter 18: Ran Bo Niu You Ji (冉伯牛有疾)</a:t>
            </a:r>
          </a:p>
          <a:p>
            <a:pPr>
              <a:defRPr sz="1400">
                <a:solidFill>
                  <a:srgbClr val="333333"/>
                </a:solidFill>
              </a:defRPr>
            </a:pPr>
            <a:r>
              <a:t>孔子对冉伯牛的病情深表痛惜——师生感情深厚，孔子不能进屋却仍坚持探望。</a:t>
            </a:r>
          </a:p>
        </p:txBody>
      </p:sp>
      <p:sp>
        <p:nvSpPr>
          <p:cNvPr id="7" name="Rounded Rectangle 6"/>
          <p:cNvSpPr/>
          <p:nvPr/>
        </p:nvSpPr>
        <p:spPr>
          <a:xfrm>
            <a:off x="457200" y="5577840"/>
            <a:ext cx="8229600" cy="914400"/>
          </a:xfrm>
          <a:prstGeom prst="roundRect">
            <a:avLst/>
          </a:prstGeom>
          <a:solidFill>
            <a:srgbClr val="1E3C72"/>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200" b="1">
                <a:solidFill>
                  <a:srgbClr val="FFFFFF"/>
                </a:solidFill>
              </a:defRPr>
            </a:pPr>
            <a:r>
              <a:t>Ai Gong Wen: 'Di Zi Shu Wei Hao Xue?'</a:t>
            </a:r>
          </a:p>
        </p:txBody>
      </p:sp>
      <p:sp>
        <p:nvSpPr>
          <p:cNvPr id="8" name="TextBox 7"/>
          <p:cNvSpPr txBox="1"/>
          <p:nvPr/>
        </p:nvSpPr>
        <p:spPr>
          <a:xfrm>
            <a:off x="8229600" y="6583680"/>
            <a:ext cx="731520" cy="274320"/>
          </a:xfrm>
          <a:prstGeom prst="rect">
            <a:avLst/>
          </a:prstGeom>
          <a:noFill/>
        </p:spPr>
        <p:txBody>
          <a:bodyPr wrap="none">
            <a:spAutoFit/>
          </a:bodyPr>
          <a:lstStyle/>
          <a:p>
            <a:pPr algn="r">
              <a:defRPr sz="1200">
                <a:solidFill>
                  <a:srgbClr val="969696"/>
                </a:solidFill>
              </a:defRPr>
            </a:pPr>
            <a:r>
              <a:t>14/14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