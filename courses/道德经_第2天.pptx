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国学经典24章 · 第二课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3C72"/>
                </a:solidFill>
              </a:defRPr>
            </a:pPr>
            <a:r>
              <a:t>《道德经》第4-6章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养身之道 · 天地之鉴 · 虚无之用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i="1">
                <a:solidFill>
                  <a:srgbClr val="1E3C72"/>
                </a:solidFill>
              </a:defRPr>
            </a:pPr>
            <a:r>
              <a:t>天地不仁，以万物为刍狗。</a:t>
            </a:r>
          </a:p>
          <a:p>
            <a:pPr algn="ctr">
              <a:defRPr sz="1400">
                <a:solidFill>
                  <a:srgbClr val="969696"/>
                </a:solidFill>
              </a:defRPr>
            </a:pPr>
            <a:r>
              <a:t>—— 《道德经》第五章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第四章 · 养身之道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6459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600"/>
              </a:spcBef>
              <a:defRPr sz="2200">
                <a:solidFill>
                  <a:srgbClr val="333333"/>
                </a:solidFill>
              </a:defRPr>
            </a:pPr>
            <a:r>
              <a:t>道冲而用之或不盈，渊兮似万物之宗。</a:t>
            </a:r>
          </a:p>
          <a:p>
            <a:pPr>
              <a:spcBef>
                <a:spcPts val="600"/>
              </a:spcBef>
              <a:defRPr sz="2200">
                <a:solidFill>
                  <a:srgbClr val="333333"/>
                </a:solidFill>
              </a:defRPr>
            </a:pPr>
            <a:r>
              <a:t>挫其锐，解其纷，和其光，同其尘。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道冲而不盈：'道'是虚空的，却用之不竭——像深渊一样深邃，是万物的本源。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挫锐解纷：收敛锋芒，解决纷争——不露锋芒，才能避免冲突。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和光同尘：混合光彩，混同尘埃——与世无争，随俗而不染。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• 核心：谦下：保持虚空谦下，不自满，不显露，自然而然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第四章 · 生活智慧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核心智慧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真正有修养的人，不显山露水，不锋芒毕露，而是谦下包容，与光同尘。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1. 职场启示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有才能不炫耀，反而更受尊重。锋芒毕露容易招致嫉妒，谦下守柔才能长久。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2. 处世哲学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与人相处不争是非，不显自己高明，反而能化解矛盾，赢得人心。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3. 自我修养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内心保持虚空，像空杯一样，才能不断学习进步，自满则止步。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第五章 · 天地之鉴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6459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天地不仁，以万物为刍狗；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圣人不仁，以百姓为刍狗。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天地不仁：天地没有偏爱，对万物一视同仁——不像人会有偏心私情。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刍狗之喻：刍狗是祭祀用的草狗，用时尊重，用完丢弃——天地对万物亦如此。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圣人不仁：圣人也像天地一样，没有偏爱，对百姓一视同仁。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核心：平等：真正的仁爱是不偏私的顺其自然，而非有差别的偏爱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典故：天地不仁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【自然法则】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太阳照耀大地，不会因为你是好人就多照一小时；雨水滋润万物，不会因为你是坏人就少下一滴雨。天地按照规律运行，没有私心，没有偏袒。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这正是老子所说的"天道无亲，常与善人"——天道没有偏亲，但永远帮助顺应规律的人。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⚡ 现代启示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与其祈求天保佑，不如顺应天道，自己掌握命运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【处世智慧】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不怨天尤人：事情成败有自身原因，也有客观规律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顺应时势：看清大势所趋，不逆势而行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公平待人：对人对事一视同仁，不因私废公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🌍 西方思想对照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🇬🇷 斯多葛学派 · "自然法" · 约前300年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宇宙有内在规律，人应顺应理性与自然法则生活，而非被情感左右。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1460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🇬🇧 休谟 · "情感主义" · 1751年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理性是情感的奴隶，人类的道德来自同情心，而非冷酷的理性计算。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🇩🇪 康德 · "绝对命令" · 1785年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道德法则应普遍适用——你的行为准则能否成为所有人的准则？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983479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🇫🇷 卢梭 · "自然状态" · 1754年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人类本性善良，是社会腐化了人，应回归自然、顺应人性。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第六章 · 虚无之用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谷神不死，是谓玄牝。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玄牝之门，是谓天地根。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谷神不死：'谷'象征虚空，'神'象征变化——虚空的变化永不停歇，生生不息。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玄牝之门：'玄牝'是微妙的母性——这是天地产生的根源所在。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虚空的力量：正因为虚空，才能容纳万物；正因为无用，才能无所不用。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核心：守虚：保持内心虚空，像山谷一样，才能获得无限的生命力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养生智慧：心斋坐忘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【庄子·人间世】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颜回问孔子如何"心斋"，孔子答曰："若一志，无听之以耳而听之以心，无听之以心而听之以气。听止于耳，心止于符。虚而待物，唯道集虚。"——排除杂念，让心如虚空，才能与道合一。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【现代养生启示】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✓ 静坐冥想：每天静心片刻，放空杂念，让身心回归虚空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✓ 减少欲望：欲海难填，知足常乐，减少物欲累赘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✓ 顺应作息：日出而作，日落而息，与自然节奏同步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✓ 形神兼养：不只是锻炼身体，更要涵养精神心态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生活中的智慧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🏢 团队管理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领导者的"虚空"——不放狂言，不自以为高明</a:t>
            </a:r>
            <a:br/>
            <a:r>
              <a:t>倾听下属建议，让团队发挥创造力</a:t>
            </a:r>
            <a:br/>
            <a:r>
              <a:t>案例：张良"运筹帷幄"而不亲临战场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39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🧘 心态修养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遇到挫折时保持虚空心态</a:t>
            </a:r>
            <a:br/>
            <a:r>
              <a:t>不被情绪填满，才能看清出路</a:t>
            </a:r>
            <a:br/>
            <a:r>
              <a:t>像山谷一样，空才能容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💼 商业智慧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最成功的商业是"无形"的——如平台、生态</a:t>
            </a:r>
            <a:br/>
            <a:r>
              <a:t>不直接干预，而是创造环境</a:t>
            </a:r>
            <a:br/>
            <a:r>
              <a:t>案例：微信"连接一切"而非"控制一切"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25780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👨‍👩‍👧 家庭教育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不把自己的期望强加给孩子</a:t>
            </a:r>
            <a:br/>
            <a:r>
              <a:t>给他们空间，让他们按自己的方式成长</a:t>
            </a:r>
            <a:br/>
            <a:r>
              <a:t>父母的"虚空"是给孩子最好的礼物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💎 精华提炼 · 第二课总结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8229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第四章·养身之道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挫锐解纷，和光同尘——收敛锋芒，谦下包容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0280"/>
            <a:ext cx="8229600" cy="8229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第五章·天地之鉴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天地不仁，公平无偏——顺应规律，不怨不尤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第六章·虚无之用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谷神不死，玄牝之门——保持虚空，生生不息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8229600" cy="13716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一句话总结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上善若水，虚怀若谷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最高的善就像水一样，谦下包容；最深的修养是内心如山谷般虚空。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