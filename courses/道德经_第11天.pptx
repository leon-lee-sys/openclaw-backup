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国学经典24章 · 第十一课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《道德经》第34-36章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大道泛兮 · 执大象 · 将欲取之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206240"/>
            <a:ext cx="27432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28282"/>
                </a:solidFill>
              </a:defRPr>
            </a:pPr>
            <a:r>
              <a:t>2026年4月18日 · 第11天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小燕子出品 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第三十四章 · 大道泛兮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1463040"/>
          </a:xfrm>
          <a:prstGeom prst="roundRect">
            <a:avLst/>
          </a:prstGeom>
          <a:solidFill>
            <a:srgbClr val="F0F5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3232"/>
                </a:solidFill>
              </a:defRPr>
            </a:pPr>
            <a:r>
              <a:t>【原文】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大道泛兮，其可左右。万物恃之而生而不辞，功成不名有。衣养万物而不为主，常无欲，可名于小。万物归焉而不为主，可名为大。以其终不自为大，故能成其大。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【白话解读】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大道泛兮，其可左右：道广泛流行，无所不在，如同水一样流淌万物之中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万物恃之而生而不辞：万物依靠道生存，道从不推辞，从不夸耀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功成不名有：成就了功业却不居功、不占有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衣养万物而不为主：养育万物却不做主人，没有控制欲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常无欲，可名于小：永远没有私欲，看似渺小却最伟大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以其终不自为大，故能成其大：正因为始终不自以为大，所以能成就其伟大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第三十四章 · 生活智慧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82296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核心智慧：无为之德 — 成就万物而不居功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8412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• 成就他人，不居功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真正的领导力是成就团队成员，让他们感受到是自己的功劳，而非你在控制。道的特点是'衣养万物而不为主'——真正的强者成就万物但不占为己有。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46120"/>
            <a:ext cx="8412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• 放下控制欲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85031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越想控制，越会失去。管理者若总想牢牢把控权力，反而会让团队失去活力。道'常无欲'，所以能成其大。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297679"/>
            <a:ext cx="8412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370831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• 谦卑处下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365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自以为大者，反而难成大事。那些功成名就却谦逊的人，正是'终不自为大，故能成其大'的践行者。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349240"/>
            <a:ext cx="8412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22392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• 顺势而为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881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道在万物之中，不强为、不硬推。做事顺应规律，如同水流自然，无需刻意用力。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第三十五章 · 执大象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1280160"/>
          </a:xfrm>
          <a:prstGeom prst="roundRect">
            <a:avLst/>
          </a:prstGeom>
          <a:solidFill>
            <a:srgbClr val="F0F5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3232"/>
                </a:solidFill>
              </a:defRPr>
            </a:pPr>
            <a:r>
              <a:t>【原文】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执大象，天下往。往而不害，安平泰。乐与饵，过客止。道之出口，淡乎其无味，视之不足见，听之不足闻，用之不足既。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【白话解读】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执大象，天下往：掌握了大道，天下人都来归附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往而不害，安平泰：归附而不相互伤害，大家都安宁平和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乐与饵，过客止：美妙的音乐和美食，会让过客停下脚步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道之出口，淡乎其无味：但道说起来，却淡得没有味道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视之不足见，听之不足闻：看它看不见，听它听不到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用之不足既：用它却用不完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第三十五章 · 典故与启示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4023360" cy="2560320"/>
          </a:xfrm>
          <a:prstGeom prst="roundRect">
            <a:avLst/>
          </a:prstGeom>
          <a:solidFill>
            <a:srgbClr val="F5F0FA"/>
          </a:solidFill>
          <a:ln>
            <a:solidFill>
              <a:srgbClr val="96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43296"/>
                </a:solidFill>
              </a:defRPr>
            </a:pPr>
            <a:r>
              <a:t>📜 典故</a:t>
            </a:r>
          </a:p>
          <a:p>
            <a:br/>
            <a:pPr>
              <a:defRPr sz="1200" b="1">
                <a:solidFill>
                  <a:srgbClr val="505050"/>
                </a:solidFill>
              </a:defRPr>
            </a:pPr>
            <a:r>
              <a:t>【孔子的感叹】</a:t>
            </a:r>
          </a:p>
          <a:p>
            <a:br/>
            <a:pPr>
              <a:defRPr sz="1100">
                <a:solidFill>
                  <a:srgbClr val="646464"/>
                </a:solidFill>
              </a:defRPr>
            </a:pPr>
            <a:r>
              <a:t>孔子适周，问礼于老子。归来后感叹：</a:t>
            </a:r>
          </a:p>
          <a:p>
            <a:br/>
            <a:pPr>
              <a:defRPr sz="1200" i="1">
                <a:solidFill>
                  <a:srgbClr val="003366"/>
                </a:solidFill>
              </a:defRPr>
            </a:pPr>
            <a:r>
              <a:t>'吾所见老子，其犹龙乎？'</a:t>
            </a:r>
          </a:p>
          <a:p>
            <a:br/>
            <a:pPr>
              <a:defRPr sz="1100">
                <a:solidFill>
                  <a:srgbClr val="646464"/>
                </a:solidFill>
              </a:defRPr>
            </a:pPr>
            <a:r>
              <a:t>道之出口淡而无味，却用之不竭——真正的大道，从不张扬却影响深远。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02336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🌍 管理启示</a:t>
            </a:r>
          </a:p>
          <a:p>
            <a:br/>
            <a:pPr>
              <a:defRPr sz="1200">
                <a:solidFill>
                  <a:srgbClr val="3C3C3C"/>
                </a:solidFill>
              </a:defRPr>
            </a:pPr>
            <a:r>
              <a:t>• 执大象：抓住本质，不被表象迷惑</a:t>
            </a:r>
          </a:p>
          <a:p>
            <a:br/>
            <a:pPr>
              <a:defRPr sz="1200">
                <a:solidFill>
                  <a:srgbClr val="3C3C3C"/>
                </a:solidFill>
              </a:defRPr>
            </a:pPr>
            <a:r>
              <a:t>• 安平泰：利他才能安人，害人者必自害</a:t>
            </a:r>
          </a:p>
          <a:p>
            <a:br/>
            <a:pPr>
              <a:defRPr sz="1200">
                <a:solidFill>
                  <a:srgbClr val="3C3C3C"/>
                </a:solidFill>
              </a:defRPr>
            </a:pPr>
            <a:r>
              <a:t>• 淡乎无味：真正的管理是润物细无声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931920"/>
            <a:ext cx="8412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💡 现代启示</a:t>
            </a:r>
          </a:p>
          <a:p>
            <a:br/>
            <a:pPr>
              <a:defRPr sz="1100">
                <a:solidFill>
                  <a:srgbClr val="464646"/>
                </a:solidFill>
              </a:defRPr>
            </a:pPr>
            <a:r>
              <a:t>• 企业价值观：短期吸引靠产品，长期留住靠文化（'乐与饵，过客止'）</a:t>
            </a:r>
          </a:p>
          <a:p>
            <a:br/>
            <a:pPr>
              <a:defRPr sz="1100">
                <a:solidFill>
                  <a:srgbClr val="464646"/>
                </a:solidFill>
              </a:defRPr>
            </a:pPr>
            <a:r>
              <a:t>• 领导力真谛：真正的影响力不在于喊口号，而在于润物无声（'道之出口，淡乎其无味'）</a:t>
            </a:r>
          </a:p>
          <a:p>
            <a:br/>
            <a:pPr>
              <a:defRPr sz="1100">
                <a:solidFill>
                  <a:srgbClr val="464646"/>
                </a:solidFill>
              </a:defRPr>
            </a:pPr>
            <a:r>
              <a:t>• 品牌建设：追求的不是知名度，而是让人'用之不足既'的价值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第三十六章 · 将欲取之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1645920"/>
          </a:xfrm>
          <a:prstGeom prst="roundRect">
            <a:avLst/>
          </a:prstGeom>
          <a:solidFill>
            <a:srgbClr val="F0F5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3232"/>
                </a:solidFill>
              </a:defRPr>
            </a:pPr>
            <a:r>
              <a:t>【原文】</a:t>
            </a:r>
          </a:p>
          <a:p>
            <a:pPr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将欲取天下而为之，吾见其不得已。天下神器，不可为也。为者败之，执者失之。是以圣人无为，故无败；无执，故无失。物，或行或随，或呴或吹，或强或羸，或挫或隳。是以圣人去甚，去奢，去泰。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【白话解读】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将欲取天下而为之，吾见其不得已：想靠强力来治理天下，我看他达不到目的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天下神器，不可为也：天下是神圣的器物，不能靠强行作为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为者败之，执者失之：强行作为必然失败，紧紧把控必然失去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圣人无为，故无败；无执，故无失：圣人不妄为，所以不失败；不强执，所以不失去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</a:defRPr>
            </a:pPr>
            <a:r>
              <a:t>• 去甚，去奢，去泰：去掉极端、奢侈、过度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第三十六章 · 典故与生活智慧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4023360" cy="2377440"/>
          </a:xfrm>
          <a:prstGeom prst="roundRect">
            <a:avLst/>
          </a:prstGeom>
          <a:solidFill>
            <a:srgbClr val="F5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📜 历史典故</a:t>
            </a:r>
          </a:p>
          <a:p>
            <a:br/>
            <a:pPr>
              <a:defRPr sz="1200" b="1">
                <a:solidFill>
                  <a:srgbClr val="505050"/>
                </a:solidFill>
              </a:defRPr>
            </a:pPr>
            <a:r>
              <a:t>【秦朝灭亡的教训】</a:t>
            </a:r>
          </a:p>
          <a:p>
            <a:br/>
            <a:pPr>
              <a:defRPr sz="1100">
                <a:solidFill>
                  <a:srgbClr val="646464"/>
                </a:solidFill>
              </a:defRPr>
            </a:pPr>
            <a:r>
              <a:t>秦始皇统一六国后，实行严刑峻法、焚书坑儒，拼命想'执'住天下。结果二世而亡，正是'为者败之，执者失之'的典型例证。</a:t>
            </a:r>
          </a:p>
          <a:p>
            <a:br/>
            <a:pPr>
              <a:defRPr sz="1200" b="1">
                <a:solidFill>
                  <a:srgbClr val="505050"/>
                </a:solidFill>
              </a:defRPr>
            </a:pPr>
            <a:r>
              <a:t>【汉初的黄老之治】</a:t>
            </a:r>
          </a:p>
          <a:p>
            <a:br/>
            <a:pPr>
              <a:defRPr sz="1100">
                <a:solidFill>
                  <a:srgbClr val="646464"/>
                </a:solidFill>
              </a:defRPr>
            </a:pPr>
            <a:r>
              <a:t>汉高祖刘邦之后，文景二帝采用'无为而治'，轻徭薄赋，与民休息。成就了中国第一个盛世——'文景之治'。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023360" cy="2377440"/>
          </a:xfrm>
          <a:prstGeom prst="roundRect">
            <a:avLst/>
          </a:prstGeom>
          <a:solidFill>
            <a:srgbClr val="FFF8F0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3232"/>
                </a:solidFill>
              </a:defRPr>
            </a:pPr>
            <a:r>
              <a:t>🌟 生活智慧</a:t>
            </a:r>
          </a:p>
          <a:p>
            <a:br/>
            <a:pPr>
              <a:defRPr sz="1200">
                <a:solidFill>
                  <a:srgbClr val="505050"/>
                </a:solidFill>
              </a:defRPr>
            </a:pPr>
            <a:r>
              <a:t>• 不去甚：不做过头事，说话留余地</a:t>
            </a:r>
          </a:p>
          <a:p>
            <a:br/>
            <a:pPr>
              <a:defRPr sz="1200">
                <a:solidFill>
                  <a:srgbClr val="505050"/>
                </a:solidFill>
              </a:defRPr>
            </a:pPr>
            <a:r>
              <a:t>• 不去奢：生活简单，精神更富足</a:t>
            </a:r>
          </a:p>
          <a:p>
            <a:br/>
            <a:pPr>
              <a:defRPr sz="1200">
                <a:solidFill>
                  <a:srgbClr val="505050"/>
                </a:solidFill>
              </a:defRPr>
            </a:pPr>
            <a:r>
              <a:t>• 不去泰：得意时不张狂，失意时不颓废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49039"/>
            <a:ext cx="1828800" cy="2286000"/>
          </a:xfrm>
          <a:prstGeom prst="roundRect">
            <a:avLst/>
          </a:prstGeom>
          <a:solidFill>
            <a:srgbClr val="E6F5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4047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t>🧘 心态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79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去除极端心态</a:t>
            </a:r>
            <a:br/>
            <a:r>
              <a:t>保持平和中正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749039"/>
            <a:ext cx="1828800" cy="2286000"/>
          </a:xfrm>
          <a:prstGeom prst="roundRect">
            <a:avLst/>
          </a:prstGeom>
          <a:solidFill>
            <a:srgbClr val="E6EE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384047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t>💼 做事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297679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去除强取豪夺</a:t>
            </a:r>
            <a:br/>
            <a:r>
              <a:t>顺势而为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1828800" cy="2286000"/>
          </a:xfrm>
          <a:prstGeom prst="roundRect">
            <a:avLst/>
          </a:prstGeom>
          <a:solidFill>
            <a:srgbClr val="FA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84047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t>❤️ 交往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97679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去除占有欲</a:t>
            </a:r>
            <a:br/>
            <a:r>
              <a:t>给予而非索取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49039"/>
            <a:ext cx="1828800" cy="2286000"/>
          </a:xfrm>
          <a:prstGeom prst="roundRect">
            <a:avLst/>
          </a:prstGeom>
          <a:solidFill>
            <a:srgbClr val="FFF8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7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t>🎯 成长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去除急功近利</a:t>
            </a:r>
            <a:br/>
            <a:r>
              <a:t>脚踏实地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西方思想对照 · 四位思想家名言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8412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🇫🇷 伏尔泰 · 自然法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44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1750年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'顺应自然，方能获得自由。'——道法自然，欧洲启蒙思想的核心。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32888"/>
            <a:ext cx="8412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243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🇩🇪 黑格尔 · 辩证法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4261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1807年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'矛盾推动发展，对立统一。'——如同道家有无相生之理。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31335"/>
            <a:ext cx="8412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22775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🇺🇸 梭罗 · 瓦尔登湖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41063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1849年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34255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'简化生活，回归本真。'——与道家返璞归真不谋而合。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29783"/>
            <a:ext cx="8412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2122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🇬🇧 斯密 · 看不见的手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2395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1776年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32703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'市场自发秩序，比刻意调控更有效。'——无为而治的经济学表达。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生活中的智慧 · 四场景应用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09728" cy="1234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🧘 每日自省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每天留10分钟独处，问自己：今天有没有'去甚、去奢、去泰'？顺境时检视是否傲慢，逆境时检视是否怨天尤人。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8412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09728" cy="123444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50"/>
                </a:solidFill>
              </a:defRPr>
            </a:pPr>
            <a:r>
              <a:t>💼 团队管理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少用控制，多用成就。好的管理者是'衣养万物而不为主'——提供平台，让团队成员自己成长。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8412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96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09728" cy="1234440"/>
          </a:xfrm>
          <a:prstGeom prst="rect">
            <a:avLst/>
          </a:prstGeom>
          <a:solidFill>
            <a:srgbClr val="96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63232"/>
                </a:solidFill>
              </a:defRPr>
            </a:pPr>
            <a:r>
              <a:t>❤️ 家庭关系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家人之间，去除占有欲和控制欲。不是'执'住对方，而是支持对方成为更好的自己。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60"/>
            <a:ext cx="8412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6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166360"/>
            <a:ext cx="109728" cy="1234440"/>
          </a:xfrm>
          <a:prstGeom prst="rect">
            <a:avLst/>
          </a:prstGeom>
          <a:solidFill>
            <a:srgbClr val="6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6400"/>
                </a:solidFill>
              </a:defRPr>
            </a:pPr>
            <a:r>
              <a:t>🎯 个人成长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不急功近利，不追求'立竿见影'。真正的成长是'大道泛兮'——慢慢渗透，功到自然成。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精华提炼 · 第十一课总结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123444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37160" cy="1234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第三十四章 · 大道泛兮｜无为之德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成就万物而不居功，'以其终不自为大，故能成其大'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8412480" cy="1234440"/>
          </a:xfrm>
          <a:prstGeom prst="roundRect">
            <a:avLst/>
          </a:prstGeom>
          <a:solidFill>
            <a:srgbClr val="F8F8FF"/>
          </a:solidFill>
          <a:ln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37160" cy="123444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450"/>
                </a:solidFill>
              </a:defRPr>
            </a:pPr>
            <a:r>
              <a:t>第三十五章 · 执大象｜道法自然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掌握本质，润物无声，'道之出口，淡乎其无味，用之不足既'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8412480" cy="1234440"/>
          </a:xfrm>
          <a:prstGeom prst="roundRect">
            <a:avLst/>
          </a:prstGeom>
          <a:solidFill>
            <a:srgbClr val="F8F8FF"/>
          </a:solidFill>
          <a:ln>
            <a:solidFill>
              <a:srgbClr val="96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37160" cy="1234440"/>
          </a:xfrm>
          <a:prstGeom prst="rect">
            <a:avLst/>
          </a:prstGeom>
          <a:solidFill>
            <a:srgbClr val="96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63232"/>
                </a:solidFill>
              </a:defRPr>
            </a:pPr>
            <a:r>
              <a:t>第三十六章 · 将欲取之｜去甚去泰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不为不执，去除极端、奢侈、过度，方能'无败无失'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60"/>
            <a:ext cx="841248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DCFF"/>
                </a:solidFill>
              </a:defRPr>
            </a:pPr>
            <a:r>
              <a:t>🌟 一句话总结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大道泛兮，道法自然，无为之德成就万物；将欲取之，去甚去泰，不争之争方能无败。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