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国学经典24章 · 第十一课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003366"/>
                </a:solidFill>
              </a:defRPr>
            </a:pPr>
            <a:r>
              <a:t>《道德经》第34-36章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>
                <a:solidFill>
                  <a:srgbClr val="646464"/>
                </a:solidFill>
              </a:defRPr>
            </a:pPr>
            <a:r>
              <a:t>大道泛兮 · 执大象 · 将欲取之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4206240"/>
            <a:ext cx="2743200" cy="2743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3891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828282"/>
                </a:solidFill>
              </a:defRPr>
            </a:pPr>
            <a:r>
              <a:t>2026年4月18日 · 第11天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69696"/>
                </a:solidFill>
              </a:defRPr>
            </a:pPr>
            <a:r>
              <a:t>小燕子出品 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第三十四章 · 大道泛兮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69696"/>
                </a:solidFill>
              </a:defRPr>
            </a:pPr>
            <a:r>
              <a:t>2/10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188720"/>
            <a:ext cx="8412480" cy="1463040"/>
          </a:xfrm>
          <a:prstGeom prst="roundRect">
            <a:avLst/>
          </a:prstGeom>
          <a:solidFill>
            <a:srgbClr val="F0F5FA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8046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C83232"/>
                </a:solidFill>
              </a:defRPr>
            </a:pPr>
            <a:r>
              <a:t>【原文】</a:t>
            </a:r>
          </a:p>
          <a:p>
            <a:pPr>
              <a:spcBef>
                <a:spcPts val="600"/>
              </a:spcBef>
              <a:defRPr sz="1400">
                <a:solidFill>
                  <a:srgbClr val="323232"/>
                </a:solidFill>
              </a:defRPr>
            </a:pPr>
            <a:r>
              <a:t>大道泛兮，其可左右。万物恃之而生而不辞，功成不名有。衣养万物而不为主，常无欲，可名于小。万物归焉而不为主，可名为大。以其终不自为大，故能成其大。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834640"/>
            <a:ext cx="8229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3366"/>
                </a:solidFill>
              </a:defRPr>
            </a:pPr>
            <a:r>
              <a:t>【白话解读】</a:t>
            </a:r>
          </a:p>
          <a:p>
            <a:pPr>
              <a:spcBef>
                <a:spcPts val="400"/>
              </a:spcBef>
              <a:defRPr sz="1200">
                <a:solidFill>
                  <a:srgbClr val="3C3C3C"/>
                </a:solidFill>
              </a:defRPr>
            </a:pPr>
            <a:r>
              <a:t>• 大道泛兮，其可左右：道广泛流行，无所不在，如同水一样流淌万物之中</a:t>
            </a:r>
          </a:p>
          <a:p>
            <a:pPr>
              <a:spcBef>
                <a:spcPts val="400"/>
              </a:spcBef>
              <a:defRPr sz="1200">
                <a:solidFill>
                  <a:srgbClr val="3C3C3C"/>
                </a:solidFill>
              </a:defRPr>
            </a:pPr>
            <a:r>
              <a:t>• 万物恃之而生而不辞：万物依靠道生存，道从不推辞，从不夸耀</a:t>
            </a:r>
          </a:p>
          <a:p>
            <a:pPr>
              <a:spcBef>
                <a:spcPts val="400"/>
              </a:spcBef>
              <a:defRPr sz="1200">
                <a:solidFill>
                  <a:srgbClr val="3C3C3C"/>
                </a:solidFill>
              </a:defRPr>
            </a:pPr>
            <a:r>
              <a:t>• 功成不名有：成就了功业却不居功、不占有</a:t>
            </a:r>
          </a:p>
          <a:p>
            <a:pPr>
              <a:spcBef>
                <a:spcPts val="400"/>
              </a:spcBef>
              <a:defRPr sz="1200">
                <a:solidFill>
                  <a:srgbClr val="3C3C3C"/>
                </a:solidFill>
              </a:defRPr>
            </a:pPr>
            <a:r>
              <a:t>• 衣养万物而不为主：养育万物却不做主人，没有控制欲</a:t>
            </a:r>
          </a:p>
          <a:p>
            <a:pPr>
              <a:spcBef>
                <a:spcPts val="400"/>
              </a:spcBef>
              <a:defRPr sz="1200">
                <a:solidFill>
                  <a:srgbClr val="3C3C3C"/>
                </a:solidFill>
              </a:defRPr>
            </a:pPr>
            <a:r>
              <a:t>• 常无欲，可名于小：永远没有私欲，看似渺小却最伟大</a:t>
            </a:r>
          </a:p>
          <a:p>
            <a:pPr>
              <a:spcBef>
                <a:spcPts val="400"/>
              </a:spcBef>
              <a:defRPr sz="1200">
                <a:solidFill>
                  <a:srgbClr val="3C3C3C"/>
                </a:solidFill>
              </a:defRPr>
            </a:pPr>
            <a:r>
              <a:t>• 以其终不自为大，故能成其大：正因为始终不自以为大，所以能成就其伟大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第三十四章 · 生活智慧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69696"/>
                </a:solidFill>
              </a:defRPr>
            </a:pPr>
            <a:r>
              <a:t>3/10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188720"/>
            <a:ext cx="8412480" cy="822960"/>
          </a:xfrm>
          <a:prstGeom prst="roundRect">
            <a:avLst/>
          </a:prstGeom>
          <a:solidFill>
            <a:srgbClr val="00336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🌟 核心智慧：无为之德 — 成就万物而不居功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194560"/>
            <a:ext cx="841248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267712"/>
            <a:ext cx="8046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3366"/>
                </a:solidFill>
              </a:defRPr>
            </a:pPr>
            <a:r>
              <a:t>• 成就他人，不居功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633472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05050"/>
                </a:solidFill>
              </a:defRPr>
            </a:pPr>
            <a:r>
              <a:t>真正的领导力是成就团队成员，让他们感受到是自己的功劳，而非你在控制。道的特点是'衣养万物而不为主'——真正的强者成就万物但不占为己有。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3246120"/>
            <a:ext cx="841248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319272"/>
            <a:ext cx="8046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3366"/>
                </a:solidFill>
              </a:defRPr>
            </a:pPr>
            <a:r>
              <a:t>• 放下控制欲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685031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05050"/>
                </a:solidFill>
              </a:defRPr>
            </a:pPr>
            <a:r>
              <a:t>越想控制，越会失去。管理者若总想牢牢把控权力，反而会让团队失去活力。道'常无欲'，所以能成其大。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4297679"/>
            <a:ext cx="841248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4370831"/>
            <a:ext cx="8046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3366"/>
                </a:solidFill>
              </a:defRPr>
            </a:pPr>
            <a:r>
              <a:t>• 谦卑处下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736592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05050"/>
                </a:solidFill>
              </a:defRPr>
            </a:pPr>
            <a:r>
              <a:t>自以为大者，反而难成大事。那些功成名就却谦逊的人，正是'终不自为大，故能成其大'的践行者。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5349240"/>
            <a:ext cx="841248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5422392"/>
            <a:ext cx="8046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3366"/>
                </a:solidFill>
              </a:defRPr>
            </a:pPr>
            <a:r>
              <a:t>• 顺势而为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788152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05050"/>
                </a:solidFill>
              </a:defRPr>
            </a:pPr>
            <a:r>
              <a:t>道在万物之中，不强为、不硬推。做事顺应规律，如同水流自然，无需刻意用力。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第三十五章 · 执大象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69696"/>
                </a:solidFill>
              </a:defRPr>
            </a:pPr>
            <a:r>
              <a:t>4/10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188720"/>
            <a:ext cx="8412480" cy="1280160"/>
          </a:xfrm>
          <a:prstGeom prst="roundRect">
            <a:avLst/>
          </a:prstGeom>
          <a:solidFill>
            <a:srgbClr val="F0F5FA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C83232"/>
                </a:solidFill>
              </a:defRPr>
            </a:pPr>
            <a:r>
              <a:t>【原文】</a:t>
            </a:r>
          </a:p>
          <a:p>
            <a:pPr>
              <a:spcBef>
                <a:spcPts val="600"/>
              </a:spcBef>
              <a:defRPr sz="1400">
                <a:solidFill>
                  <a:srgbClr val="323232"/>
                </a:solidFill>
              </a:defRPr>
            </a:pPr>
            <a:r>
              <a:t>执大象，天下往。往而不害，安平泰。乐与饵，过客止。道之出口，淡乎其无味，视之不足见，听之不足闻，用之不足既。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51760"/>
            <a:ext cx="8229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3366"/>
                </a:solidFill>
              </a:defRPr>
            </a:pPr>
            <a:r>
              <a:t>【白话解读】</a:t>
            </a:r>
          </a:p>
          <a:p>
            <a:pPr>
              <a:spcBef>
                <a:spcPts val="400"/>
              </a:spcBef>
              <a:defRPr sz="1200">
                <a:solidFill>
                  <a:srgbClr val="3C3C3C"/>
                </a:solidFill>
              </a:defRPr>
            </a:pPr>
            <a:r>
              <a:t>• 执大象，天下往：掌握了大道，天下人都来归附</a:t>
            </a:r>
          </a:p>
          <a:p>
            <a:pPr>
              <a:spcBef>
                <a:spcPts val="400"/>
              </a:spcBef>
              <a:defRPr sz="1200">
                <a:solidFill>
                  <a:srgbClr val="3C3C3C"/>
                </a:solidFill>
              </a:defRPr>
            </a:pPr>
            <a:r>
              <a:t>• 往而不害，安平泰：归附而不相互伤害，大家都安宁平和</a:t>
            </a:r>
          </a:p>
          <a:p>
            <a:pPr>
              <a:spcBef>
                <a:spcPts val="400"/>
              </a:spcBef>
              <a:defRPr sz="1200">
                <a:solidFill>
                  <a:srgbClr val="3C3C3C"/>
                </a:solidFill>
              </a:defRPr>
            </a:pPr>
            <a:r>
              <a:t>• 乐与饵，过客止：美妙的音乐和美食，会让过客停下脚步</a:t>
            </a:r>
          </a:p>
          <a:p>
            <a:pPr>
              <a:spcBef>
                <a:spcPts val="400"/>
              </a:spcBef>
              <a:defRPr sz="1200">
                <a:solidFill>
                  <a:srgbClr val="3C3C3C"/>
                </a:solidFill>
              </a:defRPr>
            </a:pPr>
            <a:r>
              <a:t>• 道之出口，淡乎其无味：但道说起来，却淡得没有味道</a:t>
            </a:r>
          </a:p>
          <a:p>
            <a:pPr>
              <a:spcBef>
                <a:spcPts val="400"/>
              </a:spcBef>
              <a:defRPr sz="1200">
                <a:solidFill>
                  <a:srgbClr val="3C3C3C"/>
                </a:solidFill>
              </a:defRPr>
            </a:pPr>
            <a:r>
              <a:t>• 视之不足见，听之不足闻：看它看不见，听它听不到</a:t>
            </a:r>
          </a:p>
          <a:p>
            <a:pPr>
              <a:spcBef>
                <a:spcPts val="400"/>
              </a:spcBef>
              <a:defRPr sz="1200">
                <a:solidFill>
                  <a:srgbClr val="3C3C3C"/>
                </a:solidFill>
              </a:defRPr>
            </a:pPr>
            <a:r>
              <a:t>• 用之不足既：用它却用不完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第三十五章 · 典故与启示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69696"/>
                </a:solidFill>
              </a:defRPr>
            </a:pPr>
            <a:r>
              <a:t>5/10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188720"/>
            <a:ext cx="4023360" cy="2560320"/>
          </a:xfrm>
          <a:prstGeom prst="roundRect">
            <a:avLst/>
          </a:prstGeom>
          <a:solidFill>
            <a:srgbClr val="F5F0FA"/>
          </a:solidFill>
          <a:ln>
            <a:solidFill>
              <a:srgbClr val="96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3657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43296"/>
                </a:solidFill>
              </a:defRPr>
            </a:pPr>
            <a:r>
              <a:t>📜 典故</a:t>
            </a:r>
          </a:p>
          <a:p>
            <a:br/>
            <a:pPr>
              <a:defRPr sz="1200" b="1">
                <a:solidFill>
                  <a:srgbClr val="505050"/>
                </a:solidFill>
              </a:defRPr>
            </a:pPr>
            <a:r>
              <a:t>【孔子的感叹】</a:t>
            </a:r>
          </a:p>
          <a:p>
            <a:br/>
            <a:pPr>
              <a:defRPr sz="1100">
                <a:solidFill>
                  <a:srgbClr val="646464"/>
                </a:solidFill>
              </a:defRPr>
            </a:pPr>
            <a:r>
              <a:t>孔子适周，问礼于老子。归来后感叹：</a:t>
            </a:r>
          </a:p>
          <a:p>
            <a:br/>
            <a:pPr>
              <a:defRPr sz="1200" i="1">
                <a:solidFill>
                  <a:srgbClr val="003366"/>
                </a:solidFill>
              </a:defRPr>
            </a:pPr>
            <a:r>
              <a:t>'吾所见老子，其犹龙乎？'</a:t>
            </a:r>
          </a:p>
          <a:p>
            <a:br/>
            <a:pPr>
              <a:defRPr sz="1100">
                <a:solidFill>
                  <a:srgbClr val="646464"/>
                </a:solidFill>
              </a:defRPr>
            </a:pPr>
            <a:r>
              <a:t>道之出口淡而无味，却用之不竭——真正的大道，从不张扬却影响深远。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0" y="1188720"/>
            <a:ext cx="4023360" cy="2560320"/>
          </a:xfrm>
          <a:prstGeom prst="roundRect">
            <a:avLst/>
          </a:prstGeom>
          <a:solidFill>
            <a:srgbClr val="F0F8FF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37760" y="1280160"/>
            <a:ext cx="3657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3366"/>
                </a:solidFill>
              </a:defRPr>
            </a:pPr>
            <a:r>
              <a:t>🌍 管理启示</a:t>
            </a:r>
          </a:p>
          <a:p>
            <a:br/>
            <a:pPr>
              <a:defRPr sz="1200">
                <a:solidFill>
                  <a:srgbClr val="3C3C3C"/>
                </a:solidFill>
              </a:defRPr>
            </a:pPr>
            <a:r>
              <a:t>• 执大象：抓住本质，不被表象迷惑</a:t>
            </a:r>
          </a:p>
          <a:p>
            <a:br/>
            <a:pPr>
              <a:defRPr sz="1200">
                <a:solidFill>
                  <a:srgbClr val="3C3C3C"/>
                </a:solidFill>
              </a:defRPr>
            </a:pPr>
            <a:r>
              <a:t>• 安平泰：利他才能安人，害人者必自害</a:t>
            </a:r>
          </a:p>
          <a:p>
            <a:br/>
            <a:pPr>
              <a:defRPr sz="1200">
                <a:solidFill>
                  <a:srgbClr val="3C3C3C"/>
                </a:solidFill>
              </a:defRPr>
            </a:pPr>
            <a:r>
              <a:t>• 淡乎无味：真正的管理是润物细无声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3931920"/>
            <a:ext cx="8412480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4023360"/>
            <a:ext cx="8046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3366"/>
                </a:solidFill>
              </a:defRPr>
            </a:pPr>
            <a:r>
              <a:t>💡 现代启示</a:t>
            </a:r>
          </a:p>
          <a:p>
            <a:br/>
            <a:pPr>
              <a:defRPr sz="1100">
                <a:solidFill>
                  <a:srgbClr val="464646"/>
                </a:solidFill>
              </a:defRPr>
            </a:pPr>
            <a:r>
              <a:t>• 企业价值观：短期吸引靠产品，长期留住靠文化（'乐与饵，过客止'）</a:t>
            </a:r>
          </a:p>
          <a:p>
            <a:br/>
            <a:pPr>
              <a:defRPr sz="1100">
                <a:solidFill>
                  <a:srgbClr val="464646"/>
                </a:solidFill>
              </a:defRPr>
            </a:pPr>
            <a:r>
              <a:t>• 领导力真谛：真正的影响力不在于喊口号，而在于润物无声（'道之出口，淡乎其无味'）</a:t>
            </a:r>
          </a:p>
          <a:p>
            <a:br/>
            <a:pPr>
              <a:defRPr sz="1100">
                <a:solidFill>
                  <a:srgbClr val="464646"/>
                </a:solidFill>
              </a:defRPr>
            </a:pPr>
            <a:r>
              <a:t>• 品牌建设：追求的不是知名度，而是让人'用之不足既'的价值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第三十六章 · 将欲取之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69696"/>
                </a:solidFill>
              </a:defRPr>
            </a:pPr>
            <a:r>
              <a:t>6/10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188720"/>
            <a:ext cx="8412480" cy="1645920"/>
          </a:xfrm>
          <a:prstGeom prst="roundRect">
            <a:avLst/>
          </a:prstGeom>
          <a:solidFill>
            <a:srgbClr val="F0F5FA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8046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C83232"/>
                </a:solidFill>
              </a:defRPr>
            </a:pPr>
            <a:r>
              <a:t>【原文】</a:t>
            </a:r>
          </a:p>
          <a:p>
            <a:pPr>
              <a:spcBef>
                <a:spcPts val="600"/>
              </a:spcBef>
              <a:defRPr sz="1300">
                <a:solidFill>
                  <a:srgbClr val="323232"/>
                </a:solidFill>
              </a:defRPr>
            </a:pPr>
            <a:r>
              <a:t>将欲取天下而为之，吾见其不得已。天下神器，不可为也。为者败之，执者失之。是以圣人无为，故无败；无执，故无失。物，或行或随，或呴或吹，或强或羸，或挫或隳。是以圣人去甚，去奢，去泰。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017520"/>
            <a:ext cx="8229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3366"/>
                </a:solidFill>
              </a:defRPr>
            </a:pPr>
            <a:r>
              <a:t>【白话解读】</a:t>
            </a:r>
          </a:p>
          <a:p>
            <a:pPr>
              <a:spcBef>
                <a:spcPts val="400"/>
              </a:spcBef>
              <a:defRPr sz="1200">
                <a:solidFill>
                  <a:srgbClr val="3C3C3C"/>
                </a:solidFill>
              </a:defRPr>
            </a:pPr>
            <a:r>
              <a:t>• 将欲取天下而为之，吾见其不得已：想靠强力来治理天下，我看他达不到目的</a:t>
            </a:r>
          </a:p>
          <a:p>
            <a:pPr>
              <a:spcBef>
                <a:spcPts val="400"/>
              </a:spcBef>
              <a:defRPr sz="1200">
                <a:solidFill>
                  <a:srgbClr val="3C3C3C"/>
                </a:solidFill>
              </a:defRPr>
            </a:pPr>
            <a:r>
              <a:t>• 天下神器，不可为也：天下是神圣的器物，不能靠强行作为</a:t>
            </a:r>
          </a:p>
          <a:p>
            <a:pPr>
              <a:spcBef>
                <a:spcPts val="400"/>
              </a:spcBef>
              <a:defRPr sz="1200">
                <a:solidFill>
                  <a:srgbClr val="3C3C3C"/>
                </a:solidFill>
              </a:defRPr>
            </a:pPr>
            <a:r>
              <a:t>• 为者败之，执者失之：强行作为必然失败，紧紧把控必然失去</a:t>
            </a:r>
          </a:p>
          <a:p>
            <a:pPr>
              <a:spcBef>
                <a:spcPts val="400"/>
              </a:spcBef>
              <a:defRPr sz="1200">
                <a:solidFill>
                  <a:srgbClr val="3C3C3C"/>
                </a:solidFill>
              </a:defRPr>
            </a:pPr>
            <a:r>
              <a:t>• 圣人无为，故无败；无执，故无失：圣人不妄为，所以不失败；不强执，所以不失去</a:t>
            </a:r>
          </a:p>
          <a:p>
            <a:pPr>
              <a:spcBef>
                <a:spcPts val="400"/>
              </a:spcBef>
              <a:defRPr sz="1200">
                <a:solidFill>
                  <a:srgbClr val="3C3C3C"/>
                </a:solidFill>
              </a:defRPr>
            </a:pPr>
            <a:r>
              <a:t>• 去甚，去奢，去泰：去掉极端、奢侈、过度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第三十六章 · 典故与生活智慧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69696"/>
                </a:solidFill>
              </a:defRPr>
            </a:pPr>
            <a:r>
              <a:t>7/10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188720"/>
            <a:ext cx="4023360" cy="2377440"/>
          </a:xfrm>
          <a:prstGeom prst="roundRect">
            <a:avLst/>
          </a:prstGeom>
          <a:solidFill>
            <a:srgbClr val="F5F8FF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3657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3366"/>
                </a:solidFill>
              </a:defRPr>
            </a:pPr>
            <a:r>
              <a:t>📜 历史典故</a:t>
            </a:r>
          </a:p>
          <a:p>
            <a:br/>
            <a:pPr>
              <a:defRPr sz="1200" b="1">
                <a:solidFill>
                  <a:srgbClr val="505050"/>
                </a:solidFill>
              </a:defRPr>
            </a:pPr>
            <a:r>
              <a:t>【秦朝灭亡的教训】</a:t>
            </a:r>
          </a:p>
          <a:p>
            <a:br/>
            <a:pPr>
              <a:defRPr sz="1100">
                <a:solidFill>
                  <a:srgbClr val="646464"/>
                </a:solidFill>
              </a:defRPr>
            </a:pPr>
            <a:r>
              <a:t>秦始皇统一六国后，实行严刑峻法、焚书坑儒，拼命想'执'住天下。结果二世而亡，正是'为者败之，执者失之'的典型例证。</a:t>
            </a:r>
          </a:p>
          <a:p>
            <a:br/>
            <a:pPr>
              <a:defRPr sz="1200" b="1">
                <a:solidFill>
                  <a:srgbClr val="505050"/>
                </a:solidFill>
              </a:defRPr>
            </a:pPr>
            <a:r>
              <a:t>【汉初的黄老之治】</a:t>
            </a:r>
          </a:p>
          <a:p>
            <a:br/>
            <a:pPr>
              <a:defRPr sz="1100">
                <a:solidFill>
                  <a:srgbClr val="646464"/>
                </a:solidFill>
              </a:defRPr>
            </a:pPr>
            <a:r>
              <a:t>汉高祖刘邦之后，文景二帝采用'无为而治'，轻徭薄赋，与民休息。成就了中国第一个盛世——'文景之治'。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0" y="1188720"/>
            <a:ext cx="4023360" cy="2377440"/>
          </a:xfrm>
          <a:prstGeom prst="roundRect">
            <a:avLst/>
          </a:prstGeom>
          <a:solidFill>
            <a:srgbClr val="FFF8F0"/>
          </a:solidFill>
          <a:ln>
            <a:solidFill>
              <a:srgbClr val="C83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37760" y="1280160"/>
            <a:ext cx="3657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C83232"/>
                </a:solidFill>
              </a:defRPr>
            </a:pPr>
            <a:r>
              <a:t>🌟 生活智慧</a:t>
            </a:r>
          </a:p>
          <a:p>
            <a:br/>
            <a:pPr>
              <a:defRPr sz="1200">
                <a:solidFill>
                  <a:srgbClr val="505050"/>
                </a:solidFill>
              </a:defRPr>
            </a:pPr>
            <a:r>
              <a:t>• 不去甚：不做过头事，说话留余地</a:t>
            </a:r>
          </a:p>
          <a:p>
            <a:br/>
            <a:pPr>
              <a:defRPr sz="1200">
                <a:solidFill>
                  <a:srgbClr val="505050"/>
                </a:solidFill>
              </a:defRPr>
            </a:pPr>
            <a:r>
              <a:t>• 不去奢：生活简单，精神更富足</a:t>
            </a:r>
          </a:p>
          <a:p>
            <a:br/>
            <a:pPr>
              <a:defRPr sz="1200">
                <a:solidFill>
                  <a:srgbClr val="505050"/>
                </a:solidFill>
              </a:defRPr>
            </a:pPr>
            <a:r>
              <a:t>• 不去泰：得意时不张狂，失意时不颓废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3749039"/>
            <a:ext cx="1828800" cy="2286000"/>
          </a:xfrm>
          <a:prstGeom prst="roundRect">
            <a:avLst/>
          </a:prstGeom>
          <a:solidFill>
            <a:srgbClr val="E6F5E6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3840479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003366"/>
                </a:solidFill>
              </a:defRPr>
            </a:pPr>
            <a:r>
              <a:t>🧘 心态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297679"/>
            <a:ext cx="16459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505050"/>
                </a:solidFill>
              </a:defRPr>
            </a:pPr>
            <a:r>
              <a:t>去除极端心态</a:t>
            </a:r>
            <a:br/>
            <a:r>
              <a:t>保持平和中正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331720" y="3749039"/>
            <a:ext cx="1828800" cy="2286000"/>
          </a:xfrm>
          <a:prstGeom prst="roundRect">
            <a:avLst/>
          </a:prstGeom>
          <a:solidFill>
            <a:srgbClr val="E6EEFA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23160" y="3840479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003366"/>
                </a:solidFill>
              </a:defRPr>
            </a:pPr>
            <a:r>
              <a:t>💼 做事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4297679"/>
            <a:ext cx="16459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505050"/>
                </a:solidFill>
              </a:defRPr>
            </a:pPr>
            <a:r>
              <a:t>去除强取豪夺</a:t>
            </a:r>
            <a:br/>
            <a:r>
              <a:t>顺势而为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80" y="3749039"/>
            <a:ext cx="1828800" cy="2286000"/>
          </a:xfrm>
          <a:prstGeom prst="roundRect">
            <a:avLst/>
          </a:prstGeom>
          <a:solidFill>
            <a:srgbClr val="FAF0F5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3840479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003366"/>
                </a:solidFill>
              </a:defRPr>
            </a:pPr>
            <a:r>
              <a:t>❤️ 交往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4297679"/>
            <a:ext cx="16459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505050"/>
                </a:solidFill>
              </a:defRPr>
            </a:pPr>
            <a:r>
              <a:t>去除占有欲</a:t>
            </a:r>
            <a:br/>
            <a:r>
              <a:t>给予而非索取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3749039"/>
            <a:ext cx="1828800" cy="2286000"/>
          </a:xfrm>
          <a:prstGeom prst="roundRect">
            <a:avLst/>
          </a:prstGeom>
          <a:solidFill>
            <a:srgbClr val="FFF8E6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3840479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003366"/>
                </a:solidFill>
              </a:defRPr>
            </a:pPr>
            <a:r>
              <a:t>🎯 成长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4297679"/>
            <a:ext cx="16459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505050"/>
                </a:solidFill>
              </a:defRPr>
            </a:pPr>
            <a:r>
              <a:t>去除急功近利</a:t>
            </a:r>
            <a:br/>
            <a:r>
              <a:t>脚踏实地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西方思想对照 · 四位思想家名言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69696"/>
                </a:solidFill>
              </a:defRPr>
            </a:pPr>
            <a:r>
              <a:t>8/10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234440"/>
            <a:ext cx="841248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3366"/>
                </a:solidFill>
              </a:defRPr>
            </a:pPr>
            <a:r>
              <a:t>🇫🇷 伏尔泰 · 自然法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1344168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69696"/>
                </a:solidFill>
              </a:defRPr>
            </a:pPr>
            <a:r>
              <a:t>1750年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37360"/>
            <a:ext cx="8046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05050"/>
                </a:solidFill>
              </a:defRPr>
            </a:pPr>
            <a:r>
              <a:t>'顺应自然，方能获得自由。'——道法自然，欧洲启蒙思想的核心。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2532888"/>
            <a:ext cx="841248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624328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3366"/>
                </a:solidFill>
              </a:defRPr>
            </a:pPr>
            <a:r>
              <a:t>🇩🇪 黑格尔 · 辩证法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2642616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69696"/>
                </a:solidFill>
              </a:defRPr>
            </a:pPr>
            <a:r>
              <a:t>1807年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035808"/>
            <a:ext cx="8046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05050"/>
                </a:solidFill>
              </a:defRPr>
            </a:pPr>
            <a:r>
              <a:t>'矛盾推动发展，对立统一。'——如同道家有无相生之理。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3831335"/>
            <a:ext cx="841248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922775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3366"/>
                </a:solidFill>
              </a:defRPr>
            </a:pPr>
            <a:r>
              <a:t>🇺🇸 梭罗 · 瓦尔登湖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3941063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69696"/>
                </a:solidFill>
              </a:defRPr>
            </a:pPr>
            <a:r>
              <a:t>1849年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334255"/>
            <a:ext cx="8046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05050"/>
                </a:solidFill>
              </a:defRPr>
            </a:pPr>
            <a:r>
              <a:t>'简化生活，回归本真。'——与道家返璞归真不谋而合。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5129783"/>
            <a:ext cx="841248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5221223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3366"/>
                </a:solidFill>
              </a:defRPr>
            </a:pPr>
            <a:r>
              <a:t>🇬🇧 斯密 · 看不见的手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5239512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69696"/>
                </a:solidFill>
              </a:defRPr>
            </a:pPr>
            <a:r>
              <a:t>1776年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632703"/>
            <a:ext cx="8046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05050"/>
                </a:solidFill>
              </a:defRPr>
            </a:pPr>
            <a:r>
              <a:t>'市场自发秩序，比刻意调控更有效。'——无为而治的经济学表达。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生活中的智慧 · 四场景应用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69696"/>
                </a:solidFill>
              </a:defRPr>
            </a:pPr>
            <a:r>
              <a:t>9/10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188720"/>
            <a:ext cx="841248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109728" cy="12344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79552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3366"/>
                </a:solidFill>
              </a:defRPr>
            </a:pPr>
            <a:r>
              <a:t>🧘 每日自省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91640"/>
            <a:ext cx="79552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05050"/>
                </a:solidFill>
              </a:defRPr>
            </a:pPr>
            <a:r>
              <a:t>每天留10分钟独处，问自己：今天有没有'去甚、去奢、去泰'？顺境时检视是否傲慢，逆境时检视是否怨天尤人。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2514600"/>
            <a:ext cx="841248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0064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2514600"/>
            <a:ext cx="109728" cy="1234440"/>
          </a:xfrm>
          <a:prstGeom prst="rect">
            <a:avLst/>
          </a:prstGeom>
          <a:solidFill>
            <a:srgbClr val="0064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606040"/>
            <a:ext cx="79552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6450"/>
                </a:solidFill>
              </a:defRPr>
            </a:pPr>
            <a:r>
              <a:t>💼 团队管理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17520"/>
            <a:ext cx="79552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05050"/>
                </a:solidFill>
              </a:defRPr>
            </a:pPr>
            <a:r>
              <a:t>少用控制，多用成就。好的管理者是'衣养万物而不为主'——提供平台，让团队成员自己成长。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3840480"/>
            <a:ext cx="841248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963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3840480"/>
            <a:ext cx="109728" cy="1234440"/>
          </a:xfrm>
          <a:prstGeom prst="rect">
            <a:avLst/>
          </a:prstGeom>
          <a:solidFill>
            <a:srgbClr val="963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931920"/>
            <a:ext cx="79552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963232"/>
                </a:solidFill>
              </a:defRPr>
            </a:pPr>
            <a:r>
              <a:t>❤️ 家庭关系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43400"/>
            <a:ext cx="79552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05050"/>
                </a:solidFill>
              </a:defRPr>
            </a:pPr>
            <a:r>
              <a:t>家人之间，去除占有欲和控制欲。不是'执'住对方，而是支持对方成为更好的自己。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5166360"/>
            <a:ext cx="841248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646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5166360"/>
            <a:ext cx="109728" cy="1234440"/>
          </a:xfrm>
          <a:prstGeom prst="rect">
            <a:avLst/>
          </a:prstGeom>
          <a:solidFill>
            <a:srgbClr val="646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57800"/>
            <a:ext cx="79552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646400"/>
                </a:solidFill>
              </a:defRPr>
            </a:pPr>
            <a:r>
              <a:t>🎯 个人成长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669280"/>
            <a:ext cx="79552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05050"/>
                </a:solidFill>
              </a:defRPr>
            </a:pPr>
            <a:r>
              <a:t>不急功近利，不追求'立竿见影'。真正的成长是'大道泛兮'——慢慢渗透，功到自然成。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精华提炼 · 第十一课总结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69696"/>
                </a:solidFill>
              </a:defRPr>
            </a:pPr>
            <a:r>
              <a:t>10/10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188720"/>
            <a:ext cx="8412480" cy="1234440"/>
          </a:xfrm>
          <a:prstGeom prst="roundRect">
            <a:avLst/>
          </a:prstGeom>
          <a:solidFill>
            <a:srgbClr val="F8F8FF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137160" cy="12344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61872"/>
            <a:ext cx="79552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03366"/>
                </a:solidFill>
              </a:defRPr>
            </a:pPr>
            <a:r>
              <a:t>第三十四章 · 大道泛兮｜无为之德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45920"/>
            <a:ext cx="795527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05050"/>
                </a:solidFill>
              </a:defRPr>
            </a:pPr>
            <a:r>
              <a:t>成就万物而不居功，'以其终不自为大，故能成其大'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2514600"/>
            <a:ext cx="8412480" cy="1234440"/>
          </a:xfrm>
          <a:prstGeom prst="roundRect">
            <a:avLst/>
          </a:prstGeom>
          <a:solidFill>
            <a:srgbClr val="F8F8FF"/>
          </a:solidFill>
          <a:ln>
            <a:solidFill>
              <a:srgbClr val="0064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2514600"/>
            <a:ext cx="137160" cy="1234440"/>
          </a:xfrm>
          <a:prstGeom prst="rect">
            <a:avLst/>
          </a:prstGeom>
          <a:solidFill>
            <a:srgbClr val="0064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587752"/>
            <a:ext cx="79552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06450"/>
                </a:solidFill>
              </a:defRPr>
            </a:pPr>
            <a:r>
              <a:t>第三十五章 · 执大象｜道法自然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71800"/>
            <a:ext cx="795527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05050"/>
                </a:solidFill>
              </a:defRPr>
            </a:pPr>
            <a:r>
              <a:t>掌握本质，润物无声，'道之出口，淡乎其无味，用之不足既'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3840480"/>
            <a:ext cx="8412480" cy="1234440"/>
          </a:xfrm>
          <a:prstGeom prst="roundRect">
            <a:avLst/>
          </a:prstGeom>
          <a:solidFill>
            <a:srgbClr val="F8F8FF"/>
          </a:solidFill>
          <a:ln>
            <a:solidFill>
              <a:srgbClr val="963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3840480"/>
            <a:ext cx="137160" cy="1234440"/>
          </a:xfrm>
          <a:prstGeom prst="rect">
            <a:avLst/>
          </a:prstGeom>
          <a:solidFill>
            <a:srgbClr val="963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913632"/>
            <a:ext cx="79552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963232"/>
                </a:solidFill>
              </a:defRPr>
            </a:pPr>
            <a:r>
              <a:t>第三十六章 · 将欲取之｜去甚去泰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297680"/>
            <a:ext cx="795527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05050"/>
                </a:solidFill>
              </a:defRPr>
            </a:pPr>
            <a:r>
              <a:t>不为不执，去除极端、奢侈、过度，方能'无败无失'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5166360"/>
            <a:ext cx="8412480" cy="1097280"/>
          </a:xfrm>
          <a:prstGeom prst="roundRect">
            <a:avLst/>
          </a:prstGeom>
          <a:solidFill>
            <a:srgbClr val="00336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5257800"/>
            <a:ext cx="8046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C8DCFF"/>
                </a:solidFill>
              </a:defRPr>
            </a:pPr>
            <a:r>
              <a:t>🌟 一句话总结</a:t>
            </a: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大道泛兮，道法自然，无为之德成就万物；将欲取之，去甚去泰，不争之争方能无败。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