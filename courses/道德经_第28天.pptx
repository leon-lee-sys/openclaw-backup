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solidFill>
            <a:srgbClr val="0F2A4F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A90D9"/>
                </a:solidFill>
                <a:latin typeface="Microsoft YaHei UI"/>
              </a:rPr>
              <a:t>道德经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Microsoft YaHei UI"/>
              </a:rPr>
              <a:t>第二十八天 · 第八十五章至第八十七章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566160"/>
            <a:ext cx="4873752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749039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4A90D9"/>
                </a:solidFill>
                <a:latin typeface="KaiTi"/>
              </a:rPr>
              <a:t>知足者富 · 上善若水 · 无为之治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2920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8F0F8"/>
                </a:solidFill>
                <a:latin typeface="Microsoft YaHei UI"/>
              </a:rPr>
              <a:t>三先生国学课件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3A6E"/>
                </a:solidFill>
                <a:latin typeface="Microsoft YaHei UI"/>
              </a:rPr>
              <a:t>今日课程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3A6E"/>
                </a:solidFill>
                <a:latin typeface="Microsoft YaHei UI"/>
              </a:rPr>
              <a:t>第八十五章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1A2E"/>
                </a:solidFill>
                <a:latin typeface="Microsoft YaHei UI"/>
              </a:rPr>
              <a:t>知足者富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2926079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2E"/>
                </a:solidFill>
                <a:latin typeface="KaiTi"/>
              </a:rPr>
              <a:t>罪莫大于可欲，祸莫大于
不知足，咎莫大于欲得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5A8C"/>
                </a:solidFill>
                <a:latin typeface="KaiTi"/>
              </a:rPr>
              <a:t>知足之足，常足矣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371600"/>
            <a:ext cx="34747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3A6E"/>
                </a:solidFill>
                <a:latin typeface="Microsoft YaHei UI"/>
              </a:rPr>
              <a:t>第八十六章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20116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1A2E"/>
                </a:solidFill>
                <a:latin typeface="Microsoft YaHei UI"/>
              </a:rPr>
              <a:t>上善若水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79" y="2743200"/>
            <a:ext cx="2926079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926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2E"/>
                </a:solidFill>
                <a:latin typeface="KaiTi"/>
              </a:rPr>
              <a:t>上善若水，水善利万物
而不争，处众人之所恶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3891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5A8C"/>
                </a:solidFill>
                <a:latin typeface="KaiTi"/>
              </a:rPr>
              <a:t>夫唯不争，故无尤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1371600"/>
            <a:ext cx="34747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3A6E"/>
                </a:solidFill>
                <a:latin typeface="Microsoft YaHei UI"/>
              </a:rPr>
              <a:t>第八十七章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20116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1A2E"/>
                </a:solidFill>
                <a:latin typeface="Microsoft YaHei UI"/>
              </a:rPr>
              <a:t>无为之治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743200"/>
            <a:ext cx="2926079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2926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2E"/>
                </a:solidFill>
                <a:latin typeface="KaiTi"/>
              </a:rPr>
              <a:t>为学日益，为道日损
损之又损，以至于无为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43891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5A8C"/>
                </a:solidFill>
                <a:latin typeface="KaiTi"/>
              </a:rPr>
              <a:t>我无事而民自富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91440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 UI"/>
              </a:rPr>
              <a:t>第八十五章 · 知足者富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6E"/>
                </a:solidFill>
                <a:latin typeface="Microsoft YaHei UI"/>
              </a:rPr>
              <a:t>【原文】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A2E"/>
                </a:solidFill>
                <a:latin typeface="KaiTi"/>
              </a:rPr>
              <a:t>罪莫大于可欲，祸莫大于不知足，
咎莫大于欲得。
故知足之足，常足矣。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669280" cy="5303520"/>
          </a:xfrm>
          <a:prstGeom prst="rect">
            <a:avLst/>
          </a:prstGeom>
          <a:solidFill>
            <a:srgbClr val="E8F0F8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6E"/>
                </a:solidFill>
                <a:latin typeface="Microsoft YaHei UI"/>
              </a:rPr>
              <a:t>【注释】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可欲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8288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过度的欲望、放纵的欲望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0428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不知足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30428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不知道满足、贪得无厌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77977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欲得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77977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想要得到、贪求获取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5526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知足之足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255264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知道满足的这种满足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7307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常足矣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73075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永远是富足的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2062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罪过、罪恶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68172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681727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灾祸、祸患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157215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5157215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过错、灾祸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A90D9"/>
                </a:solidFill>
                <a:latin typeface="Microsoft YaHei UI"/>
              </a:rPr>
              <a:t>第八十五章 · 核心义理与启示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0" cy="5394960"/>
          </a:xfrm>
          <a:prstGeom prst="rect">
            <a:avLst/>
          </a:prstGeom>
          <a:solidFill>
            <a:srgbClr val="0F2A4F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0D9"/>
                </a:solidFill>
                <a:latin typeface="Microsoft YaHei UI"/>
              </a:rPr>
              <a:t>【核心义理】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493776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欲望是罪魁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最大的罪过是放纵欲望，最大的祸患是不知道满足，最大的过错是贪得无厌。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知足常乐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知道满足的人，永远是富足的。不是拥有得多才算富，知道满足本身就是富。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祸福自取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一切灾祸的根源都在于不知足。欲壑难填，永无止境。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返璞归真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减少欲望，回归本真，才能获得真正的安宁和富足。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97280"/>
            <a:ext cx="5669280" cy="5394960"/>
          </a:xfrm>
          <a:prstGeom prst="rect">
            <a:avLst/>
          </a:prstGeom>
          <a:solidFill>
            <a:srgbClr val="0F2A4F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0D9"/>
                </a:solidFill>
                <a:latin typeface="Microsoft YaHei UI"/>
              </a:rPr>
              <a:t>【人生启示】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5303520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控制欲望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欲望是无底洞，永远填不满。学会控制欲望，而不是被欲望控制。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珍惜当下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不要总想着没有得到的东西，而要珍惜已经拥有的。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适度追求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追求是好的，但要知道停止。贪得无厌最终会毁掉自己。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内心富足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真正的富足不在于拥有多少，而在于内心的满足感。知足者富。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914400"/>
          </a:xfrm>
          <a:prstGeom prst="rect">
            <a:avLst/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 UI"/>
              </a:rPr>
              <a:t>第八十六章 · 上善若水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6E"/>
                </a:solidFill>
                <a:latin typeface="Microsoft YaHei UI"/>
              </a:rPr>
              <a:t>【原文】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A2E"/>
                </a:solidFill>
                <a:latin typeface="KaiTi"/>
              </a:rPr>
              <a:t>上善若水，水善利万物而不争，
处众人之所恶，故几于道。
居善地，心善渊，与善仁，言善信，
正善治，事善能，动善时。
夫唯不争，故无尤。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731520"/>
          </a:xfrm>
          <a:prstGeom prst="rect">
            <a:avLst/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 UI"/>
              </a:rPr>
              <a:t>第八十六章 · 注释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760720" cy="5486400"/>
          </a:xfrm>
          <a:prstGeom prst="rect">
            <a:avLst/>
          </a:prstGeom>
          <a:solidFill>
            <a:srgbClr val="E8F0F8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E"/>
                </a:solidFill>
                <a:latin typeface="Microsoft YaHei UI"/>
              </a:rPr>
              <a:t>【注释（上）】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上善若水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544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最高尚的善就像水一样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14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善利万物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2140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善于利益万物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8833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而不争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8833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却不与万物争夺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5526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处众人所恶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5526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处于众人所厌恶的低处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22191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故几于道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822191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所以接近于道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05840"/>
            <a:ext cx="5760720" cy="5486400"/>
          </a:xfrm>
          <a:prstGeom prst="rect">
            <a:avLst/>
          </a:prstGeom>
          <a:solidFill>
            <a:srgbClr val="E8F0F8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E"/>
                </a:solidFill>
                <a:latin typeface="Microsoft YaHei UI"/>
              </a:rPr>
              <a:t>【注释（下）】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544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居善地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15544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居住善于选择地方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029967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心善渊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029967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心胸善于保持沉静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50545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与善仁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50545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交接善于仁爱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98094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言善信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98094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言语善于诚信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45643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正善治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45643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政事善于治理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931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事善能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9319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处事善于发挥才能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4074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动善时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440740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行动善于把握时机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8289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无尤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488289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没有过失、怨尤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A90D9"/>
                </a:solidFill>
                <a:latin typeface="Microsoft YaHei UI"/>
              </a:rPr>
              <a:t>第八十六章 · 核心义理与启示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0" cy="5394960"/>
          </a:xfrm>
          <a:prstGeom prst="rect">
            <a:avLst/>
          </a:prstGeom>
          <a:solidFill>
            <a:srgbClr val="0F2A4F"/>
          </a:solidFill>
          <a:ln>
            <a:solidFill>
              <a:srgbClr val="2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0D9"/>
                </a:solidFill>
                <a:latin typeface="Microsoft YaHei UI"/>
              </a:rPr>
              <a:t>【核心义理】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4937760" cy="27432"/>
          </a:xfrm>
          <a:prstGeom prst="rect">
            <a:avLst/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上善若水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最高的善就像水一样。水善利万物而不争，处众人之所恶，这是道的品质。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水之七善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居善地、心善渊、与善仁、言善信、正善治、事善能、动善时——水具备七种完美的品德。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夫唯不争，故无尤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正因为水不与万物争，所以没有过失和怨尤。不争是无上善的境界。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处下不争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水处于低处，众人厌恶的地方，但它恰恰因此接近道。低是道的特征。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97280"/>
            <a:ext cx="5669280" cy="5394960"/>
          </a:xfrm>
          <a:prstGeom prst="rect">
            <a:avLst/>
          </a:prstGeom>
          <a:solidFill>
            <a:srgbClr val="0F2A4F"/>
          </a:solidFill>
          <a:ln>
            <a:solidFill>
              <a:srgbClr val="2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0D9"/>
                </a:solidFill>
                <a:latin typeface="Microsoft YaHei UI"/>
              </a:rPr>
              <a:t>【人生启示】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5303520" cy="27432"/>
          </a:xfrm>
          <a:prstGeom prst="rect">
            <a:avLst/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像水一样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做人要像水一样——柔弱而能穿石，利他而不争，处下而不争。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谦下待人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低姿态待人，不与人争，反而能赢得尊重和信任。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顺势而为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像水一样顺应地形，不强求，不硬碰，因势利导。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不争无尤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不争的人没有敌人，没有怨尤，没有过失。这是人生最好的护身符。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91440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 UI"/>
              </a:rPr>
              <a:t>第八十七章 · 无为之治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6E"/>
                </a:solidFill>
                <a:latin typeface="Microsoft YaHei UI"/>
              </a:rPr>
              <a:t>【原文】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A1A2E"/>
                </a:solidFill>
                <a:latin typeface="KaiTi"/>
              </a:rPr>
              <a:t>为学日益，为道日损。
损之又损，以至于无为，
无为而无不为。
取天下常以无事，
及其有事，不足以取天下。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88952" cy="73152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Microsoft YaHei UI"/>
              </a:rPr>
              <a:t>第八十七章 · 注释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760720" cy="5486400"/>
          </a:xfrm>
          <a:prstGeom prst="rect">
            <a:avLst/>
          </a:prstGeom>
          <a:solidFill>
            <a:srgbClr val="E8F0F8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E"/>
                </a:solidFill>
                <a:latin typeface="Microsoft YaHei UI"/>
              </a:rPr>
              <a:t>【注释（上）】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为学日益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学习知识要每天增加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为道日损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追求道要每天减少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损之又损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8346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减少再减少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以至于无为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直到达到无为的境界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无为而无不为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不妄为则无所不为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05840"/>
            <a:ext cx="5760720" cy="5486400"/>
          </a:xfrm>
          <a:prstGeom prst="rect">
            <a:avLst/>
          </a:prstGeom>
          <a:solidFill>
            <a:srgbClr val="E8F0F8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E"/>
                </a:solidFill>
                <a:latin typeface="Microsoft YaHei UI"/>
              </a:rPr>
              <a:t>【注释（下）】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取天下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治理天下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194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常以无事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经常用无事的方法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3463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及其有事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8346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如果有了人为的妄为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474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E"/>
                </a:solidFill>
                <a:latin typeface="Microsoft YaHei UI"/>
              </a:rPr>
              <a:t>不足以取天下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就不能够治理天下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A90D9"/>
                </a:solidFill>
                <a:latin typeface="Microsoft YaHei UI"/>
              </a:rPr>
              <a:t>第八十七章 · 核心义理与启示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0" cy="5394960"/>
          </a:xfrm>
          <a:prstGeom prst="rect">
            <a:avLst/>
          </a:prstGeom>
          <a:solidFill>
            <a:srgbClr val="0F1E3C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0D9"/>
                </a:solidFill>
                <a:latin typeface="Microsoft YaHei UI"/>
              </a:rPr>
              <a:t>【核心义理】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4937760" cy="274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为学日益，为道日损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学习知识要每天增加，追求大道要每天减少。增加知识，减少欲望；增加智慧，减少妄为。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损之又损，以至于无为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不断减少，减少到极致，就是无为。无为不是什么都不做，而是不妄为。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无为而无不为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因为不妄为，所以什么事都能做成。顺其自然，不加强制，反而什么都成了。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取天下常以无事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治理天下要用无事的方法，不过多干预，让人民自然发展。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97280"/>
            <a:ext cx="5669280" cy="5394960"/>
          </a:xfrm>
          <a:prstGeom prst="rect">
            <a:avLst/>
          </a:prstGeom>
          <a:solidFill>
            <a:srgbClr val="0F1E3C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90D9"/>
                </a:solidFill>
                <a:latin typeface="Microsoft YaHei UI"/>
              </a:rPr>
              <a:t>【人生启示】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5303520" cy="274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做减法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人生要学会做减法。减少不必要的欲望、减少不必要的社交、减少不必要的忧虑。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顺其自然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不强求，不妄为，让事情按照它自己的规律发展。有时候不做事比做事更重要。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无为而治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在管理中，不是管得越多越好。适当的放手，让团队自主发展，往往效果更好。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少则得，多则惑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E8F0F8"/>
                </a:solidFill>
                <a:latin typeface="Microsoft YaHei UI"/>
              </a:rPr>
              <a:t>欲望少的人得到的多，欲望多的人反而困惑。简单生活，才是大道。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3A6E"/>
                </a:solidFill>
                <a:latin typeface="Microsoft YaHei UI"/>
              </a:rPr>
              <a:t>三章总结 · 智慧贯穿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5486400"/>
          </a:xfrm>
          <a:prstGeom prst="rect">
            <a:avLst/>
          </a:prstGeom>
          <a:solidFill>
            <a:srgbClr val="FFFFFF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3A6E"/>
                </a:solidFill>
                <a:latin typeface="Microsoft YaHei UI"/>
              </a:rPr>
              <a:t>第八十五章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3A6E"/>
                </a:solidFill>
                <a:latin typeface="Microsoft YaHei UI"/>
              </a:rPr>
              <a:t>知足者富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3108960" cy="274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6E"/>
                </a:solidFill>
                <a:latin typeface="KaiTi"/>
              </a:rPr>
              <a:t>知足之道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罪莫大于可欲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472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祸莫大于不知足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142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咎莫大于欲得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5811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知足之足，常足矣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1097280"/>
            <a:ext cx="3657600" cy="5486400"/>
          </a:xfrm>
          <a:prstGeom prst="rect">
            <a:avLst/>
          </a:prstGeom>
          <a:solidFill>
            <a:srgbClr val="FFFFFF"/>
          </a:solidFill>
          <a:ln>
            <a:solidFill>
              <a:srgbClr val="2C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5A8C"/>
                </a:solidFill>
                <a:latin typeface="Microsoft YaHei UI"/>
              </a:rPr>
              <a:t>第八十六章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15544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C5A8C"/>
                </a:solidFill>
                <a:latin typeface="Microsoft YaHei UI"/>
              </a:rPr>
              <a:t>上善若水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98848" y="2240280"/>
            <a:ext cx="3108960" cy="27432"/>
          </a:xfrm>
          <a:prstGeom prst="rect">
            <a:avLst/>
          </a:prstGeom>
          <a:solidFill>
            <a:srgbClr val="2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4528" y="2331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5A8C"/>
                </a:solidFill>
                <a:latin typeface="KaiTi"/>
              </a:rPr>
              <a:t>不争之道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水善利万物而不争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34472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处众人之所恶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40142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夫唯不争，故无尤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45811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水之七善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3296" y="1097280"/>
            <a:ext cx="3657600" cy="5486400"/>
          </a:xfrm>
          <a:prstGeom prst="rect">
            <a:avLst/>
          </a:prstGeom>
          <a:solidFill>
            <a:srgbClr val="FFFFFF"/>
          </a:solidFill>
          <a:ln>
            <a:solidFill>
              <a:srgbClr val="1A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3296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3A6E"/>
                </a:solidFill>
                <a:latin typeface="Microsoft YaHei UI"/>
              </a:rPr>
              <a:t>第八十七章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15544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3A6E"/>
                </a:solidFill>
                <a:latin typeface="Microsoft YaHei UI"/>
              </a:rPr>
              <a:t>无为之治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57616" y="2240280"/>
            <a:ext cx="3108960" cy="27432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3296" y="2331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A6E"/>
                </a:solidFill>
                <a:latin typeface="KaiTi"/>
              </a:rPr>
              <a:t>无为之境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为道日损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34472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损之又损，以至于无为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40142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无为而无不为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45811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icrosoft YaHei UI"/>
              </a:rPr>
              <a:t>• 取天下常以无事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9445752" cy="4663440"/>
          </a:xfrm>
          <a:prstGeom prst="rect">
            <a:avLst/>
          </a:prstGeom>
          <a:solidFill>
            <a:srgbClr val="0F2A4F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A90D9"/>
                </a:solidFill>
                <a:latin typeface="Microsoft YaHei UI"/>
              </a:rPr>
              <a:t>今日要点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148840"/>
            <a:ext cx="3959352" cy="274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331720"/>
            <a:ext cx="8869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50"/>
              </a:spcAft>
            </a:pPr>
            <a:r>
              <a:rPr sz="1700" b="0">
                <a:solidFill>
                  <a:srgbClr val="E8F0F8"/>
                </a:solidFill>
                <a:latin typeface="Microsoft YaHei UI"/>
              </a:rPr>
              <a:t>第八十五章：知足之道——罪莫大于可欲，祸莫大于不知足，知足之足，常足矣。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E8F0F8"/>
                </a:solidFill>
                <a:latin typeface="Microsoft YaHei UI"/>
              </a:rPr>
              <a:t>第八十六章：不争之道——上善若水，水善利万物而不争，夫唯不争，故无尤。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E8F0F8"/>
                </a:solidFill>
                <a:latin typeface="Microsoft YaHei UI"/>
              </a:rPr>
              <a:t>第八十七章：无为之境——为道日损，损之又损，以至于无为，无为而无不为。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3776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4A90D9"/>
                </a:solidFill>
                <a:latin typeface="KaiTi"/>
              </a:rPr>
              <a:t>知足者富，上善若水，无为而无不为。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577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F0F8"/>
                </a:solidFill>
                <a:latin typeface="Microsoft YaHei UI"/>
              </a:rPr>
              <a:t>—— 道德经 · 第八十五至八十七章 · 完 ——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