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201168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457200"/>
            <a:ext cx="10360152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《道德经》每日课件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463040"/>
            <a:ext cx="103601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600">
                <a:solidFill>
                  <a:srgbClr val="C8E6FF"/>
                </a:solidFill>
              </a:defRPr>
            </a:pPr>
            <a:r>
              <a:t>第8天 · 第二十二章 至 第二十四章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743200"/>
            <a:ext cx="10360152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666666"/>
                </a:solidFill>
              </a:defRPr>
            </a:pPr>
            <a:r>
              <a:t>2026年4月15日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3840480"/>
            <a:ext cx="9445752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>
                <a:solidFill>
                  <a:srgbClr val="003366"/>
                </a:solidFill>
                <a:latin typeface="KaiTi"/>
              </a:defRPr>
            </a:pPr>
            <a:r>
              <a:t>"曲则全，枉则直，洼则盈，敝则新"</a:t>
            </a:r>
          </a:p>
          <a:p>
            <a:pPr algn="ctr">
              <a:defRPr sz="1600">
                <a:solidFill>
                  <a:srgbClr val="666666"/>
                </a:solidFill>
              </a:defRPr>
            </a:pPr>
            <a:r>
              <a:t>—— 委曲求全，以退为进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FFFFF"/>
                </a:solidFill>
              </a:defRPr>
            </a:pPr>
            <a:r>
              <a:t>第二十二章｜曲则全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10725912" cy="1463040"/>
          </a:xfrm>
          <a:prstGeom prst="roundRect">
            <a:avLst/>
          </a:prstGeom>
          <a:solidFill>
            <a:srgbClr val="F0F8FF"/>
          </a:solidFill>
          <a:ln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0" rIns="254000"/>
          <a:lstStyle/>
          <a:p>
            <a:pPr algn="ctr">
              <a:defRPr sz="2000">
                <a:solidFill>
                  <a:srgbClr val="003366"/>
                </a:solidFill>
                <a:latin typeface="KaiTi"/>
              </a:defRPr>
            </a:pPr>
            <a:r>
              <a:t>曲则全，枉则直，洼则盈，敝则新，少则得，多则惑。</a:t>
            </a:r>
            <a:br/>
            <a:r>
              <a:t>是以圣人抱一为天下式。不自见，故明；不自是，故彰；</a:t>
            </a:r>
            <a:br/>
            <a:r>
              <a:t>不自伐，故有功；不自矜，故长。夫唯不争，故天下莫能与之争。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10725912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CC0000"/>
                </a:solidFill>
              </a:defRPr>
            </a:pPr>
            <a:r>
              <a:t>白话解读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834640"/>
            <a:ext cx="10725912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>
                <a:solidFill>
                  <a:srgbClr val="333333"/>
                </a:solidFill>
              </a:defRPr>
            </a:pPr>
            <a:r>
              <a:t>→ 弯曲才能保全，屈枉才能伸直，低洼才能盈满，破旧才能更新。</a:t>
            </a:r>
          </a:p>
          <a:p>
            <a:pPr>
              <a:spcAft>
                <a:spcPts val="1000"/>
              </a:spcAft>
              <a:defRPr sz="1700">
                <a:solidFill>
                  <a:srgbClr val="333333"/>
                </a:solidFill>
              </a:defRPr>
            </a:pPr>
            <a:r>
              <a:t>→ 少取反而多得，贪多反而迷惑。圣人坚守"道"作为天下的法则。</a:t>
            </a:r>
          </a:p>
          <a:p>
            <a:pPr>
              <a:spcAft>
                <a:spcPts val="1000"/>
              </a:spcAft>
              <a:defRPr sz="1700">
                <a:solidFill>
                  <a:srgbClr val="333333"/>
                </a:solidFill>
              </a:defRPr>
            </a:pPr>
            <a:r>
              <a:t>→ 不自我炫耀，反而更显眼；不自以为是，反而更彰显；</a:t>
            </a:r>
          </a:p>
          <a:p>
            <a:pPr>
              <a:spcAft>
                <a:spcPts val="1000"/>
              </a:spcAft>
              <a:defRPr sz="1700">
                <a:solidFill>
                  <a:srgbClr val="333333"/>
                </a:solidFill>
              </a:defRPr>
            </a:pPr>
            <a:r>
              <a:t>→ 不自我夸耀，反而有功劳；不骄傲自满，反而能长久。</a:t>
            </a:r>
          </a:p>
          <a:p>
            <a:pPr>
              <a:spcAft>
                <a:spcPts val="1000"/>
              </a:spcAft>
              <a:defRPr sz="1700">
                <a:solidFill>
                  <a:srgbClr val="333333"/>
                </a:solidFill>
              </a:defRPr>
            </a:pPr>
            <a:r>
              <a:t>→ 正因为不与人争，所以天下没有人能与他相争。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4846320"/>
            <a:ext cx="10725912" cy="1463040"/>
          </a:xfrm>
          <a:prstGeom prst="round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FFDC50"/>
                </a:solidFill>
              </a:defRPr>
            </a:pPr>
            <a:r>
              <a:t>💡 核心智慧：柔弱胜刚强，以退为进</a:t>
            </a:r>
          </a:p>
          <a:p>
            <a:pPr>
              <a:defRPr sz="1500">
                <a:solidFill>
                  <a:srgbClr val="DCF0FF"/>
                </a:solidFill>
              </a:defRPr>
            </a:pPr>
            <a:r>
              <a:t>  • 不争不是消极退缩，而是顺应规律、自然而然地成就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FFFFF"/>
                </a:solidFill>
              </a:defRPr>
            </a:pPr>
            <a:r>
              <a:t>第二十二章｜典故案例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725912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CC0000"/>
                </a:solidFill>
              </a:defRPr>
            </a:pPr>
            <a:r>
              <a:t>历史典故：孙膑与庞涓（减灶计）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10725912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>
                <a:solidFill>
                  <a:srgbClr val="333333"/>
                </a:solidFill>
              </a:defRPr>
            </a:pPr>
            <a:r>
              <a:t>【背景】战国时期，孙膑与庞涓同门，庞涓忌惮孙膑之才，加害于他。</a:t>
            </a:r>
          </a:p>
          <a:p>
            <a:pPr>
              <a:spcAft>
                <a:spcPts val="1000"/>
              </a:spcAft>
              <a:defRPr sz="1700">
                <a:solidFill>
                  <a:srgbClr val="333333"/>
                </a:solidFill>
              </a:defRPr>
            </a:pPr>
            <a:r>
              <a:t>【策略】孙膑逃至齐国。庞涓率魏军攻韩，齐国派孙膑援救。</a:t>
            </a:r>
          </a:p>
          <a:p>
            <a:pPr>
              <a:spcAft>
                <a:spcPts val="1000"/>
              </a:spcAft>
              <a:defRPr sz="1700">
                <a:solidFill>
                  <a:srgbClr val="333333"/>
                </a:solidFill>
              </a:defRPr>
            </a:pPr>
          </a:p>
          <a:p>
            <a:pPr>
              <a:spcAft>
                <a:spcPts val="1000"/>
              </a:spcAft>
              <a:defRPr sz="1700">
                <a:solidFill>
                  <a:srgbClr val="333333"/>
                </a:solidFill>
              </a:defRPr>
            </a:pPr>
            <a:r>
              <a:t>孙膑令齐军入魏境后逐日减少军灶：第一天十万，第二日五万，第三日三万。</a:t>
            </a:r>
          </a:p>
          <a:p>
            <a:pPr>
              <a:spcAft>
                <a:spcPts val="1000"/>
              </a:spcAft>
              <a:defRPr sz="1700">
                <a:solidFill>
                  <a:srgbClr val="333333"/>
                </a:solidFill>
              </a:defRPr>
            </a:pPr>
          </a:p>
          <a:p>
            <a:pPr>
              <a:spcAft>
                <a:spcPts val="1000"/>
              </a:spcAft>
              <a:defRPr sz="1700">
                <a:solidFill>
                  <a:srgbClr val="333333"/>
                </a:solidFill>
              </a:defRPr>
            </a:pPr>
            <a:r>
              <a:t>【结果】庞涓见灶减，误以为齐军怯懦逃散，率轻骑追击。</a:t>
            </a:r>
          </a:p>
          <a:p>
            <a:pPr>
              <a:spcAft>
                <a:spcPts val="1000"/>
              </a:spcAft>
              <a:defRPr sz="1700">
                <a:solidFill>
                  <a:srgbClr val="333333"/>
                </a:solidFill>
              </a:defRPr>
            </a:pPr>
            <a:r>
              <a:t>孙膑在马陵设伏，庞涓兵败自刎。</a:t>
            </a:r>
          </a:p>
          <a:p>
            <a:pPr>
              <a:spcAft>
                <a:spcPts val="1000"/>
              </a:spcAft>
              <a:defRPr sz="1700">
                <a:solidFill>
                  <a:srgbClr val="333333"/>
                </a:solidFill>
              </a:defRPr>
            </a:pPr>
          </a:p>
          <a:p>
            <a:pPr>
              <a:spcAft>
                <a:spcPts val="1000"/>
              </a:spcAft>
              <a:defRPr sz="1700">
                <a:solidFill>
                  <a:srgbClr val="333333"/>
                </a:solidFill>
              </a:defRPr>
            </a:pPr>
            <a:r>
              <a:t>【感悟】孙膑"示弱"实为"曲则全"——减少灶数是主动示形，</a:t>
            </a:r>
          </a:p>
          <a:p>
            <a:pPr>
              <a:spcAft>
                <a:spcPts val="1000"/>
              </a:spcAft>
              <a:defRPr sz="1700">
                <a:solidFill>
                  <a:srgbClr val="333333"/>
                </a:solidFill>
              </a:defRPr>
            </a:pPr>
            <a:r>
              <a:t>让敌人做出错误判断，以退为进，以弱胜强。这正是老子"不争而天下莫能与之争"</a:t>
            </a:r>
          </a:p>
          <a:p>
            <a:pPr>
              <a:spcAft>
                <a:spcPts val="1000"/>
              </a:spcAft>
              <a:defRPr sz="1700">
                <a:solidFill>
                  <a:srgbClr val="333333"/>
                </a:solidFill>
              </a:defRPr>
            </a:pPr>
            <a:r>
              <a:t>的军事实践：不争一日之胜负，而争最终的全局胜利。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FFFFF"/>
                </a:solidFill>
              </a:defRPr>
            </a:pPr>
            <a:r>
              <a:t>第二十三章｜希言自然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10725912" cy="1463040"/>
          </a:xfrm>
          <a:prstGeom prst="roundRect">
            <a:avLst/>
          </a:prstGeom>
          <a:solidFill>
            <a:srgbClr val="F0F8FF"/>
          </a:solidFill>
          <a:ln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0" rIns="254000"/>
          <a:lstStyle/>
          <a:p>
            <a:pPr algn="ctr">
              <a:defRPr sz="2000">
                <a:solidFill>
                  <a:srgbClr val="003366"/>
                </a:solidFill>
                <a:latin typeface="KaiTi"/>
              </a:defRPr>
            </a:pPr>
            <a:r>
              <a:t>希言自然。故飘风不终朝，骤雨不终日。</a:t>
            </a:r>
            <a:br/>
            <a:r>
              <a:t>孰为此者？天地。天地尚不能久，而况于人乎？</a:t>
            </a:r>
            <a:br/>
            <a:r>
              <a:t>故从事于道者，道者同于道，德者同于德，失者同于失。</a:t>
            </a:r>
            <a:br/>
            <a:r>
              <a:t>同于道者，道亦乐得之；同于德者，德亦乐得之；同于失者，失亦乐得之。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10725912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CC0000"/>
                </a:solidFill>
              </a:defRPr>
            </a:pPr>
            <a:r>
              <a:t>白话解读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834640"/>
            <a:ext cx="10725912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>
                <a:solidFill>
                  <a:srgbClr val="333333"/>
                </a:solidFill>
              </a:defRPr>
            </a:pPr>
            <a:r>
              <a:t>→ 少说话才合乎自然。狂风刮不了一早晨，暴雨下不了一整天。</a:t>
            </a:r>
          </a:p>
          <a:p>
            <a:pPr>
              <a:spcAft>
                <a:spcPts val="1000"/>
              </a:spcAft>
              <a:defRPr sz="1700">
                <a:solidFill>
                  <a:srgbClr val="333333"/>
                </a:solidFill>
              </a:defRPr>
            </a:pPr>
            <a:r>
              <a:t>→ 谁造成这种现象？是天地。天地尚且不能长久，何况人呢？</a:t>
            </a:r>
          </a:p>
          <a:p>
            <a:pPr>
              <a:spcAft>
                <a:spcPts val="1000"/>
              </a:spcAft>
              <a:defRPr sz="1700">
                <a:solidFill>
                  <a:srgbClr val="333333"/>
                </a:solidFill>
              </a:defRPr>
            </a:pPr>
            <a:r>
              <a:t>→ 追求道的人，与道同行；追求德的人，与德同行；失去道德的人，则与失同行。</a:t>
            </a:r>
          </a:p>
          <a:p>
            <a:pPr>
              <a:spcAft>
                <a:spcPts val="1000"/>
              </a:spcAft>
              <a:defRPr sz="1700">
                <a:solidFill>
                  <a:srgbClr val="333333"/>
                </a:solidFill>
              </a:defRPr>
            </a:pPr>
            <a:r>
              <a:t>→ 与道同行的人，道也乐于成就他；与德同行的人，德也乐于成就他；</a:t>
            </a:r>
          </a:p>
          <a:p>
            <a:pPr>
              <a:spcAft>
                <a:spcPts val="1000"/>
              </a:spcAft>
              <a:defRPr sz="1700">
                <a:solidFill>
                  <a:srgbClr val="333333"/>
                </a:solidFill>
              </a:defRPr>
            </a:pPr>
            <a:r>
              <a:t>→ 与失同行的人，失去也会找上他。</a:t>
            </a:r>
          </a:p>
          <a:p>
            <a:pPr>
              <a:spcAft>
                <a:spcPts val="1000"/>
              </a:spcAft>
              <a:defRPr sz="1700">
                <a:solidFill>
                  <a:srgbClr val="333333"/>
                </a:solidFill>
              </a:defRPr>
            </a:pPr>
            <a:r>
              <a:t>→ 诚信不足，就会有人不信任你。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4846320"/>
            <a:ext cx="10725912" cy="1463040"/>
          </a:xfrm>
          <a:prstGeom prst="round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FFDC50"/>
                </a:solidFill>
              </a:defRPr>
            </a:pPr>
            <a:r>
              <a:t>💡 核心智慧：少言慎行，顺应自然节奏</a:t>
            </a:r>
          </a:p>
          <a:p>
            <a:pPr>
              <a:defRPr sz="1500">
                <a:solidFill>
                  <a:srgbClr val="DCF0FF"/>
                </a:solidFill>
              </a:defRPr>
            </a:pPr>
            <a:r>
              <a:t>  • 狂风骤雨虽猛烈却短暂，合道而行虽缓慢却长久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FFFFF"/>
                </a:solidFill>
              </a:defRPr>
            </a:pPr>
            <a:r>
              <a:t>第二十三章｜典故案例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725912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CC0000"/>
                </a:solidFill>
              </a:defRPr>
            </a:pPr>
            <a:r>
              <a:t>历史典故：诸葛亮七擒孟获（攻心为上）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10725912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>
                <a:solidFill>
                  <a:srgbClr val="333333"/>
                </a:solidFill>
              </a:defRPr>
            </a:pPr>
            <a:r>
              <a:t>【背景】蜀汉建兴三年，南方部落首领孟获起兵反抗。</a:t>
            </a:r>
          </a:p>
          <a:p>
            <a:pPr>
              <a:spcAft>
                <a:spcPts val="1000"/>
              </a:spcAft>
              <a:defRPr sz="1700">
                <a:solidFill>
                  <a:srgbClr val="333333"/>
                </a:solidFill>
              </a:defRPr>
            </a:pPr>
          </a:p>
          <a:p>
            <a:pPr>
              <a:spcAft>
                <a:spcPts val="1000"/>
              </a:spcAft>
              <a:defRPr sz="1700">
                <a:solidFill>
                  <a:srgbClr val="333333"/>
                </a:solidFill>
              </a:defRPr>
            </a:pPr>
            <a:r>
              <a:t>【策略】诸葛亮放弃"猛攻速胜"，采用"攻心为上"的柔性策略。</a:t>
            </a:r>
          </a:p>
          <a:p>
            <a:pPr>
              <a:spcAft>
                <a:spcPts val="1000"/>
              </a:spcAft>
              <a:defRPr sz="1700">
                <a:solidFill>
                  <a:srgbClr val="333333"/>
                </a:solidFill>
              </a:defRPr>
            </a:pPr>
            <a:r>
              <a:t>对孟获只捉不杀，前后共擒获七次，每一次都释放。</a:t>
            </a:r>
          </a:p>
          <a:p>
            <a:pPr>
              <a:spcAft>
                <a:spcPts val="1000"/>
              </a:spcAft>
              <a:defRPr sz="1700">
                <a:solidFill>
                  <a:srgbClr val="333333"/>
                </a:solidFill>
              </a:defRPr>
            </a:pPr>
          </a:p>
          <a:p>
            <a:pPr>
              <a:spcAft>
                <a:spcPts val="1000"/>
              </a:spcAft>
              <a:defRPr sz="1700">
                <a:solidFill>
                  <a:srgbClr val="333333"/>
                </a:solidFill>
              </a:defRPr>
            </a:pPr>
            <a:r>
              <a:t>第一次擒获后，孟获不服，诸葛亮一笑放他回去整顿军马。</a:t>
            </a:r>
          </a:p>
          <a:p>
            <a:pPr>
              <a:spcAft>
                <a:spcPts val="1000"/>
              </a:spcAft>
              <a:defRPr sz="1700">
                <a:solidFill>
                  <a:srgbClr val="333333"/>
                </a:solidFill>
              </a:defRPr>
            </a:pPr>
            <a:r>
              <a:t>第二次、第三次……每一次孟获都有理由不服，诸葛亮每一次都耐心再战。</a:t>
            </a:r>
          </a:p>
          <a:p>
            <a:pPr>
              <a:spcAft>
                <a:spcPts val="1000"/>
              </a:spcAft>
              <a:defRPr sz="1700">
                <a:solidFill>
                  <a:srgbClr val="333333"/>
                </a:solidFill>
              </a:defRPr>
            </a:pPr>
          </a:p>
          <a:p>
            <a:pPr>
              <a:spcAft>
                <a:spcPts val="1000"/>
              </a:spcAft>
              <a:defRPr sz="1700">
                <a:solidFill>
                  <a:srgbClr val="333333"/>
                </a:solidFill>
              </a:defRPr>
            </a:pPr>
            <a:r>
              <a:t>【结果】第七次擒获后，孟获终于心服："公，天威也！"南方从此安定。</a:t>
            </a:r>
          </a:p>
          <a:p>
            <a:pPr>
              <a:spcAft>
                <a:spcPts val="1000"/>
              </a:spcAft>
              <a:defRPr sz="1700">
                <a:solidFill>
                  <a:srgbClr val="333333"/>
                </a:solidFill>
              </a:defRPr>
            </a:pPr>
          </a:p>
          <a:p>
            <a:pPr>
              <a:spcAft>
                <a:spcPts val="1000"/>
              </a:spcAft>
              <a:defRPr sz="1700">
                <a:solidFill>
                  <a:srgbClr val="333333"/>
                </a:solidFill>
              </a:defRPr>
            </a:pPr>
            <a:r>
              <a:t>【感悟】诸葛亮深谙"飘风不终朝"之理——强力镇压如同飘风骤雨，来得快去得也快。</a:t>
            </a:r>
          </a:p>
          <a:p>
            <a:pPr>
              <a:spcAft>
                <a:spcPts val="1000"/>
              </a:spcAft>
              <a:defRPr sz="1700">
                <a:solidFill>
                  <a:srgbClr val="333333"/>
                </a:solidFill>
              </a:defRPr>
            </a:pPr>
            <a:r>
              <a:t>而"七擒七纵"如同道之"希言"，以最少的暴力换取最长久的和平，</a:t>
            </a:r>
          </a:p>
          <a:p>
            <a:pPr>
              <a:spcAft>
                <a:spcPts val="1000"/>
              </a:spcAft>
              <a:defRPr sz="1700">
                <a:solidFill>
                  <a:srgbClr val="333333"/>
                </a:solidFill>
              </a:defRPr>
            </a:pPr>
            <a:r>
              <a:t>正是本章"同于道者，道亦乐得之"的经典诠释。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FFFFF"/>
                </a:solidFill>
              </a:defRPr>
            </a:pPr>
            <a:r>
              <a:t>第二十四章｜企者不立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10725912" cy="1463040"/>
          </a:xfrm>
          <a:prstGeom prst="roundRect">
            <a:avLst/>
          </a:prstGeom>
          <a:solidFill>
            <a:srgbClr val="F0F8FF"/>
          </a:solidFill>
          <a:ln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0" rIns="254000"/>
          <a:lstStyle/>
          <a:p>
            <a:pPr algn="ctr">
              <a:defRPr sz="2000">
                <a:solidFill>
                  <a:srgbClr val="003366"/>
                </a:solidFill>
                <a:latin typeface="KaiTi"/>
              </a:defRPr>
            </a:pPr>
            <a:r>
              <a:t>企者不立，跨者不行，自见者不明，自是者不彰，</a:t>
            </a:r>
            <a:br/>
            <a:r>
              <a:t>自伐者无功，自矜者不长。</a:t>
            </a:r>
            <a:br/>
            <a:r>
              <a:t>其在道也，曰余食赘行，物或恶之，故有道者不处。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10725912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CC0000"/>
                </a:solidFill>
              </a:defRPr>
            </a:pPr>
            <a:r>
              <a:t>白话解读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834640"/>
            <a:ext cx="10725912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>
                <a:solidFill>
                  <a:srgbClr val="333333"/>
                </a:solidFill>
              </a:defRPr>
            </a:pPr>
            <a:r>
              <a:t>→ 踮起脚尖想要站得高，反而站不稳；大步快走想要走得快，反而走不远。</a:t>
            </a:r>
          </a:p>
          <a:p>
            <a:pPr>
              <a:spcAft>
                <a:spcPts val="1000"/>
              </a:spcAft>
              <a:defRPr sz="1700">
                <a:solidFill>
                  <a:srgbClr val="333333"/>
                </a:solidFill>
              </a:defRPr>
            </a:pPr>
            <a:r>
              <a:t>→ 固执己见的人，反而不能明白事理；自以为是的人，反而不能彰显才华；</a:t>
            </a:r>
          </a:p>
          <a:p>
            <a:pPr>
              <a:spcAft>
                <a:spcPts val="1000"/>
              </a:spcAft>
              <a:defRPr sz="1700">
                <a:solidFill>
                  <a:srgbClr val="333333"/>
                </a:solidFill>
              </a:defRPr>
            </a:pPr>
            <a:r>
              <a:t>→ 自我夸耀的人，反而没有功劳；骄傲自满的人，反而不能长久。</a:t>
            </a:r>
          </a:p>
          <a:p>
            <a:pPr>
              <a:spcAft>
                <a:spcPts val="1000"/>
              </a:spcAft>
              <a:defRPr sz="1700">
                <a:solidFill>
                  <a:srgbClr val="333333"/>
                </a:solidFill>
              </a:defRPr>
            </a:pPr>
            <a:r>
              <a:t>→ 从道的角度来看，这些行为如同剩饭赘瘤，连鬼神都会厌恶。</a:t>
            </a:r>
          </a:p>
          <a:p>
            <a:pPr>
              <a:spcAft>
                <a:spcPts val="1000"/>
              </a:spcAft>
              <a:defRPr sz="1700">
                <a:solidFill>
                  <a:srgbClr val="333333"/>
                </a:solidFill>
              </a:defRPr>
            </a:pPr>
            <a:r>
              <a:t>→ 所以有道之人决不这样做。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4846320"/>
            <a:ext cx="10725912" cy="1463040"/>
          </a:xfrm>
          <a:prstGeom prst="round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FFDC50"/>
                </a:solidFill>
              </a:defRPr>
            </a:pPr>
            <a:r>
              <a:t>💡 核心智慧：戒除矜夸，顺其自然</a:t>
            </a:r>
          </a:p>
          <a:p>
            <a:pPr>
              <a:defRPr sz="1500">
                <a:solidFill>
                  <a:srgbClr val="DCF0FF"/>
                </a:solidFill>
              </a:defRPr>
            </a:pPr>
            <a:r>
              <a:t>  • 过度用力适得其反，保持谦逊柔弱方为正道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FFFFF"/>
                </a:solidFill>
              </a:defRPr>
            </a:pPr>
            <a:r>
              <a:t>第二十四章｜典故案例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725912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CC0000"/>
                </a:solidFill>
              </a:defRPr>
            </a:pPr>
            <a:r>
              <a:t>历史典故：祢衡之死（才高而矜）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10725912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>
                <a:solidFill>
                  <a:srgbClr val="333333"/>
                </a:solidFill>
              </a:defRPr>
            </a:pPr>
            <a:r>
              <a:t>【背景】祢衡是东汉末年名士，极有才华，但性格傲慢，矜才自负。</a:t>
            </a:r>
          </a:p>
          <a:p>
            <a:pPr>
              <a:spcAft>
                <a:spcPts val="1000"/>
              </a:spcAft>
              <a:defRPr sz="1700">
                <a:solidFill>
                  <a:srgbClr val="333333"/>
                </a:solidFill>
              </a:defRPr>
            </a:pPr>
          </a:p>
          <a:p>
            <a:pPr>
              <a:spcAft>
                <a:spcPts val="1000"/>
              </a:spcAft>
              <a:defRPr sz="1700">
                <a:solidFill>
                  <a:srgbClr val="333333"/>
                </a:solidFill>
              </a:defRPr>
            </a:pPr>
            <a:r>
              <a:t>【言行】曹操召见他，他裸身击鼓羞辱曹操；后至刘表处，仍言语不敬；</a:t>
            </a:r>
          </a:p>
          <a:p>
            <a:pPr>
              <a:spcAft>
                <a:spcPts val="1000"/>
              </a:spcAft>
              <a:defRPr sz="1700">
                <a:solidFill>
                  <a:srgbClr val="333333"/>
                </a:solidFill>
              </a:defRPr>
            </a:pPr>
            <a:r>
              <a:t>黄祖性急，祢衡当众辱骂，黄祖忍无可忍，将其处斩，年仅二十五岁。</a:t>
            </a:r>
          </a:p>
          <a:p>
            <a:pPr>
              <a:spcAft>
                <a:spcPts val="1000"/>
              </a:spcAft>
              <a:defRPr sz="1700">
                <a:solidFill>
                  <a:srgbClr val="333333"/>
                </a:solidFill>
              </a:defRPr>
            </a:pPr>
          </a:p>
          <a:p>
            <a:pPr>
              <a:spcAft>
                <a:spcPts val="1000"/>
              </a:spcAft>
              <a:defRPr sz="1700">
                <a:solidFill>
                  <a:srgbClr val="333333"/>
                </a:solidFill>
              </a:defRPr>
            </a:pPr>
            <a:r>
              <a:t>【反思】祢衡之才不可否认，然"自矜者不长"——他的才华因过度自矜而反成祸端。</a:t>
            </a:r>
          </a:p>
          <a:p>
            <a:pPr>
              <a:spcAft>
                <a:spcPts val="1000"/>
              </a:spcAft>
              <a:defRPr sz="1700">
                <a:solidFill>
                  <a:srgbClr val="333333"/>
                </a:solidFill>
              </a:defRPr>
            </a:pPr>
            <a:r>
              <a:t>正如老子所言，"余食赘行，物或恶之"，傲才视同残羹赘疣，令人厌恶。</a:t>
            </a:r>
          </a:p>
          <a:p>
            <a:pPr>
              <a:spcAft>
                <a:spcPts val="1000"/>
              </a:spcAft>
              <a:defRPr sz="1700">
                <a:solidFill>
                  <a:srgbClr val="333333"/>
                </a:solidFill>
              </a:defRPr>
            </a:pPr>
          </a:p>
          <a:p>
            <a:pPr>
              <a:spcAft>
                <a:spcPts val="1000"/>
              </a:spcAft>
              <a:defRPr sz="1700">
                <a:solidFill>
                  <a:srgbClr val="333333"/>
                </a:solidFill>
              </a:defRPr>
            </a:pPr>
            <a:r>
              <a:t>【对比】同为才士，荀攸"成就功业而若愚"，贾诩"以谦自守而全身"。</a:t>
            </a:r>
          </a:p>
          <a:p>
            <a:pPr>
              <a:spcAft>
                <a:spcPts val="1000"/>
              </a:spcAft>
              <a:defRPr sz="1700">
                <a:solidFill>
                  <a:srgbClr val="333333"/>
                </a:solidFill>
              </a:defRPr>
            </a:pPr>
            <a:r>
              <a:t>真正有道之人，才华与谦逊并存，成就功业却不居功自傲。</a:t>
            </a:r>
          </a:p>
          <a:p>
            <a:pPr>
              <a:spcAft>
                <a:spcPts val="1000"/>
              </a:spcAft>
              <a:defRPr sz="1700">
                <a:solidFill>
                  <a:srgbClr val="333333"/>
                </a:solidFill>
              </a:defRPr>
            </a:pPr>
            <a:r>
              <a:t>老子警告的"自见、自是、自伐、自矜"，是成就大事的四块绊脚石。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FFFFF"/>
                </a:solidFill>
              </a:defRPr>
            </a:pPr>
            <a:r>
              <a:t>第二十二至二十四章 · 精华提炼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188720"/>
            <a:ext cx="3657600" cy="3657600"/>
          </a:xfrm>
          <a:prstGeom prst="roundRect">
            <a:avLst/>
          </a:prstGeom>
          <a:solidFill>
            <a:srgbClr val="F0F8FF"/>
          </a:solidFill>
          <a:ln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280160"/>
            <a:ext cx="33832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666666"/>
                </a:solidFill>
              </a:defRPr>
            </a:pPr>
            <a:r>
              <a:t>第二十二章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1691640"/>
            <a:ext cx="33832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03366"/>
                </a:solidFill>
              </a:defRPr>
            </a:pPr>
            <a:r>
              <a:t>曲则全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2377440"/>
            <a:ext cx="33832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333333"/>
                </a:solidFill>
              </a:defRPr>
            </a:pPr>
            <a:r>
              <a:t>• 柔弱胜刚强，不争而天下莫能争</a:t>
            </a:r>
          </a:p>
          <a:p>
            <a:pPr>
              <a:spcAft>
                <a:spcPts val="800"/>
              </a:spcAft>
              <a:defRPr sz="1400">
                <a:solidFill>
                  <a:srgbClr val="333333"/>
                </a:solidFill>
              </a:defRPr>
            </a:pPr>
            <a:r>
              <a:t>• 委曲求全，以退为进</a:t>
            </a:r>
          </a:p>
          <a:p>
            <a:pPr>
              <a:spcAft>
                <a:spcPts val="800"/>
              </a:spcAft>
              <a:defRPr sz="1400">
                <a:solidFill>
                  <a:srgbClr val="333333"/>
                </a:solidFill>
              </a:defRPr>
            </a:pPr>
            <a:r>
              <a:t>• 抱一为天下式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97680" y="1188720"/>
            <a:ext cx="3657600" cy="3657600"/>
          </a:xfrm>
          <a:prstGeom prst="roundRect">
            <a:avLst/>
          </a:prstGeom>
          <a:solidFill>
            <a:srgbClr val="F0F8FF"/>
          </a:solidFill>
          <a:ln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434840" y="1280160"/>
            <a:ext cx="33832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666666"/>
                </a:solidFill>
              </a:defRPr>
            </a:pPr>
            <a:r>
              <a:t>第二十三章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34840" y="1691640"/>
            <a:ext cx="33832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03366"/>
                </a:solidFill>
              </a:defRPr>
            </a:pPr>
            <a:r>
              <a:t>希言自然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34840" y="2377440"/>
            <a:ext cx="33832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333333"/>
                </a:solidFill>
              </a:defRPr>
            </a:pPr>
            <a:r>
              <a:t>• 少言慎行，顺应天地节奏</a:t>
            </a:r>
          </a:p>
          <a:p>
            <a:pPr>
              <a:spcAft>
                <a:spcPts val="800"/>
              </a:spcAft>
              <a:defRPr sz="1400">
                <a:solidFill>
                  <a:srgbClr val="333333"/>
                </a:solidFill>
              </a:defRPr>
            </a:pPr>
            <a:r>
              <a:t>• 狂风骤雨不能久，平和恒久</a:t>
            </a:r>
          </a:p>
          <a:p>
            <a:pPr>
              <a:spcAft>
                <a:spcPts val="800"/>
              </a:spcAft>
              <a:defRPr sz="1400">
                <a:solidFill>
                  <a:srgbClr val="333333"/>
                </a:solidFill>
              </a:defRPr>
            </a:pPr>
            <a:r>
              <a:t>• 信不足焉，有不信焉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38160" y="1188720"/>
            <a:ext cx="3657600" cy="3657600"/>
          </a:xfrm>
          <a:prstGeom prst="roundRect">
            <a:avLst/>
          </a:prstGeom>
          <a:solidFill>
            <a:srgbClr val="F0F8FF"/>
          </a:solidFill>
          <a:ln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75320" y="1280160"/>
            <a:ext cx="33832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666666"/>
                </a:solidFill>
              </a:defRPr>
            </a:pPr>
            <a:r>
              <a:t>第二十四章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75320" y="1691640"/>
            <a:ext cx="33832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03366"/>
                </a:solidFill>
              </a:defRPr>
            </a:pPr>
            <a:r>
              <a:t>企者不立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75320" y="2377440"/>
            <a:ext cx="33832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333333"/>
                </a:solidFill>
              </a:defRPr>
            </a:pPr>
            <a:r>
              <a:t>• 戒除矜夸，不自见自是</a:t>
            </a:r>
          </a:p>
          <a:p>
            <a:pPr>
              <a:spcAft>
                <a:spcPts val="800"/>
              </a:spcAft>
              <a:defRPr sz="1400">
                <a:solidFill>
                  <a:srgbClr val="333333"/>
                </a:solidFill>
              </a:defRPr>
            </a:pPr>
            <a:r>
              <a:t>• 过度用力适得其反</a:t>
            </a:r>
          </a:p>
          <a:p>
            <a:pPr>
              <a:spcAft>
                <a:spcPts val="800"/>
              </a:spcAft>
              <a:defRPr sz="1400">
                <a:solidFill>
                  <a:srgbClr val="333333"/>
                </a:solidFill>
              </a:defRPr>
            </a:pPr>
            <a:r>
              <a:t>• 余食赘行，物或恶之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5029200"/>
            <a:ext cx="11274552" cy="1371600"/>
          </a:xfrm>
          <a:prstGeom prst="round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200" b="1">
                <a:solidFill>
                  <a:srgbClr val="FFDC50"/>
                </a:solidFill>
              </a:defRPr>
            </a:pPr>
            <a:r>
              <a:t>三章贯通：以柔克刚，顺其自然</a:t>
            </a:r>
          </a:p>
          <a:p>
            <a:pPr algn="ctr">
              <a:defRPr sz="1500">
                <a:solidFill>
                  <a:srgbClr val="C8E6FF"/>
                </a:solidFill>
              </a:defRPr>
            </a:pPr>
            <a:r>
              <a:t>核心心法：不自见、不自是、不自伐、不自矜 → 夫唯不争，故天下莫能与之争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