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2A1E1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C9A227"/>
                </a:solidFill>
                <a:latin typeface="Microsoft YaHei UI"/>
              </a:rPr>
              <a:t>道德经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0E6D0"/>
                </a:solidFill>
                <a:latin typeface="Microsoft YaHei UI"/>
              </a:rPr>
              <a:t>第二十六天 · 第七十九章至第八十一章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566160"/>
            <a:ext cx="4873752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9A227"/>
                </a:solidFill>
                <a:latin typeface="KaiTi"/>
              </a:rPr>
              <a:t>报怨以德 · 小国寡民 · 为而不争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E6D0"/>
                </a:solidFill>
                <a:latin typeface="Microsoft YaHei UI"/>
              </a:rPr>
              <a:t>三先生国学课件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B0000"/>
                </a:solidFill>
                <a:latin typeface="Microsoft YaHei UI"/>
              </a:rPr>
              <a:t>今日课程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FFFF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0000"/>
                </a:solidFill>
                <a:latin typeface="Microsoft YaHei UI"/>
              </a:rPr>
              <a:t>第七十九章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1A0F"/>
                </a:solidFill>
                <a:latin typeface="Microsoft YaHei UI"/>
              </a:rPr>
              <a:t>报怨以德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2926079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1A0F"/>
                </a:solidFill>
                <a:latin typeface="KaiTi"/>
              </a:rPr>
              <a:t>和大怨，必有余怨
安可以为善？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401A"/>
                </a:solidFill>
                <a:latin typeface="KaiTi"/>
              </a:rPr>
              <a:t>天道无亲，常与善人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474720" cy="5029200"/>
          </a:xfrm>
          <a:prstGeom prst="rect">
            <a:avLst/>
          </a:prstGeom>
          <a:solidFill>
            <a:srgbClr val="FFFF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0000"/>
                </a:solidFill>
                <a:latin typeface="Microsoft YaHei UI"/>
              </a:rPr>
              <a:t>第八十章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1A0F"/>
                </a:solidFill>
                <a:latin typeface="Microsoft YaHei UI"/>
              </a:rPr>
              <a:t>小国寡民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743200"/>
            <a:ext cx="2926079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1A0F"/>
                </a:solidFill>
                <a:latin typeface="KaiTi"/>
              </a:rPr>
              <a:t>小国寡民，使有什伯之器
而不用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401A"/>
                </a:solidFill>
                <a:latin typeface="KaiTi"/>
              </a:rPr>
              <a:t>邻国相望，鸡犬之声
相闻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474720" cy="5029200"/>
          </a:xfrm>
          <a:prstGeom prst="rect">
            <a:avLst/>
          </a:prstGeom>
          <a:solidFill>
            <a:srgbClr val="FFFFF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0000"/>
                </a:solidFill>
                <a:latin typeface="Microsoft YaHei UI"/>
              </a:rPr>
              <a:t>第八十一章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1A0F"/>
                </a:solidFill>
                <a:latin typeface="Microsoft YaHei UI"/>
              </a:rPr>
              <a:t>为而不争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2926079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1A0F"/>
                </a:solidFill>
                <a:latin typeface="KaiTi"/>
              </a:rPr>
              <a:t>信言不美，美言不信
善者不辩，辩者不善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401A"/>
                </a:solidFill>
                <a:latin typeface="KaiTi"/>
              </a:rPr>
              <a:t>天之道，利而不害
圣人之道，为而不争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E6D0"/>
                </a:solidFill>
                <a:latin typeface="Microsoft YaHei UI"/>
              </a:rPr>
              <a:t>第七十九章 · 报怨以德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1A0F"/>
                </a:solidFill>
                <a:latin typeface="KaiTi"/>
              </a:rPr>
              <a:t>和大怨，必有余怨，安可以为善？
是以圣人执左契，而不责于人。
有德司契，无德司彻。
天道无亲，常与善人。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solidFill>
            <a:srgbClr val="F8F4E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Microsoft YaHei UI"/>
              </a:rPr>
              <a:t>【注释】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大怨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深重的怨恨、仇怨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04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余怨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04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残余的怨恨、无法消除的怨气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执左契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7977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持有借据的存根。契：契约、借据。左契：债权人持有的凭证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55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责于人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5526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向人索取、追究。责：索取、讨债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0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司契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307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掌管契约的人，喻指有德者善于处理矛盾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司彻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负责收取田租的人，喻指斤斤计较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817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无亲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81727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没有偏爱、不偏不倚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5721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与善人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157215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帮助、赐福于善人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9A227"/>
                </a:solidFill>
                <a:latin typeface="Microsoft YaHei UI"/>
              </a:rPr>
              <a:t>第七十九章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2A1E1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和解怨恨的智慧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老子认为，怨恨即使被调和，也必有残余，无法真正达到善的境界。真正的智慧是不要结下怨恨。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圣人不责于人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圣人持有借据却不向人索取，展现的是一种宽容、仁慈的处世态度。不以怨恨回报怨恨。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有德与无德的对比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0E6D0"/>
                </a:solidFill>
                <a:latin typeface="Microsoft YaHei UI"/>
              </a:rPr>
              <a:t>有德者如掌管契约者，宽厚待人；无德者如掌管税收者，斤斤计较。天道公正，眷顾善人。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2A1E1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防怨胜于解怨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与其费尽心思化解矛盾，不如从一开始就不要与人结怨。预防问题比解决问题更重要。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宽容是一种智慧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当别人对不起我们时，选择宽容而非报复，这不是软弱，而是一种内在的力量和智慧。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积德行善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天道无亲，常与善人。不是老天偏心，而是善行会积累福报，最终回馈自身。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不斤斤计较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有德之人待人宽厚，不在小事上与人争执计较，人生格局自然提升。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E6D0"/>
                </a:solidFill>
                <a:latin typeface="Microsoft YaHei UI"/>
              </a:rPr>
              <a:t>第八十章 · 小国寡民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C1A0F"/>
                </a:solidFill>
                <a:latin typeface="KaiTi"/>
              </a:rPr>
              <a:t>小国寡民，使有什伯之器而不用，使民重死而不远徙。
虽有舟舆，无所乘之；虽有甲兵，无所陈之。
使民复结绳而用之。
甘其食，美其服，安其居，乐其俗。
邻国相望，鸡犬之声相闻，民至老死不相往来。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0E6D0"/>
                </a:solidFill>
                <a:latin typeface="Microsoft YaHei UI"/>
              </a:rPr>
              <a:t>第八十章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F8F4E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0000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小国寡民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国家小，人民少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什伯之器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各种各样的器具。什伯：多种多样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883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不需要使用，形容生活简朴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重死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55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重视死亡，即珍视生命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不远徙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2219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不向远方迁移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舟舆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船只和车辆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56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甲兵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560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铠甲和兵器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229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无所陈之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229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没有地方陈列使用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F8F4E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0000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54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结绳而用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用绳子打结记事，形容回归简朴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21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甘其食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以自己的食物为甘美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6883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美其服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6883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以自己的服饰为美好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552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安其居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25526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安于自己的居所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2219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乐其俗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82219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乐于自己的风俗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邻国相望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相邻的国家可以互相望见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560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鸡犬之声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9560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鸡鸣狗吠的声音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5229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不相往来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52297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彼此不互相往来交流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9A227"/>
                </a:solidFill>
                <a:latin typeface="Microsoft YaHei UI"/>
              </a:rPr>
              <a:t>第八十章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1E3A29"/>
          </a:solidFill>
          <a:ln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CA07D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小国寡民的理想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不是反对发展，而是追求一种适度、简朴的社会状态。国小民少，资源充足，纷争减少。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返璞归真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使民复结绳而用之，不是倒退，而是在物质极大丰富后，选择回归本真，简约生活。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知足常乐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甘其食，美其服，安其居，乐其俗。不追求奢华，但求满足。内心的富足才是真正的富足。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邻里的和谐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鸡犬之声相闻，却不相往来——不是冷漠，而是不互相干扰，各自安好。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1E3A29"/>
          </a:solidFill>
          <a:ln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CA07D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知足者富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不是拥有得多才富，而是知道满足、不贪求的人，才是真正的富足。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简化生活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减少不必要的物质追求和欲望，把精力放在真正重要的事情上。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内心安宁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不攀比、不焦虑，安于当下，享受已有的生活。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和谐共处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与邻为善，但不互相干涉。保持适度的距离，反而更能长久。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0E6D0"/>
                </a:solidFill>
                <a:latin typeface="Microsoft YaHei UI"/>
              </a:rPr>
              <a:t>第八十一章 · 为而不争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1A0F"/>
                </a:solidFill>
                <a:latin typeface="KaiTi"/>
              </a:rPr>
              <a:t>信言不美，美言不信。
善者不辩，辩者不善。
知者不博，博者不知。
圣人不积，既以为人己愈有，既以与人己愈多。
天之道，利而不害；
圣人之道，为而不争。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0E6D0"/>
                </a:solidFill>
                <a:latin typeface="Microsoft YaHei UI"/>
              </a:rPr>
              <a:t>第八十一章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F8F4E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B0000"/>
                </a:solidFill>
                <a:latin typeface="Microsoft YaHei UI"/>
              </a:rPr>
              <a:t>【注释】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信言不美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真实的话不华美。花言巧语往往不真实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美言不信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305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华美的话不真实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066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善者不辩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066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真正善良的人不需要争辩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辩者不善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82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善于争辩的人不一定善良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587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知者不博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587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真正有智慧的人不一定博学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博者不知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博学的人不一定有真智慧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109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圣人不积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1091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圣人不为自己积蓄（财富）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F8F4E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为人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帮助别人、给予别人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愈有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1305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更加富有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066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与人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7066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给予别人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愈多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28269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更加丰富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5876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利而不害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8587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利益万物而不伤害万物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Microsoft YaHei UI"/>
              </a:rPr>
              <a:t>为而不争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434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1A0F"/>
                </a:solidFill>
                <a:latin typeface="Microsoft YaHei UI"/>
              </a:rPr>
              <a:t>有所作为但不与人争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9A227"/>
                </a:solidFill>
                <a:latin typeface="Microsoft YaHei UI"/>
              </a:rPr>
              <a:t>第八十一章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9AD4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真假与美丑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真实的话往往不漂亮，漂亮的话往往不真实。这是老子对表象与本质的深刻洞察。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善与辩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真正的善不需要自我辩解，真正有智慧的人不追求博学。内在的品德胜于外在的表现。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给予即是获得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越给予别人，自己越富有；越帮助别人，自己越充足。这是宇宙的法则。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为而不争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天之道是利益万物而不伤害，圣人之道是有所作为但不争竞。这是最妙的道。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A9AD4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真诚为本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说话做事以真诚为根本，不要为了好听而说假话。真诚的人最有力量。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少说多做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少一些无谓的争辩，多一些实际的行动。用结果说话，比用嘴巴说服更有力。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助人即助己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帮助他人不是失去，而是得到。给予本身就是最大的回报。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不争的智慧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F0E6D0"/>
                </a:solidFill>
                <a:latin typeface="Microsoft YaHei UI"/>
              </a:rPr>
              <a:t>不争，不是消极不作为，而是不计较得失、不与人争锋。夫唯不争，天下莫能与之争。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B0000"/>
                </a:solidFill>
                <a:latin typeface="Microsoft YaHei UI"/>
              </a:rPr>
              <a:t>三章总结 · 智慧贯穿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FFFF8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0000"/>
                </a:solidFill>
                <a:latin typeface="Microsoft YaHei UI"/>
              </a:rPr>
              <a:t>第七十九章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0000"/>
                </a:solidFill>
                <a:latin typeface="Microsoft YaHei UI"/>
              </a:rPr>
              <a:t>报怨以德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108960" cy="2743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KaiTi"/>
              </a:rPr>
              <a:t>宽恕之道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和解怨恨的智慧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宽容不责于人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天道常与善人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有德司契，无德司彻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097280"/>
            <a:ext cx="3657600" cy="5486400"/>
          </a:xfrm>
          <a:prstGeom prst="rect">
            <a:avLst/>
          </a:prstGeom>
          <a:solidFill>
            <a:srgbClr val="FFFFF8"/>
          </a:solidFill>
          <a:ln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6E49"/>
                </a:solidFill>
                <a:latin typeface="Microsoft YaHei UI"/>
              </a:rPr>
              <a:t>第八十章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6E49"/>
                </a:solidFill>
                <a:latin typeface="Microsoft YaHei UI"/>
              </a:rPr>
              <a:t>小国寡民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240280"/>
            <a:ext cx="3108960" cy="2743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6E49"/>
                </a:solidFill>
                <a:latin typeface="KaiTi"/>
              </a:rPr>
              <a:t>知足之道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知足常乐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返璞归真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甘其食，美其服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安居乐俗，不相往来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097280"/>
            <a:ext cx="3657600" cy="5486400"/>
          </a:xfrm>
          <a:prstGeom prst="rect">
            <a:avLst/>
          </a:prstGeom>
          <a:solidFill>
            <a:srgbClr val="FFFF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第八十一章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为而不争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无为之境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信言不美，美言不信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善者不辩，辩者不善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为人愈有，与人愈多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1A0F"/>
                </a:solidFill>
                <a:latin typeface="Microsoft YaHei UI"/>
              </a:rPr>
              <a:t>• 天之道，利而不害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2A1E1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Microsoft YaHei UI"/>
              </a:rPr>
              <a:t>今日要点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148840"/>
            <a:ext cx="3959352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8869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F0E6D0"/>
                </a:solidFill>
                <a:latin typeface="Microsoft YaHei UI"/>
              </a:rPr>
              <a:t>第七十九章：宽容之道——报怨以德，不责于人，天道无亲，常与善人。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0E6D0"/>
                </a:solidFill>
                <a:latin typeface="Microsoft YaHei UI"/>
              </a:rPr>
              <a:t>第八十章：知足之道——甘其食，美其服，安其居，乐其俗，不相往来。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0E6D0"/>
                </a:solidFill>
                <a:latin typeface="Microsoft YaHei UI"/>
              </a:rPr>
              <a:t>第八十一章：无为之境——为而不争，利而不害，既以与人己愈多。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KaiTi"/>
              </a:rPr>
              <a:t>天之道，利而不害；圣人之道，为而不争。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0E6D0"/>
                </a:solidFill>
                <a:latin typeface="Microsoft YaHei UI"/>
              </a:rPr>
              <a:t>—— 道德经 · 第七十九至八十一章 · 完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