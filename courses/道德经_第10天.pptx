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000" b="1"/>
            </a:pPr>
            <a:r>
              <a:t>国学经典24章 · 第十课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292608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/>
            </a:pPr>
            <a:r>
              <a:t>《道德经》第31-33章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6576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/>
            </a:pPr>
            <a:r>
              <a:t>夫佳兵者 · 知人者智 · 大道泛兮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57200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/>
            </a:pPr>
            <a:r>
              <a:t>慎武知止 · 自知自胜 · 道法自然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548640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/>
            </a:pPr>
            <a:r>
              <a:t>2026年4月17日 · 第10天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第三十一章 · 夫佳兵者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/>
            </a:pPr>
            <a:r>
              <a:t>【原文】</a:t>
            </a:r>
          </a:p>
          <a:p>
            <a:pPr>
              <a:defRPr sz="1600"/>
            </a:pPr>
            <a:r>
              <a:t>夫佳兵者，不祥之器，物或恶之，故有道者不处。</a:t>
            </a:r>
          </a:p>
          <a:p>
            <a:pPr>
              <a:defRPr sz="1600"/>
            </a:pPr>
            <a:r>
              <a:t>君子居则贵左，用兵则贵右。</a:t>
            </a:r>
          </a:p>
          <a:p>
            <a:pPr>
              <a:defRPr sz="1600"/>
            </a:pPr>
            <a:r>
              <a:t>兵者不祥之器，非君子之器，不得已而用之，恬淡为上。</a:t>
            </a:r>
          </a:p>
          <a:p>
            <a:pPr>
              <a:defRPr sz="1600"/>
            </a:pPr>
          </a:p>
          <a:p>
            <a:pPr>
              <a:defRPr sz="1600"/>
            </a:pPr>
            <a:r>
              <a:t>【白话解读】</a:t>
            </a:r>
          </a:p>
          <a:p>
            <a:pPr>
              <a:defRPr sz="1600"/>
            </a:pPr>
            <a:r>
              <a:t>• 夫佳兵者，不祥之器：武力是凶器，有道之人不用</a:t>
            </a:r>
          </a:p>
          <a:p>
            <a:pPr>
              <a:defRPr sz="1600"/>
            </a:pPr>
            <a:r>
              <a:t>• 物或恶之：万物都厌恶它</a:t>
            </a:r>
          </a:p>
          <a:p>
            <a:pPr>
              <a:defRPr sz="1600"/>
            </a:pPr>
            <a:r>
              <a:t>• 有道者不处：有道之人选择远离</a:t>
            </a:r>
          </a:p>
          <a:p>
            <a:pPr>
              <a:defRPr sz="1600"/>
            </a:pPr>
            <a:r>
              <a:t>• 恬淡为上：最好保持淡漠宁静的心态</a:t>
            </a:r>
          </a:p>
          <a:p>
            <a:pPr>
              <a:defRPr sz="1600"/>
            </a:pPr>
            <a:r>
              <a:t>• 不得已而用之：只有在迫不得已时才动用武力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0" y="6400800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/>
            </a:pPr>
            <a:r>
              <a:t>2/10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第三十一章 · 生活智慧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/>
            </a:pPr>
            <a:r>
              <a:t>🌟 核心智慧</a:t>
            </a:r>
          </a:p>
          <a:p>
            <a:pPr>
              <a:defRPr sz="1600"/>
            </a:pPr>
            <a:r>
              <a:t>慎武知止——穷兵黩武必遭反噬，恬淡宁静才是正道</a:t>
            </a:r>
          </a:p>
          <a:p>
            <a:pPr>
              <a:defRPr sz="1600"/>
            </a:pPr>
          </a:p>
          <a:p>
            <a:pPr>
              <a:defRPr sz="1600"/>
            </a:pPr>
            <a:r>
              <a:t>1. 不以力胜人</a:t>
            </a:r>
          </a:p>
          <a:p>
            <a:pPr>
              <a:defRPr sz="1600"/>
            </a:pPr>
            <a:r>
              <a:t>   发生冲突时，用武力威胁只会升级矛盾。真正的高手以德服人，让对方心服口服。</a:t>
            </a:r>
          </a:p>
          <a:p>
            <a:pPr>
              <a:defRPr sz="1600"/>
            </a:pPr>
          </a:p>
          <a:p>
            <a:pPr>
              <a:defRPr sz="1600"/>
            </a:pPr>
            <a:r>
              <a:t>2. 警惕"不得已"</a:t>
            </a:r>
          </a:p>
          <a:p>
            <a:pPr>
              <a:defRPr sz="1600"/>
            </a:pPr>
            <a:r>
              <a:t>   当你觉得"不得不"用强硬手段时，往往是情绪在作祟。冷静下来，总有第三条路。</a:t>
            </a:r>
          </a:p>
          <a:p>
            <a:pPr>
              <a:defRPr sz="1600"/>
            </a:pPr>
          </a:p>
          <a:p>
            <a:pPr>
              <a:defRPr sz="1600"/>
            </a:pPr>
            <a:r>
              <a:t>3. 团队管理中的"兵道"</a:t>
            </a:r>
          </a:p>
          <a:p>
            <a:pPr>
              <a:defRPr sz="1600"/>
            </a:pPr>
            <a:r>
              <a:t>   少用惩罚机制，多用激励机制。惩罚只能制止，激励才能激发。</a:t>
            </a:r>
          </a:p>
          <a:p>
            <a:pPr>
              <a:defRPr sz="1600"/>
            </a:pPr>
          </a:p>
          <a:p>
            <a:pPr>
              <a:defRPr sz="1600"/>
            </a:pPr>
            <a:r>
              <a:t>4. 恬淡为上的智慧</a:t>
            </a:r>
          </a:p>
          <a:p>
            <a:pPr>
              <a:defRPr sz="1600"/>
            </a:pPr>
            <a:r>
              <a:t>   保持内心淡漠，不被胜负欲冲昏头脑。赢了比赛，输了人心，值得吗？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0" y="6400800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/>
            </a:pPr>
            <a:r>
              <a:t>3/10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第三十二章 · 知人者智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/>
            </a:pPr>
            <a:r>
              <a:t>【原文】</a:t>
            </a:r>
          </a:p>
          <a:p>
            <a:pPr>
              <a:defRPr sz="1600"/>
            </a:pPr>
            <a:r>
              <a:t>知人者智，自知者明。</a:t>
            </a:r>
          </a:p>
          <a:p>
            <a:pPr>
              <a:defRPr sz="1600"/>
            </a:pPr>
            <a:r>
              <a:t>胜人者有力，自胜者强。</a:t>
            </a:r>
          </a:p>
          <a:p>
            <a:pPr>
              <a:defRPr sz="1600"/>
            </a:pPr>
            <a:r>
              <a:t>知足者富，强行者有志。</a:t>
            </a:r>
          </a:p>
          <a:p>
            <a:pPr>
              <a:defRPr sz="1600"/>
            </a:pPr>
            <a:r>
              <a:t>不失其所者久，死而不亡者寿。</a:t>
            </a:r>
          </a:p>
          <a:p>
            <a:pPr>
              <a:defRPr sz="1600"/>
            </a:pPr>
          </a:p>
          <a:p>
            <a:pPr>
              <a:defRPr sz="1600"/>
            </a:pPr>
            <a:r>
              <a:t>【白话解读】</a:t>
            </a:r>
          </a:p>
          <a:p>
            <a:pPr>
              <a:defRPr sz="1600"/>
            </a:pPr>
            <a:r>
              <a:t>• 知人者智：能了解别人的人是聪明的</a:t>
            </a:r>
          </a:p>
          <a:p>
            <a:pPr>
              <a:defRPr sz="1600"/>
            </a:pPr>
            <a:r>
              <a:t>• 自知者明：能了解自己的人是明智的</a:t>
            </a:r>
          </a:p>
          <a:p>
            <a:pPr>
              <a:defRPr sz="1600"/>
            </a:pPr>
            <a:r>
              <a:t>• 胜人者有力：能战胜别人的人是有力量的</a:t>
            </a:r>
          </a:p>
          <a:p>
            <a:pPr>
              <a:defRPr sz="1600"/>
            </a:pPr>
            <a:r>
              <a:t>• 自胜者强：能战胜自己的人是强大的</a:t>
            </a:r>
          </a:p>
          <a:p>
            <a:pPr>
              <a:defRPr sz="1600"/>
            </a:pPr>
            <a:r>
              <a:t>• 知足者富：知道满足的人是富有的</a:t>
            </a:r>
          </a:p>
          <a:p>
            <a:pPr>
              <a:defRPr sz="1600"/>
            </a:pPr>
            <a:r>
              <a:t>• 死而不亡者寿：精神不灭才是真正的长寿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0" y="6400800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/>
            </a:pPr>
            <a:r>
              <a:t>4/10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📜 典故：自知自胜的管理智慧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/>
            </a:pPr>
            <a:r>
              <a:t>【张良的智慧】</a:t>
            </a:r>
          </a:p>
          <a:p>
            <a:pPr>
              <a:defRPr sz="1600"/>
            </a:pPr>
            <a:r>
              <a:t>张良佐汉高祖定天下，封留侯。他深知"功高震主"的危险，功成身退，隐居修道。</a:t>
            </a:r>
          </a:p>
          <a:p>
            <a:pPr>
              <a:defRPr sz="1600"/>
            </a:pPr>
            <a:r>
              <a:t>刘邦后杀韩信、彭越，而张良独善其身——正是"自知者明，自胜者强"的最好例证。</a:t>
            </a:r>
          </a:p>
          <a:p>
            <a:pPr>
              <a:defRPr sz="1600"/>
            </a:pPr>
          </a:p>
          <a:p>
            <a:pPr>
              <a:defRPr sz="1600"/>
            </a:pPr>
            <a:r>
              <a:t>🐴 乾隆皇帝的教训</a:t>
            </a:r>
          </a:p>
          <a:p>
            <a:pPr>
              <a:defRPr sz="1600"/>
            </a:pPr>
            <a:r>
              <a:t>乾隆晚年宠信和珅，自以为"十全武功"，看不到自己的过失。</a:t>
            </a:r>
          </a:p>
          <a:p>
            <a:pPr>
              <a:defRPr sz="1600"/>
            </a:pPr>
            <a:r>
              <a:t>最终嘉庆抄和珅家，乾隆的晚年名声也毁于一旦——不知自胜，故不能强。</a:t>
            </a:r>
          </a:p>
          <a:p>
            <a:pPr>
              <a:defRPr sz="1600"/>
            </a:pPr>
          </a:p>
          <a:p>
            <a:pPr>
              <a:defRPr sz="1600"/>
            </a:pPr>
            <a:r>
              <a:t>【管理启示】</a:t>
            </a:r>
          </a:p>
          <a:p>
            <a:pPr>
              <a:defRPr sz="1600"/>
            </a:pPr>
            <a:r>
              <a:t>• 建立自省机制：定期反思，"自知者明"</a:t>
            </a:r>
          </a:p>
          <a:p>
            <a:pPr>
              <a:defRPr sz="1600"/>
            </a:pPr>
            <a:r>
              <a:t>• 战胜自己的弱点：傲慢、贪婪、急功近利</a:t>
            </a:r>
          </a:p>
          <a:p>
            <a:pPr>
              <a:defRPr sz="1600"/>
            </a:pPr>
            <a:r>
              <a:t>• 知足常乐：团队成功时懂得收手</a:t>
            </a:r>
          </a:p>
          <a:p>
            <a:pPr>
              <a:defRPr sz="1600"/>
            </a:pPr>
            <a:r>
              <a:t>• 功成不居：成绩归团队，风险我承担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0" y="6400800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/>
            </a:pPr>
            <a:r>
              <a:t>5/10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第三十三章 · 大道泛兮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/>
            </a:pPr>
            <a:r>
              <a:t>【原文】</a:t>
            </a:r>
          </a:p>
          <a:p>
            <a:pPr>
              <a:defRPr sz="1600"/>
            </a:pPr>
            <a:r>
              <a:t>大道泛兮，其可左右。</a:t>
            </a:r>
          </a:p>
          <a:p>
            <a:pPr>
              <a:defRPr sz="1600"/>
            </a:pPr>
            <a:r>
              <a:t>万物恃之而生而不辞，功成不名有。</a:t>
            </a:r>
          </a:p>
          <a:p>
            <a:pPr>
              <a:defRPr sz="1600"/>
            </a:pPr>
            <a:r>
              <a:t>衣养万物而不为主，常无欲，可名于小。</a:t>
            </a:r>
          </a:p>
          <a:p>
            <a:pPr>
              <a:defRPr sz="1600"/>
            </a:pPr>
            <a:r>
              <a:t>万物归焉而不为主，可名为大。</a:t>
            </a:r>
          </a:p>
          <a:p>
            <a:pPr>
              <a:defRPr sz="1600"/>
            </a:pPr>
            <a:r>
              <a:t>以其终不自为大，故能成其大。</a:t>
            </a:r>
          </a:p>
          <a:p>
            <a:pPr>
              <a:defRPr sz="1600"/>
            </a:pPr>
          </a:p>
          <a:p>
            <a:pPr>
              <a:defRPr sz="1600"/>
            </a:pPr>
            <a:r>
              <a:t>【白话解读】</a:t>
            </a:r>
          </a:p>
          <a:p>
            <a:pPr>
              <a:defRPr sz="1600"/>
            </a:pPr>
            <a:r>
              <a:t>• 大道泛兮：道广泛流行，无所不在</a:t>
            </a:r>
          </a:p>
          <a:p>
            <a:pPr>
              <a:defRPr sz="1600"/>
            </a:pPr>
            <a:r>
              <a:t>• 万物恃之而生：万物依靠道生存</a:t>
            </a:r>
          </a:p>
          <a:p>
            <a:pPr>
              <a:defRPr sz="1600"/>
            </a:pPr>
            <a:r>
              <a:t>• 功成不名有：成就了功业却不居功</a:t>
            </a:r>
          </a:p>
          <a:p>
            <a:pPr>
              <a:defRPr sz="1600"/>
            </a:pPr>
            <a:r>
              <a:t>• 衣养万物而不为主：养育万物却不做主人</a:t>
            </a:r>
          </a:p>
          <a:p>
            <a:pPr>
              <a:defRPr sz="1600"/>
            </a:pPr>
            <a:r>
              <a:t>• 常无欲：永远没有私欲</a:t>
            </a:r>
          </a:p>
          <a:p>
            <a:pPr>
              <a:defRPr sz="1600"/>
            </a:pPr>
            <a:r>
              <a:t>• 以其终不自为大，故能成其大：因为始终不自以为大，所以能成就其大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0" y="6400800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/>
            </a:pPr>
            <a:r>
              <a:t>6/10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📜 典故：道法自然的智慧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/>
            </a:pPr>
            <a:r>
              <a:t>【老子的理想】</a:t>
            </a:r>
          </a:p>
          <a:p>
            <a:pPr>
              <a:defRPr sz="1600"/>
            </a:pPr>
            <a:r>
              <a:t>道的伟大在于：生养万物却不占为己有，成就万物却不自居其功。</a:t>
            </a:r>
          </a:p>
          <a:p>
            <a:pPr>
              <a:defRPr sz="1600"/>
            </a:pPr>
            <a:r>
              <a:t>这正是"无功而成"的境界——不是"我"成就了什么，而是让万物自己成就。</a:t>
            </a:r>
          </a:p>
          <a:p>
            <a:pPr>
              <a:defRPr sz="1600"/>
            </a:pPr>
          </a:p>
          <a:p>
            <a:pPr>
              <a:defRPr sz="1600"/>
            </a:pPr>
            <a:r>
              <a:t>🌊 水善利万物而不争</a:t>
            </a:r>
          </a:p>
          <a:p>
            <a:pPr>
              <a:defRPr sz="1600"/>
            </a:pPr>
            <a:r>
              <a:t>水善利万物：滋养万物，生长庄稼</a:t>
            </a:r>
          </a:p>
          <a:p>
            <a:pPr>
              <a:defRPr sz="1600"/>
            </a:pPr>
            <a:r>
              <a:t>而不争：不与万物相争</a:t>
            </a:r>
          </a:p>
          <a:p>
            <a:pPr>
              <a:defRPr sz="1600"/>
            </a:pPr>
            <a:r>
              <a:t>处众人之所恶：甘居众人厌恶的低洼之地</a:t>
            </a:r>
          </a:p>
          <a:p>
            <a:pPr>
              <a:defRPr sz="1600"/>
            </a:pPr>
            <a:r>
              <a:t>故几于道：所以接近于道</a:t>
            </a:r>
          </a:p>
          <a:p>
            <a:pPr>
              <a:defRPr sz="1600"/>
            </a:pPr>
          </a:p>
          <a:p>
            <a:pPr>
              <a:defRPr sz="1600"/>
            </a:pPr>
            <a:r>
              <a:t>【现代启示】</a:t>
            </a:r>
          </a:p>
          <a:p>
            <a:pPr>
              <a:defRPr sz="1600"/>
            </a:pPr>
            <a:r>
              <a:t>• 真正的领导力是成就他人</a:t>
            </a:r>
          </a:p>
          <a:p>
            <a:pPr>
              <a:defRPr sz="1600"/>
            </a:pPr>
            <a:r>
              <a:t>• 不居功反而功成名就</a:t>
            </a:r>
          </a:p>
          <a:p>
            <a:pPr>
              <a:defRPr sz="1600"/>
            </a:pPr>
            <a:r>
              <a:t>• 越想控制，越会失去</a:t>
            </a:r>
          </a:p>
          <a:p>
            <a:pPr>
              <a:defRPr sz="1600"/>
            </a:pPr>
            <a:r>
              <a:t>• 放下"我"，成就"我们" 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0" y="6400800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/>
            </a:pPr>
            <a:r>
              <a:t>7/10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🌍 西方思想对照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/>
            </a:pPr>
            <a:r>
              <a:t>🇫🇷 卢梭 · "自然法" · 1754年</a:t>
            </a:r>
          </a:p>
          <a:p>
            <a:pPr>
              <a:defRPr sz="1600"/>
            </a:pPr>
            <a:r>
              <a:t>"道法自然"——顺应天道，无需强为。卢梭说：违背自然规律，必然受到惩罚。</a:t>
            </a:r>
          </a:p>
          <a:p>
            <a:pPr>
              <a:defRPr sz="1600"/>
            </a:pPr>
          </a:p>
          <a:p>
            <a:pPr>
              <a:defRPr sz="1600"/>
            </a:pPr>
            <a:r>
              <a:t>🇩🇪 黑格尔 · "辩证法" · 1807年</a:t>
            </a:r>
          </a:p>
          <a:p>
            <a:pPr>
              <a:defRPr sz="1600"/>
            </a:pPr>
            <a:r>
              <a:t>"正-反-合"的辩证发展——事物的矛盾运动推动历史前进，如同道的有无相生。</a:t>
            </a:r>
          </a:p>
          <a:p>
            <a:pPr>
              <a:defRPr sz="1600"/>
            </a:pPr>
          </a:p>
          <a:p>
            <a:pPr>
              <a:defRPr sz="1600"/>
            </a:pPr>
            <a:r>
              <a:t>🇺🇸 梭罗 · "瓦尔登湖" · 1849年</a:t>
            </a:r>
          </a:p>
          <a:p>
            <a:pPr>
              <a:defRPr sz="1600"/>
            </a:pPr>
            <a:r>
              <a:t>"简化生活，回归自然"——在工业化浪潮中，梭罗选择隐居，与道家的"返璞归真"异曲同工。</a:t>
            </a:r>
          </a:p>
          <a:p>
            <a:pPr>
              <a:defRPr sz="1600"/>
            </a:pPr>
          </a:p>
          <a:p>
            <a:pPr>
              <a:defRPr sz="1600"/>
            </a:pPr>
            <a:r>
              <a:t>🇬🇧 斯密 · "看不见的手" · 1776年</a:t>
            </a:r>
          </a:p>
          <a:p>
            <a:pPr>
              <a:defRPr sz="1600"/>
            </a:pPr>
            <a:r>
              <a:t>市场机制如同"道"——不需要政府刻意调控，自发秩序比强制安排更有效。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0" y="6400800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/>
            </a:pPr>
            <a:r>
              <a:t>8/10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💡 生活中的智慧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/>
            </a:pPr>
            <a:r>
              <a:t>🧘 每日自省</a:t>
            </a:r>
          </a:p>
          <a:p>
            <a:pPr>
              <a:defRPr sz="1600"/>
            </a:pPr>
            <a:r>
              <a:t>睡前静坐10分钟，问自己：今天战胜了自己的弱点吗？做到了"自知者明"吗？</a:t>
            </a:r>
          </a:p>
          <a:p>
            <a:pPr>
              <a:defRPr sz="1600"/>
            </a:pPr>
          </a:p>
          <a:p>
            <a:pPr>
              <a:defRPr sz="1600"/>
            </a:pPr>
            <a:r>
              <a:t>💼 领导力修炼</a:t>
            </a:r>
          </a:p>
          <a:p>
            <a:pPr>
              <a:defRPr sz="1600"/>
            </a:pPr>
            <a:r>
              <a:t>少发号施令，多成就他人。让团队成员感觉是自己的功劳，而非你在控制。</a:t>
            </a:r>
          </a:p>
          <a:p>
            <a:pPr>
              <a:defRPr sz="1600"/>
            </a:pPr>
          </a:p>
          <a:p>
            <a:pPr>
              <a:defRPr sz="1600"/>
            </a:pPr>
            <a:r>
              <a:t>❤️ 家庭关系</a:t>
            </a:r>
          </a:p>
          <a:p>
            <a:pPr>
              <a:defRPr sz="1600"/>
            </a:pPr>
            <a:r>
              <a:t>为家人付出而不图回报，"衣养万物而不为主"——真正的爱是无条件的。</a:t>
            </a:r>
          </a:p>
          <a:p>
            <a:pPr>
              <a:defRPr sz="1600"/>
            </a:pPr>
          </a:p>
          <a:p>
            <a:pPr>
              <a:defRPr sz="1600"/>
            </a:pPr>
            <a:r>
              <a:t>🎯 个人成长</a:t>
            </a:r>
          </a:p>
          <a:p>
            <a:pPr>
              <a:defRPr sz="1600"/>
            </a:pPr>
            <a:r>
              <a:t>知足常乐，不被欲望驱使。真正的富足是内心的满足，而非物质的堆砌。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0" y="6400800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/>
            </a:pPr>
            <a:r>
              <a:t>9/10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💎 精华提炼 · 第十课总结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/>
            </a:pPr>
            <a:r>
              <a:t>第三十一章·夫佳兵者 | 慎武知止——武力是不祥之器，不得已而用之，恬淡为上</a:t>
            </a:r>
          </a:p>
          <a:p>
            <a:pPr>
              <a:defRPr sz="1600"/>
            </a:pPr>
          </a:p>
          <a:p>
            <a:pPr>
              <a:defRPr sz="1600"/>
            </a:pPr>
            <a:r>
              <a:t>第三十二章·知人者智 | 自知自胜——知人者智，自知者明；知足者富，死而不亡者寿</a:t>
            </a:r>
          </a:p>
          <a:p>
            <a:pPr>
              <a:defRPr sz="1600"/>
            </a:pPr>
          </a:p>
          <a:p>
            <a:pPr>
              <a:defRPr sz="1600"/>
            </a:pPr>
            <a:r>
              <a:t>第三十三章·大道泛兮 | 道法自然——万物归焉而不为主，以其终不自为大，故能成其大</a:t>
            </a:r>
          </a:p>
          <a:p>
            <a:pPr>
              <a:defRPr sz="1600"/>
            </a:pPr>
          </a:p>
          <a:p>
            <a:pPr>
              <a:defRPr sz="1600"/>
            </a:pPr>
            <a:r>
              <a:t>🌟 一句话总结</a:t>
            </a:r>
          </a:p>
          <a:p>
            <a:pPr>
              <a:defRPr sz="1600"/>
            </a:pPr>
            <a:r>
              <a:t>慎武知止 · 自知自胜 · 道法自然</a:t>
            </a:r>
          </a:p>
          <a:p>
            <a:pPr>
              <a:defRPr sz="1600"/>
            </a:pPr>
            <a:r>
              <a:t>道家智慧告诉我们：真正的强者，是成就万物而不居功的人。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0" y="6400800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/>
            </a:pPr>
            <a:r>
              <a:t>10/10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