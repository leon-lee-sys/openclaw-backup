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国学经典24章 · 第12课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DCFF"/>
                </a:solidFill>
              </a:defRPr>
            </a:pPr>
            <a:r>
              <a:t>第三十七章 至 第三十九章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6B4DC"/>
                </a:solidFill>
              </a:defRPr>
            </a:pPr>
            <a:r>
              <a:t>道常无为 · 始制有名 · 上德不德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9696"/>
                </a:solidFill>
              </a:defRPr>
            </a:pPr>
            <a:r>
              <a:t>2026年4月19日（周日）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第三十七章：道常无为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【原文】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道常无为而无不为。候王若能守之，万物将自化。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化而欲作，吾将镇之以无名之朴。无名之朴，夫亦将无欲。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不欲以静，天下将自定。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【白话解读】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道永远是顺其自然、不妄为的，却没有什么做不到。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侯王若能遵循道，万物就会自然生化。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有人起贪欲时，我就用道的真朴来镇服。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保持无欲状态，社会自然安定。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【要点】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① 无为而治：顺应自然，不强行干预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② 自化原理：万物按道运行，自我生化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③ 无欲则静：克制私欲，社会自然安定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第三十七章：生活智慧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核心智慧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【企业管理】顺其自然，减少过度管控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给员工足够的自主空间，让他们自我驱动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出现问题时用道（价值观）来引导，而非强制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【家庭教育】静待花开，不过度干预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让孩子自然成长，不过分管控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父母保持内心平静，家庭自然和谐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【个人修养】少私寡欲，抱朴守真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减少物质欲望，追求精神充实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以静制动，内心平静则外事顺遂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第三十八章：始制有名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【原文】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上德不德，是以有德；下德不失德，是以无德。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上德无为而无以为；下德为之而有以为。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上仁为之而无以为；上义为之而有以为。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上礼为之而莫之应，则攘臂而扔之。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故失道而后德，失德而后仁，失仁而后义，失义而后礼。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夫礼者，忠信之薄，而乱之首。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前识者，道之华，而愚之始。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【要点】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① 德的层次：从道→德→仁→义→礼，层层递减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② 上德境界：不刻意表现德，自然而有德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③ 礼的警示：礼是社会混乱的开始，要回归道的本真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第三十八章：典故与西方思想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古代典故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【典故一：尧舜禹禅让】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尧舜时代以德治国，老子认为这是上德境界——无所表现的德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【典故二：周公制礼】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周朝建立礼乐制度，老子却警告：过分强调礼是道德衰退的表现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西方思想对照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法国 伏尔泰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最好的政府是最少干预的政府。与道常无为相通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德国 黑格尔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道德是精神的最低层次，与老子失道而后礼的层次退化思想相呼应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第三十九章：上德不德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【原文】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昔之得一者：天得一以清；地得一以宁；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神得一以灵；谷得一以盈；万物得一以生；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侯王得一以为天下贞。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其致之：天无以清将恐裂；地无以宁将恐废；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神无以灵将恐歇；谷无以盈将恐竭；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万物无以生将恐灭；侯王无以贵高将恐蹶。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【要点】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① 一即道：万事万物都得道才能存在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② 天清地宁：自然得道则和谐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③ 侯王之贞：统治者得道才能治理天下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④ 贵高必蹶：地位越高越要守道，否则危险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第三十九章：管理启示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核心智慧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【企业经营管理】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核心价值观（一）是企业灵魂，没有则难以持久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越是成功的企业，越要回归本真，不能忘乎所以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保持警觉，冬天总会到来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【国家治理】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老子强调侯王要守道，治国者更需道德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得道多助，失道寡助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与儒家仁政思想互补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【个人修为】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成功时保持清醒（天清地宁）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得意时不忘形（神得一以灵）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  越成功越要谨慎（贵高将恐蹶）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三章综合：西方思想名言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法国 伏尔泰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最好的政府是最少干预的政府。与道常无为相通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德国 康德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自由不是你想做什么就做什么，而是你应该做什么就做什么。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美国 爱默生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宇宙万物都有内在的秩序，顺其自然才能和谐。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英国 斯宾塞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适者生存，而非强者的胜利。与道的柔弱胜刚强相通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三章精华：生活中的智慧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内心修养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每天留出时间静心，不过度焦虑结果。无欲以静，天下自定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工作态度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做好本分，不过度表现德行。上德不德，真正有德的人不刻意显示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人际关系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保持内心平静，不强求他人。道常无为，万物自化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人生智慧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</a:defRPr>
            </a:pPr>
            <a:r>
              <a:t>越是成功时越要谨慎。侯王无以贵高将恐蹶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三章精华提炼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8DCFF"/>
                </a:solidFill>
              </a:defRPr>
            </a:pPr>
            <a:r>
              <a:t>第三十七章：道常无为——顺应自然，无为而治</a:t>
            </a:r>
          </a:p>
          <a:p>
            <a:pPr>
              <a:spcAft>
                <a:spcPts val="800"/>
              </a:spcAft>
              <a:defRPr sz="2000">
                <a:solidFill>
                  <a:srgbClr val="C8DCFF"/>
                </a:solidFill>
              </a:defRPr>
            </a:pPr>
            <a:r>
              <a:t>第三十八章：始制有名——德、仁、义、礼，回归本真</a:t>
            </a:r>
          </a:p>
          <a:p>
            <a:pPr>
              <a:spcAft>
                <a:spcPts val="800"/>
              </a:spcAft>
              <a:defRPr sz="2000">
                <a:solidFill>
                  <a:srgbClr val="C8DCFF"/>
                </a:solidFill>
              </a:defRPr>
            </a:pPr>
            <a:r>
              <a:t>第三十九章：上德不德——得道者不显德，真正有德</a:t>
            </a:r>
          </a:p>
          <a:p>
            <a:pPr>
              <a:spcAft>
                <a:spcPts val="800"/>
              </a:spcAft>
              <a:defRPr sz="2000">
                <a:solidFill>
                  <a:srgbClr val="C8DC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8DCFF"/>
                </a:solidFill>
              </a:defRPr>
            </a:pPr>
            <a:r>
              <a:t>一句话总结：</a:t>
            </a:r>
          </a:p>
          <a:p>
            <a:pPr>
              <a:spcAft>
                <a:spcPts val="800"/>
              </a:spcAft>
              <a:defRPr sz="2000">
                <a:solidFill>
                  <a:srgbClr val="C8DCFF"/>
                </a:solidFill>
              </a:defRPr>
            </a:pPr>
            <a:r>
              <a:t>真正的智慧在于顺其自然、不刻意表现，</a:t>
            </a:r>
          </a:p>
          <a:p>
            <a:pPr>
              <a:spcAft>
                <a:spcPts val="800"/>
              </a:spcAft>
              <a:defRPr sz="2000">
                <a:solidFill>
                  <a:srgbClr val="C8DCFF"/>
                </a:solidFill>
              </a:defRPr>
            </a:pPr>
            <a:r>
              <a:t>越是有所成就，越要回归道的本真，保持谦卑与警觉。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