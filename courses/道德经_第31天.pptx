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国学经典24章 · 第31课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E3C72"/>
                </a:solidFill>
              </a:defRPr>
            </a:pPr>
            <a:r>
              <a:t>《道德经》第94-96章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4682B4"/>
                </a:solidFill>
              </a:defRPr>
            </a:pPr>
            <a:r>
              <a:t>知足者富 · 企者不立 · 有物混成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5303520"/>
            <a:ext cx="6400800" cy="1097280"/>
          </a:xfrm>
          <a:prstGeom prst="roundRect">
            <a:avLst/>
          </a:prstGeom>
          <a:solidFill>
            <a:srgbClr val="1423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i="1">
                <a:solidFill>
                  <a:srgbClr val="FFFFFF"/>
                </a:solidFill>
              </a:defRPr>
            </a:pPr>
            <a:r>
              <a:t>知足者富，强行者有志。不失其所者久，死而不亡者寿。</a:t>
            </a:r>
          </a:p>
          <a:p>
            <a:pPr algn="ctr">
              <a:defRPr sz="1400">
                <a:solidFill>
                  <a:srgbClr val="B4B4B4"/>
                </a:solidFill>
              </a:defRPr>
            </a:pPr>
            <a:r>
              <a:t>—— 第六十四章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1/17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今日课程 · 三章概览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3716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E3C72"/>
                </a:solidFill>
              </a:defRPr>
            </a:pPr>
            <a:r>
              <a:t>📖 第六十五章：知足者富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知足者富，强行者有志。不失其所者久，死而不亡者寿。人之迷，其日固久。知足不辱，知止不殆。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80360"/>
            <a:ext cx="8229600" cy="13716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E3C72"/>
                </a:solidFill>
              </a:defRPr>
            </a:pPr>
            <a:r>
              <a:t>📖 第六十六章：企者不立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企者不立，跨者不行。自见者不明，自是者不彰，自伐者无功，自矜者不长。物或恶之，故有道者不处。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389120"/>
            <a:ext cx="8229600" cy="13716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E3C72"/>
                </a:solidFill>
              </a:defRPr>
            </a:pPr>
            <a:r>
              <a:t>📖 第六十七章：有物混成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有物混成，先天地生。寂兮寥兮，独立不改，周行而不殆。万物归焉而不为主。可为天下母。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第六十五章 · 知足者富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3840480"/>
          </a:xfrm>
          <a:prstGeom prst="roundRect">
            <a:avLst/>
          </a:prstGeom>
          <a:solidFill>
            <a:srgbClr val="14233C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682B4"/>
                </a:solidFill>
              </a:defRPr>
            </a:pPr>
            <a:r>
              <a:t>【原文】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知足者富，强行者有志。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不失其所者久，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死而不亡者寿。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人之迷，其日固久。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知足不辱，知止不殆，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可以长久。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归根曰静，是谓复命。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复命曰常，知常曰明。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303520"/>
            <a:ext cx="8229600" cy="1645920"/>
          </a:xfrm>
          <a:prstGeom prst="roundRect">
            <a:avLst/>
          </a:prstGeom>
          <a:solidFill>
            <a:srgbClr val="F5F7FA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500"/>
              </a:spcBef>
              <a:defRPr sz="1800">
                <a:solidFill>
                  <a:srgbClr val="333333"/>
                </a:solidFill>
              </a:defRPr>
            </a:pPr>
            <a:r>
              <a:t>知道满足的人才是富有的，坚持力行的人才是有志向的。不失去根本的人才能长久，死了但精神不消亡的人才是长寿的。人们对道的迷惑，由来已经很久了。知道满足就不会受到屈辱，知道停止就不会有危险，这样才可以保持长久。回归根本叫做静，这就是复归于天命。复归于天命叫做永恒，知道永恒叫做明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第六十五章 · 逐句释义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① 知足者富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知道满足的人才是富有的——真正的富足不在于拥有多少，而在于内心的满足。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2316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② 强行者有志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坚持力行的人才是有志向的——意志坚定、持之以恒，才能成就事业。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③ 不失其所者久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不失去根本的人才能长久——守住本心，不被外物所诱，才能长盛不衰。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2628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④ 死而不亡者寿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死了但精神不消亡的人才是长寿——肉体会死，但留下的人和思想可以永存。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57784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⑤ 人之迷，其日固久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人们对道的迷惑，由来已经很久了——人们往往在追求中迷失，不知止足。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62940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⑥ 知足不辱，知止不殆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知道满足就不会受屈辱，知道停止就不会有危险——知足知止，方可长久。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第六十五章 · 核心要义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28016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知足者富——知道满足才是真正的富足。强行者有志，持之以恒方能成就。知足不辱，知止不殆，方可长久。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8229600" cy="100584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1. 知足是真正的富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外在的财富可能被夺走，但内心的知足永不失——这是真正的精神富足。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8229600" cy="100584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2. 强行者有志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坚持力行、有志向的人，才能克服困难、成就大事——意志坚定是成功的基石。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937760"/>
            <a:ext cx="8229600" cy="100584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3. 不失其所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不失去根本、不偏离本心，是保持长久的秘密——守住初心，方得始终。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035040"/>
            <a:ext cx="8229600" cy="100584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4. 死而不亡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肉体可死，但精神不朽——屈原、文天祥，他们的正气永远流传。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7132320"/>
            <a:ext cx="8229600" cy="100584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5. 知止不殆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知道何时该停止，就不会陷入危险——贪得无厌者最终必然失败。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第六十五章 · 管理启示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2560320"/>
          </a:xfrm>
          <a:prstGeom prst="roundRect">
            <a:avLst/>
          </a:prstGeom>
          <a:solidFill>
            <a:srgbClr val="F0F8FF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📊 管理智慧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知足文化：'知足者富'启示企业要设定合理的发展目标，不要过度扩张贪多嚼不烂。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持续奋斗：'强行者有志'启示管理者要保持奋斗精神，在成功后依然持续精进。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基业常青：'不失其所者久'启示企业要坚守核心价值观和社会责任，才能长期健康发展。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精神传承：'死而不亡者寿'启示企业要建立可以传承的文化，让组织精神永存。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风险管控：'知止不殆'启示在经营中要知道何时收手，避免盲目扩张带来的风险。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防止迷失：'人之迷，其日固久'启示管理者要时刻保持清醒，不被成功冲昏头脑。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第六十六章 · 企者不立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3474720"/>
          </a:xfrm>
          <a:prstGeom prst="roundRect">
            <a:avLst/>
          </a:prstGeom>
          <a:solidFill>
            <a:srgbClr val="14233C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682B4"/>
                </a:solidFill>
              </a:defRPr>
            </a:pPr>
            <a:r>
              <a:t>【原文】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企者不立，跨者不行。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自见者不明，自是者不彰，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自伐者无功，自矜者不长。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物或恶之，故有道者不处。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企者必刺[欲字]，跨者必蹶，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余食赘行，物或恶之。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故有道者不处。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937760"/>
            <a:ext cx="8229600" cy="1645920"/>
          </a:xfrm>
          <a:prstGeom prst="roundRect">
            <a:avLst/>
          </a:prstGeom>
          <a:solidFill>
            <a:srgbClr val="F5F7FA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500"/>
              </a:spcBef>
              <a:defRPr sz="1800">
                <a:solidFill>
                  <a:srgbClr val="333333"/>
                </a:solidFill>
              </a:defRPr>
            </a:pPr>
            <a:r>
              <a:t>踮起脚跟的人站不稳，迈开大步的人走不远。自我表现的人不能明白事理，自以为是的人不能明辨是非，自我夸耀的人不能有功，自我矜持的人不能长久。事物都厌恶这样的行为，所以有道的人不会这样做。踮脚的人必有欲望过度的危险，迈步的人必有跌倒的危险。吃剩的食物和多余的行为，事物都厌恶。所以有道的人不会这样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第六十六章 · 逐句释义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① 企者不立，跨者不行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踮起脚跟的人站不稳，迈开大步的人走不远——急于求成反而无法成功。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2316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② 自见者不明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自我表现的人不能明白事理——总想展示自己的人，反而显得不明智。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③ 自是者不彰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自以为是的人不能明辨是非——认为自己一切都对，就无法看清真相。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2628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④ 自伐者无功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自我夸耀的人不能有功——总夸耀自己功劳的人，反而没人承认其功。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57784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⑤ 自矜者不长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自我矜持的人不能长久——骄傲自大的人，最终必然失败。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62940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⑥ 物或恶之，故有道者不处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事物都厌恶这些行为，所以有道的人不会这样做——谦卑是道的本质。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第六十六章 · 核心要义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28016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企者不立——踮脚站立不稳，迈步行走不远。自见、自是、自伐、自矜，皆是败事之因。有道者不处这些行为。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8229600" cy="2286000"/>
          </a:xfrm>
          <a:prstGeom prst="roundRect">
            <a:avLst/>
          </a:prstGeom>
          <a:solidFill>
            <a:srgbClr val="FFFAF0"/>
          </a:solidFill>
          <a:ln>
            <a:solidFill>
              <a:srgbClr val="CC7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CC7832"/>
                </a:solidFill>
              </a:defRPr>
            </a:pPr>
            <a:r>
              <a:t>🌍 现实联想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急于求成：踮脚站不稳、迈步走不远——越是急于成功，越容易失败。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自见之蔽：总想表现自己的人，反而让人看不清其真实能力。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自是之蔽：认为自己对的人，拒绝接受意见，最终判断失误。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自伐之弊：总夸耀自己功劳，反而让人反感，没人愿意合作。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自矜之害：骄傲自大的人，最终众叛亲离，无人跟随。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谦卑之道：有道的人谦卑处下，所以能得人心、聚人才。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第六十六章 · 管理启示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2560320"/>
          </a:xfrm>
          <a:prstGeom prst="roundRect">
            <a:avLst/>
          </a:prstGeom>
          <a:solidFill>
            <a:srgbClr val="F0F8FF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📊 管理智慧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戒急用缓：'企者不立'启示管理者不要急于求成，要稳扎稳打、步步为营。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谦逊领导：'自见者不明'启示领导不要总表现自己，而要让团队成员展示能力。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海纳百川：'自是者不彰'启示管理者要听取不同意见，兼听则明，偏信则暗。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功成不居：'自伐者无功'启示管理者做了大成绩不要自夸，让团队来分享荣耀。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戒骄戒躁：'自矜者不长'启示成功后更要谦虚，不能骄傲自满。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处下为上：'有道者不处'启示真正的领导力来自谦卑处下，而非高高在上。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第六十七章 · 有物混成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3474720"/>
          </a:xfrm>
          <a:prstGeom prst="roundRect">
            <a:avLst/>
          </a:prstGeom>
          <a:solidFill>
            <a:srgbClr val="14233C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682B4"/>
                </a:solidFill>
              </a:defRPr>
            </a:pPr>
            <a:r>
              <a:t>【原文】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有物混成，先天地生。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寂兮寥兮，独立不改，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周行而不殆。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万物归焉而不为主。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可名为大，大曰逝，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逝曰远，远曰反。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故能成其大。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937760"/>
            <a:ext cx="8229600" cy="1645920"/>
          </a:xfrm>
          <a:prstGeom prst="roundRect">
            <a:avLst/>
          </a:prstGeom>
          <a:solidFill>
            <a:srgbClr val="F5F7FA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500"/>
              </a:spcBef>
              <a:defRPr sz="1800">
                <a:solidFill>
                  <a:srgbClr val="333333"/>
                </a:solidFill>
              </a:defRPr>
            </a:pPr>
            <a:r>
              <a:t>有一个东西在天地之前就混合而成了。它寂静啊空虚啊，独自存在而永不改变，循环运行而从不懈怠。万物归附于它而它却不以为是万物的主人。可以称它为'大'，大而且运行不息，运行不息而愈加深远，愈加深远而又返回本源。所以它能成就其伟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第六十七章 · 逐句释义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① 有物混成，先天地生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有一个东西在天地之前就混合而成了——道先于天地，是宇宙的根源。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2316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② 寂兮寥兮，独立不改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寂静啊空虚啊，独自存在而永不改变——道无形无相，却永恒不变。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③ 周行而不殆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循环运行而从不懈怠——道永不停息地运行，生生不息。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2628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④ 万物归焉而不为主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万物归附于它而它却不以为是万物的主人——道生养万物却不主宰。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57784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⑤ 大曰逝，逝曰远，远曰反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大而且运行，运行而愈加深远，愈加深远而又返回——道循环往复。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62940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⑥ 故能成其大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所以它能成就其伟大——因为道不争、不居，所以能成就其大。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第六十七章 · 核心要义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28016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有物混成——道先天地而生，寂寥独立，周行不殆。生养万物而不为主宰，这才是真正的伟大。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8229600" cy="2286000"/>
          </a:xfrm>
          <a:prstGeom prst="roundRect">
            <a:avLst/>
          </a:prstGeom>
          <a:solidFill>
            <a:srgbClr val="FFFAF0"/>
          </a:solidFill>
          <a:ln>
            <a:solidFill>
              <a:srgbClr val="CC7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CC7832"/>
                </a:solidFill>
              </a:defRPr>
            </a:pPr>
            <a:r>
              <a:t>🌍 现实联想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道法自然：道先于天地，是宇宙的根本法则——人要顺应自然规律，不可逆天而行。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独立不改：道永不改变，有自己的原则——人也要有自己的核心价值观，不随风摇摆。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周行不殆：道循环运行，永不停止——自然循环、社会更替，皆有其规律。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生而不主：道生养万物但不主宰——领导者要成就员工但不控制，给空间但不放任。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大曰逝：道伟大而运行不息——真正伟大的人永远在前进，不会满足于现状。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远曰反：运行到极致又返回——月满则亏，水满则溢，盛世必有衰败，要懂进退。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13/17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第六十七章 · 管理启示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2560320"/>
          </a:xfrm>
          <a:prstGeom prst="roundRect">
            <a:avLst/>
          </a:prstGeom>
          <a:solidFill>
            <a:srgbClr val="F0F8FF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📊 管理智慧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遵循规律：'道法自然'启示管理者要顺应市场规律和企业发展阶段，不可逆势而行。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坚守本心：'独立不改'启示企业要有核心使命和价值观，不因短期利益而动摇。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生生不息：'周行而不殆'启示组织要保持活力，不断创新，不断进步。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成就员工：'万物归焉而不为主'启示领导者要帮助员工成长，而不是控制员工。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不争而成：'不为主'启示管理者不要争功争名，让团队成功就是自己的成功。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循环发展：'远曰反'启示企业发展到一定阶段要懂得回归本原，不忘初心。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三章精华 · 一以贯之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3716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第六十五章：知足者富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知足者富，强行者有志。不失其所者久，死而不亡者寿。知足不辱，知止不殆，方可长久。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80360"/>
            <a:ext cx="8229600" cy="13716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第六十六章：企者不立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企者不立，跨者不行。自见者不明，自是者不彰，自伐者无功，自矜者不长。有道者谦卑处下。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389120"/>
            <a:ext cx="8229600" cy="13716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第六十七章：有物混成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有物混成，先天地生。寂兮寥兮，独立不改，周行不殆。生养万物而不为主，可为天下母。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📌 现代应用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00584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💰 理财观念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知足者富——不要被欲望驱使，设定合理的目标，稳健投资才是真正的富足。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8229600" cy="100584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🏃 身心健康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企者不立——不要透支身体，踮脚站立不稳，迈步走不远——健康是长久之道。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566160"/>
            <a:ext cx="8229600" cy="100584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🤝 人际关系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自见者不明——不要总表现自己，多倾听他人，反而更能获得尊重。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663440"/>
            <a:ext cx="8229600" cy="100584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💼 职业发展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强行者有志——持之以恒，不断精进，职业生涯才能走得更远。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760720"/>
            <a:ext cx="8229600" cy="100584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🏛️ 企业文化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生而不主——优秀的领导者成就员工但不控制，给予空间但不放任。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858000"/>
            <a:ext cx="8229600" cy="100584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🌱 终身成长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有物混成——人要不断学习、不断进步，终身成长才能不被时代淘汰。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第31课 · 结语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1828800"/>
          </a:xfrm>
          <a:prstGeom prst="roundRect">
            <a:avLst/>
          </a:prstGeom>
          <a:solidFill>
            <a:srgbClr val="1423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知足者富，企者不立</a:t>
            </a:r>
          </a:p>
          <a:p>
            <a:pPr algn="ctr">
              <a:spcBef>
                <a:spcPts val="1000"/>
              </a:spcBef>
              <a:defRPr sz="1800" i="1">
                <a:solidFill>
                  <a:srgbClr val="4682B4"/>
                </a:solidFill>
              </a:defRPr>
            </a:pPr>
            <a:r>
              <a:t>有物混成，先天地生</a:t>
            </a:r>
          </a:p>
          <a:p>
            <a:pPr algn="ctr">
              <a:defRPr sz="1600">
                <a:solidFill>
                  <a:srgbClr val="B4B4B4"/>
                </a:solidFill>
              </a:defRPr>
            </a:pPr>
            <a:r>
              <a:t>万物归焉而不为主，可为天下母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道家智慧：知足不辱，知止不殆。不自见故明，不自是故彰，不自伐故有功。</a:t>
            </a:r>
          </a:p>
          <a:p>
            <a:pPr algn="ctr">
              <a:spcBef>
                <a:spcPts val="800"/>
              </a:spcBef>
              <a:defRPr sz="1500">
                <a:solidFill>
                  <a:srgbClr val="4682B4"/>
                </a:solidFill>
              </a:defRPr>
            </a:pPr>
            <a:r>
              <a:t>谦卑处下，无为而成——这是老子留给我们的人生真谛。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