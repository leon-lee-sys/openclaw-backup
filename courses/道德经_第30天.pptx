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国学经典24章 · 第30课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《道德经》第91-93章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4682B4"/>
                </a:solidFill>
              </a:defRPr>
            </a:pPr>
            <a:r>
              <a:t>道者万物之奥 · 勇于不敢 · 不吾知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6400800" cy="109728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FFFFFF"/>
                </a:solidFill>
              </a:defRPr>
            </a:pPr>
            <a:r>
              <a:t>道者万物之奥。善人之宝，不善人之所保。</a:t>
            </a:r>
          </a:p>
          <a:p>
            <a:pPr algn="ctr">
              <a:defRPr sz="1400">
                <a:solidFill>
                  <a:srgbClr val="B4B4B4"/>
                </a:solidFill>
              </a:defRPr>
            </a:pPr>
            <a:r>
              <a:t>—— 第六十二章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今日课程 · 三章概览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第六十二章：道者万物之奥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道者万物之奥。善人之宝，不善人之所保。道者，卑谦处下，不可须臾离也。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第六十三章：勇于不敢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为无为，事无事，味无味。大小多少，报怨以德。为而不争，则莫能与之争。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第六十四章：不吾知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其安易持，其未兆易谋。慎终如始，则无败事。知足者富，强行者有志。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第六十二章 · 道者万物之奥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道者万物之奥。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善人之宝，不善人之所保。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美言可以市，尊行可以贺人。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人之不善，何弃之有？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古之所以贵此道者何？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不曰求以得，有罪以免耶？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故为天下贵。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道是万物的奥妙所在。善良的人把它当作珍宝，不善良的人也因它而得到保全。美好的言语可以换来尊敬，良好的行为可以使人得到庆贺。即使有不善的人，道又怎会舍弃他们呢？自古以来人们重视道的原因是什么？不就是因为：有所求就能得到，有罪过也能免除吗？所以道被天下人看得很珍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第六十二章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5156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道者万物之奥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道是万物的奥妙所在，深藏于万物之后，主宰着一切——道是宇宙间最根本的存在。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8229600" cy="105156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善人之宝，不善人之所保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善良的人把道当作珍宝，不善良的人也因此得到道的庇护——道不分善恶，普遍慈悲。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5156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美言可以市，尊行可以贺人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美好的言语可以换来尊敬，良好的行为可以用于庆贺——道可以转化为社会资本。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00600"/>
            <a:ext cx="8229600" cy="105156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不曰求以得，有罪以免耶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有所求就能得到，有罪过也能免除——道有赦免的力量，给人改过自新的机会。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8229600" cy="105156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故为天下贵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所以道被天下人看得很珍贵——道是人间最可宝贵的资源。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第六十二章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道者万物之奥——道是万物的根本所在，善人以此为宝，不善人亦可得保全。道之珍贵，在于其包容与慈悲。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道是万物之奥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道深藏于万物之后，主宰天地——万事万物莫不遵循道的法则。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善人视道为宝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善良的人珍惜道，把道当作最宝贵的财富——道是修身正心的根本。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不善人亦得保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即使行为不善的人，道也不会弃之不顾——道的慈悲无有拣择。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03504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求以得，免以赦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追求道就能得到，有罪过也能得到赦免——道给人改过自新的机会。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13232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天下贵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道被天下人视为最珍贵的东西——因为道能带来真正的安宁与救赎。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第六十二章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包容文化：善人与不善人皆可用，道的包容精神启示管理者要容纳不同性格的员工。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价值投资：道是'善人之宝'，启示企业要把核心价值观当作最珍贵的资产来守护。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救赎机制：'有罪以免'启示建立容错机制，让犯错的员工有改正的机会。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慈悲领导：道不弃不善者，启示领导者在管理中保持慈悲，给予每个人成长空间。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无差别对待：道对善人与不善人同样慈悲，启示管理中一视同仁，不搞小圈子。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第六十三章 · 勇于不敢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为无为，事无事，味无味。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大小多少，报怨以德。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图难于其易，为大于其细。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天下难事必作于易，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天下大事必作于细。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夫轻诺必寡信，多易必多难。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是以圣人犹难之，故终无难。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以'无为'的态度去作为，以'无事'的方式去做事，以'无味'的心态去品味。无论大事小事、多的少的，都用德来报答怨恨。谋划困难的事要从容易的地方入手，做大事要从细小的地方开始。天下的难事一定从容易的开始，天下的大事一定从细小的开始。轻易许诺的人一定缺少信用，把事情看得太容易一定会遇到很多困难。因此圣人把容易的事也当作困难的事，所以始终没有困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第六十三章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为无为，事无事，味无味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以'无为'的态度去作为，以'无事'的方式去做事——有为而似无为，自然而然。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大小多少，报怨以德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无论大事小事、多与少，都以德报怨——用宽容和善良回应怨恨。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图难于其易，为大于其细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谋划困难的事要从容易处入手，做大事要从细小处开始——从易到难，从细到大。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天下难事必作于易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天下的难事一定从容易的开始——难是易的积累，大是小的发展。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轻诺必寡信，多易必多难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轻易许诺一定少信，把事情看得太容易一定多难——谨慎行事，敬畏困难。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6294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⑥ 圣人犹难之，故终无难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圣人把容易的事也当作困难，所以始终没有困难——防患于未然。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第六十三章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勇于不敢——真正的勇敢不是贸然行事，而是懂得敬畏、谨慎处之。圣人把容易的事也当困难，所以始终没有困难。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2286000"/>
          </a:xfrm>
          <a:prstGeom prst="roundRect">
            <a:avLst/>
          </a:prstGeom>
          <a:solidFill>
            <a:srgbClr val="FFFAF0"/>
          </a:solidFill>
          <a:ln>
            <a:solidFill>
              <a:srgbClr val="CC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7832"/>
                </a:solidFill>
              </a:defRPr>
            </a:pPr>
            <a:r>
              <a:t>🌍 现实联想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易者，难之原：容易的事不做，难事就越积越多，最终无法解决。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轻诺寡信：随意承诺而不兑现，就会失去他人的信任。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多易多难：把事情看得太简单，准备不足，就会遇到更多困难。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报怨以德：用善良回应怨恨，不是软弱，而是最有力量的态度。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从细到大：任何伟大的成就都是从小处积累而来。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第六十三章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无为而治：'为无为'启示管理者不要事事亲力亲为，要发挥团队的主动性和创造力。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以德报怨：面对团队内部的矛盾和抱怨，应用宽容和善良来回应，而非针锋相对。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从易着手：面对复杂项目，先从简单的部分切入，逐个击破，而非一口吃成胖子。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重视细节：'为大于其细'启示在项目管理中要关注细节，小问题不及时处理会变成大麻烦。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谨慎承诺：不轻易许诺，一旦许诺就一定要兑现，这样才能建立个人的信誉和威信。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防患未然：把容易的事也当困难来做，提前识别风险，避免问题发生。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第六十四章 · 不吾知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其安易持，其未兆易谋。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其脆易泮，其微易散。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为之于未有，治之于未乱。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慎终如始，则无败事。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知足者富，强行者有志。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不失其所者久，死而不亡者寿。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事物在安定的时候容易保持，在没有征兆的时候容易谋划。在脆弱的时候容易分开，在细微的时候容易消散。在事情还没有发生的时候就有所作为，在混乱还没有出现的时候就进行治理。如果在结束的时候也能像开始那样谨慎，就不会失败。知道满足的人才是富有的，坚持力行的人才是有志向的。不失去根本的人才能长久，死了但精神不消亡的人才是长寿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第六十四章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其安易持，其未兆易谋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事物在安定时容易保持，在未显露迹象时容易谋划——防患于未然。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其脆易泮，其微易散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在脆弱时容易分开，在细微时容易消散——小问题容易解决。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为之于未有，治之于未乱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在事情还未发生时就处理，在混乱还未出现时就预防——预防胜于补救。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慎终如始，则无败事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在结束时也能像开始那样谨慎，就不会失败——善始善终最重要。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知足者富，强行者有志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知道满足的人才是富有的，坚持力行的人是有志向的——知足与坚持是成功双翼。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629400"/>
            <a:ext cx="8229600" cy="9601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⑥ 不失其所者久，死而不亡者寿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不失去根本的人才能长久，死了但精神不消亡才是长寿——肉体会死，但精神可以永存。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第六十四章 · 核心要义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不吾知——知足者富，强行者有志。在安定时要想到危险，在未乱时要预防混乱。慎终如始，方能无败。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2286000"/>
          </a:xfrm>
          <a:prstGeom prst="roundRect">
            <a:avLst/>
          </a:prstGeom>
          <a:solidFill>
            <a:srgbClr val="FFFAF0"/>
          </a:solidFill>
          <a:ln>
            <a:solidFill>
              <a:srgbClr val="CC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7832"/>
                </a:solidFill>
              </a:defRPr>
            </a:pPr>
            <a:r>
              <a:t>🌍 现实联想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未雨绸缪：在事情还未发生时就做好准备，是智者的行为方式。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知足常乐：知道满足的人，内心永远是充实的，不会被欲望驱使。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善始善终：开始容易，坚持难；在结束时保持谨慎，才能确保成功。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死而不亡：肉体会消亡，但留下的思想和精神可以流传千古。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未兆易谋：事物在萌芽阶段最容易引导和控制，错过时机就会困难重重。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第六十四章 ·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📊 管理智慧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风险管理：'为之于未有'启示管理者要有预见性，在风险还未显露时就做好准备。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保持警觉：'其安易持'启示在企业顺境时更要保持警惕，防止问题积累。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知足文化：'知足者富'启示企业要设定合理的目标，避免过度扩张和盲目攀比。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持续奋斗：'强行者有志'启示无论取得多大成就，都要保持奋斗精神。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基业常青：'不失其所者久'启示企业要守住核心价值观和使命，才能长盛不衰。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• 精神传承：'死而不亡者寿'启示企业要建立可以传承的文化和品牌，精神永存。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三章精华 · 一以贯之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第六十二章：道者万物之奥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道是万物的奥妙所在。善人视其为珍宝，不善人亦可得保全。道之珍贵在于其普遍的包容与慈悲。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第六十三章：勇于不敢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为无为，事无事，味无味。图难于其易，为大于其细。谨慎行事，善始善终，终无败事。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第六十四章：不吾知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知足者富，强行者有志。为之于未有，治之于未乱。慎终如始，死而不亡者寿。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🏢 企业治理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道者万物之奥——企业要有核心价值观作为指导，如同道一样成为组织的根本。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⚖️ 冲突处理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报怨以德——面对客户投诉或员工矛盾，以善良和宽容回应，而非对抗。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📈 项目管理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图难于其易——大项目要从简单部分开始，小问题要及时处理，否则积重难返。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🎯 目标设定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知足者富——设定合理目标，不要被欲望驱使，知足才是真正的富足。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76072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⏰ 时间管理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慎终如始——无论做什么事，开始和结束都要同样谨慎，才能确保完美收官。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858000"/>
            <a:ext cx="8229600" cy="100584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🌱 个人成长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为之于未有——个人成长要提前规划，在问题还未出现时就做好准备。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第30课 · 结语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道者万物之奥</a:t>
            </a:r>
          </a:p>
          <a:p>
            <a:pPr algn="ctr">
              <a:spcBef>
                <a:spcPts val="1000"/>
              </a:spcBef>
              <a:defRPr sz="1800" i="1">
                <a:solidFill>
                  <a:srgbClr val="4682B4"/>
                </a:solidFill>
              </a:defRPr>
            </a:pPr>
            <a:r>
              <a:t>知足者富，强行者有志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为之于未有，治之于未乱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道家智慧：道是万物的奥妙，包容一切，善人与不善人皆可得保全。</a:t>
            </a:r>
          </a:p>
          <a:p>
            <a:pPr algn="ctr">
              <a:spcBef>
                <a:spcPts val="800"/>
              </a:spcBef>
              <a:defRPr sz="1500">
                <a:solidFill>
                  <a:srgbClr val="4682B4"/>
                </a:solidFill>
              </a:defRPr>
            </a:pPr>
            <a:r>
              <a:t>知足不辱，知止不殆——这才是人生的大智慧。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