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《道德经》每日课件</a:t>
            </a:r>
          </a:p>
          <a:p>
            <a:pPr algn="ctr">
              <a:defRPr sz="2600"/>
            </a:pPr>
            <a:r>
              <a:t>第9天 · 第二十八章 至 第三十章</a:t>
            </a:r>
          </a:p>
          <a:p>
            <a:pPr algn="ctr">
              <a:defRPr sz="1800"/>
            </a:pPr>
            <a:r>
              <a:t>2026年4月16日</a:t>
            </a:r>
          </a:p>
          <a:p>
            <a:pPr algn="ctr">
              <a:defRPr sz="2000"/>
            </a:pPr>
            <a:r>
              <a:t>"含德之厚，比于赤子"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第二十八章 · 玄德</a:t>
            </a:r>
          </a:p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知其雄，守其雌，为天下谿。</a:t>
            </a:r>
          </a:p>
          <a:p>
            <a:pPr>
              <a:spcAft>
                <a:spcPts val="800"/>
              </a:spcAft>
              <a:defRPr sz="1600"/>
            </a:pPr>
            <a:r>
              <a:t>为天下谿，常德不离，复归于婴儿。</a:t>
            </a:r>
          </a:p>
          <a:p>
            <a:pPr>
              <a:spcAft>
                <a:spcPts val="800"/>
              </a:spcAft>
              <a:defRPr sz="1600"/>
            </a:pPr>
            <a:r>
              <a:t>知其白，守其黑，为天下式。</a:t>
            </a:r>
          </a:p>
          <a:p>
            <a:pPr>
              <a:spcAft>
                <a:spcPts val="800"/>
              </a:spcAft>
              <a:defRPr sz="1600"/>
            </a:pPr>
            <a:r>
              <a:t>为天下式，常德不忒，复归于无极。</a:t>
            </a:r>
          </a:p>
          <a:p>
            <a:pPr>
              <a:spcAft>
                <a:spcPts val="800"/>
              </a:spcAft>
              <a:defRPr sz="1600"/>
            </a:pPr>
            <a:r>
              <a:t>知其荣，守其辱，为天下谷。</a:t>
            </a:r>
          </a:p>
          <a:p>
            <a:pPr>
              <a:spcAft>
                <a:spcPts val="800"/>
              </a:spcAft>
              <a:defRPr sz="1600"/>
            </a:pPr>
            <a:r>
              <a:t>为天下谷，常德乃足，复归于朴。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知道什么是雄强，却甘愿处于雌柔的位置，如同天下的溪谷。</a:t>
            </a:r>
          </a:p>
          <a:p>
            <a:pPr>
              <a:spcAft>
                <a:spcPts val="800"/>
              </a:spcAft>
              <a:defRPr sz="1600"/>
            </a:pPr>
            <a:r>
              <a:t>甘愿做天下的溪谷，永恒的德就不会离开，回复到婴儿般纯真的状态。</a:t>
            </a:r>
          </a:p>
          <a:p>
            <a:pPr>
              <a:spcAft>
                <a:spcPts val="800"/>
              </a:spcAft>
              <a:defRPr sz="1600"/>
            </a:pPr>
            <a:r>
              <a:t>知道什么是光明，却甘愿处于暗昧的位置，成为天下的榜样。</a:t>
            </a:r>
          </a:p>
          <a:p>
            <a:pPr>
              <a:spcAft>
                <a:spcPts val="800"/>
              </a:spcAft>
              <a:defRPr sz="1600"/>
            </a:pPr>
            <a:r>
              <a:t>成为天下的榜样，永恒的德就不会出错，回复到无穷的境界。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第二十九章 · 无为</a:t>
            </a:r>
          </a:p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将欲取天下而为之，吾见其不得已。</a:t>
            </a:r>
          </a:p>
          <a:p>
            <a:pPr>
              <a:spcAft>
                <a:spcPts val="800"/>
              </a:spcAft>
              <a:defRPr sz="1600"/>
            </a:pPr>
            <a:r>
              <a:t>天下神器，不可为也。为者败之，执者失之。</a:t>
            </a:r>
          </a:p>
          <a:p>
            <a:pPr>
              <a:spcAft>
                <a:spcPts val="800"/>
              </a:spcAft>
              <a:defRPr sz="1600"/>
            </a:pPr>
            <a:r>
              <a:t>夫物或行或随，或嘘或吹，或强或羸，或挫或隳。</a:t>
            </a:r>
          </a:p>
          <a:p>
            <a:pPr>
              <a:spcAft>
                <a:spcPts val="800"/>
              </a:spcAft>
              <a:defRPr sz="1600"/>
            </a:pPr>
            <a:r>
              <a:t>是以圣人去甚、去奢、去泰。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想要治理天下却用强力去做，我看他达不到目的。</a:t>
            </a:r>
          </a:p>
          <a:p>
            <a:pPr>
              <a:spcAft>
                <a:spcPts val="800"/>
              </a:spcAft>
              <a:defRPr sz="1600"/>
            </a:pPr>
            <a:r>
              <a:t>天下是神圣的东西，不能用强力去驾驭它，用力去做的就会失败，想抓住它的就会失去。</a:t>
            </a:r>
          </a:p>
          <a:p>
            <a:pPr>
              <a:spcAft>
                <a:spcPts val="800"/>
              </a:spcAft>
              <a:defRPr sz="1600"/>
            </a:pPr>
            <a:r>
              <a:t>万物有的前行有的后随，有的轻嘘有的急吹，有的刚强有的羸弱，</a:t>
            </a:r>
          </a:p>
          <a:p>
            <a:pPr>
              <a:spcAft>
                <a:spcPts val="800"/>
              </a:spcAft>
              <a:defRPr sz="1600"/>
            </a:pPr>
            <a:r>
              <a:t>有的增益有的损毁。所以圣人要去掉极端的、奢侈的、过度的做法。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第三十章 · 用兵</a:t>
            </a:r>
          </a:p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以道佐人主者，不以兵强天下。其事好还。</a:t>
            </a:r>
          </a:p>
          <a:p>
            <a:pPr>
              <a:spcAft>
                <a:spcPts val="800"/>
              </a:spcAft>
              <a:defRPr sz="1600"/>
            </a:pPr>
            <a:r>
              <a:t>师之所处，荆棘生焉。大军之后，必有凶年。</a:t>
            </a:r>
          </a:p>
          <a:p>
            <a:pPr>
              <a:spcAft>
                <a:spcPts val="800"/>
              </a:spcAft>
              <a:defRPr sz="1600"/>
            </a:pPr>
            <a:r>
              <a:t>善有果而已，不敢以取强。</a:t>
            </a:r>
          </a:p>
          <a:p>
            <a:pPr>
              <a:spcAft>
                <a:spcPts val="800"/>
              </a:spcAft>
              <a:defRPr sz="1600"/>
            </a:pPr>
            <a:r>
              <a:t>果而勿矜，果而勿伐，果而勿骄，</a:t>
            </a:r>
          </a:p>
          <a:p>
            <a:pPr>
              <a:spcAft>
                <a:spcPts val="800"/>
              </a:spcAft>
              <a:defRPr sz="1600"/>
            </a:pPr>
            <a:r>
              <a:t>果而不得已，果而勿强。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用道来辅佐君主的人，不靠武力在天下逞强。</a:t>
            </a:r>
          </a:p>
          <a:p>
            <a:pPr>
              <a:spcAft>
                <a:spcPts val="800"/>
              </a:spcAft>
              <a:defRPr sz="1600"/>
            </a:pPr>
            <a:r>
              <a:t>用兵这件事一定会得到报应。军队所到之处，荆棘就长出来了。大战之后，必定有荒年。</a:t>
            </a:r>
          </a:p>
          <a:p>
            <a:pPr>
              <a:spcAft>
                <a:spcPts val="800"/>
              </a:spcAft>
              <a:defRPr sz="1600"/>
            </a:pPr>
            <a:r>
              <a:t>善于用兵的人只要达到目的就算了，不敢用武力来逞强。</a:t>
            </a:r>
          </a:p>
          <a:p>
            <a:pPr>
              <a:spcAft>
                <a:spcPts val="800"/>
              </a:spcAft>
              <a:defRPr sz="1600"/>
            </a:pPr>
            <a:r>
              <a:t>达到了目的也不要自大，达到了目的也不要夸耀，达到了目的也不要骄傲，</a:t>
            </a:r>
          </a:p>
          <a:p>
            <a:pPr>
              <a:spcAft>
                <a:spcPts val="800"/>
              </a:spcAft>
              <a:defRPr sz="1600"/>
            </a:pPr>
            <a:r>
              <a:t>达到了目的是出于不得已，达到了目的就不要逞强。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第二十八至三十章 · 精华总结</a:t>
            </a:r>
          </a:p>
          <a:p>
            <a:pPr>
              <a:spcAft>
                <a:spcPts val="800"/>
              </a:spcAft>
              <a:defRPr sz="1600"/>
            </a:pPr>
            <a:r>
              <a:t>【三章贯通】</a:t>
            </a:r>
          </a:p>
          <a:p>
            <a:pPr>
              <a:spcAft>
                <a:spcPts val="800"/>
              </a:spcAft>
              <a:defRPr sz="1600"/>
            </a:pPr>
            <a:r>
              <a:t>从"知雄守雌"的谦下之道，到"去甚去奢"的无为之道，</a:t>
            </a:r>
          </a:p>
          <a:p>
            <a:pPr>
              <a:spcAft>
                <a:spcPts val="800"/>
              </a:spcAft>
              <a:defRPr sz="1600"/>
            </a:pPr>
            <a:r>
              <a:t>再到"果而勿强"的用兵之道，层层递进。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【处世智慧】</a:t>
            </a:r>
          </a:p>
          <a:p>
            <a:pPr>
              <a:spcAft>
                <a:spcPts val="800"/>
              </a:spcAft>
              <a:defRPr sz="1600"/>
            </a:pPr>
            <a:r>
              <a:t>知雄守雌 → 甘居下位，反而能保全</a:t>
            </a:r>
          </a:p>
          <a:p>
            <a:pPr>
              <a:spcAft>
                <a:spcPts val="800"/>
              </a:spcAft>
              <a:defRPr sz="1600"/>
            </a:pPr>
            <a:r>
              <a:t>去甚去奢 → 去除极端，保持中和</a:t>
            </a:r>
          </a:p>
          <a:p>
            <a:pPr>
              <a:spcAft>
                <a:spcPts val="800"/>
              </a:spcAft>
              <a:defRPr sz="1600"/>
            </a:pPr>
            <a:r>
              <a:t>果而勿强 → 达到目的即可，不要逞强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【对管理者的启示】</a:t>
            </a:r>
          </a:p>
          <a:p>
            <a:pPr>
              <a:spcAft>
                <a:spcPts val="800"/>
              </a:spcAft>
              <a:defRPr sz="1600"/>
            </a:pPr>
            <a:r>
              <a:t>真正的强者是懂得示弱的人，不追求表面的强势。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