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国学经典24章 · 第六课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1E3C72"/>
                </a:solidFill>
              </a:defRPr>
            </a:pPr>
            <a:r>
              <a:t>《道德经》第19-21章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绝圣弃智 · 归根复命 · 众里寻他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5303520"/>
            <a:ext cx="5486400" cy="10972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i="1">
                <a:solidFill>
                  <a:srgbClr val="1E3C72"/>
                </a:solidFill>
              </a:defRPr>
            </a:pPr>
            <a:r>
              <a:t>绝圣弃智，民利百倍。</a:t>
            </a:r>
          </a:p>
          <a:p>
            <a:pPr algn="ctr">
              <a:defRPr sz="1400">
                <a:solidFill>
                  <a:srgbClr val="969696"/>
                </a:solidFill>
              </a:defRPr>
            </a:pPr>
            <a:r>
              <a:t>—— 《道德经》第十九章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第十九章 · 绝圣弃智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1945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绝圣弃智，民利百倍；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绝仁弃义，民复孝慈；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绝巧弃利，盗贼无有。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绝圣弃智：抛弃圣贤的帽子和智巧的算计——减少人为折腾，百姓反而得到更大利益。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绝仁弃义：放下仁义的标榜和道德的说教——家庭自然恢复孝慈本色，不必刻意提倡。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绝巧弃利：断绝投机取巧和追逐私利——盗贼失去生存土壤，自然消失。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核心：返璞归真：三个"绝"字，都是让社会回归简单、自然、淳朴的状态。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第十九章 · 生活智慧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核心智慧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少则得，多则惑——做减法的人生，反而更丰盛。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1. 断舍离的哲学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不是清贫，而是精简。减少杂物、应酬、信息的干扰，心灵才能呼吸。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2. 教育孩子的启示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不刻意"鸡娃"、不填鸭式教学——让孩子自然成长，反而更有创造力。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3. 企业管理的借鉴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减少KPI表格、减少审批流程——流程越简单，执行越高效。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第二十章 · 归真之旅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0116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绝学无忧。唯之与阿，相去几何？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众人熙熙，如享太牢，如春登台。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我独泊兮，其未兆，如婴儿之未孩。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绝学无忧：抛弃世俗之学，就没有忧愁——脱离比较，内心平静。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唯之与阿：恭敬的"唯"与怠慢的"阿"，差别有多大？——世人的尊卑荣辱，皆是虚荣。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众人熙熙：众人都兴高采烈，如赴盛宴，如春日登台——外在的热闹，终究是过眼云烟。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我独泊未兆：唯独我淡泊宁静，没有显露任何征兆——像婴儿还不会笑，返璞归真。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典故：老子的出关之谜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【史记·老子韩非列传】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老子见周朝衰落，遂骑青牛出关，西游隐居。关令尹喜望见紫气东来，知有圣人至，强留老子著书，遂成《道德经》五千言。传说他最后不知所终，留下无尽神秘。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老子的出关，正是"绝学无忧"的实践——不求闻达，不为世累，独来独往。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🌍 西方对照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卢梭："我独异于人，而贵食母。"——与老子一样，追求与众不同的精神独立。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【人生启示】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不必活在他人的眼光里——"相去几何"，尊卑荣辱皆虚妄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热闹是他们的，你有自己的节奏——独泊未兆，如婴儿之未孩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真正的成熟，是内心的宁静——能在喧嚣中保持淡泊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第二十一章 · 众里寻他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C72"/>
                </a:solidFill>
              </a:defRPr>
            </a:pPr>
            <a:r>
              <a:t>【原文】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孔德之容，惟道是从。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道之为物，惟恍惟惚。</a:t>
            </a:r>
          </a:p>
          <a:p>
            <a:pPr>
              <a:spcBef>
                <a:spcPts val="400"/>
              </a:spcBef>
              <a:defRPr sz="1900">
                <a:solidFill>
                  <a:srgbClr val="333333"/>
                </a:solidFill>
              </a:defRPr>
            </a:pPr>
            <a:r>
              <a:t>惚兮恍兮，其中有象；恍兮惚兮，其中有物。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C72"/>
                </a:solidFill>
              </a:defRPr>
            </a:pPr>
            <a:r>
              <a:t>【白话解读】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孔德之容：大德之人的举止——"孔"是大，德是得道后的品质。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惟道是从：完全追随道——最大的德行，就是顺从道的规律。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道之为物：道这个东西——它恍惚无形（无具体形象），却真实存在。</a:t>
            </a:r>
          </a:p>
          <a:p>
            <a:pPr>
              <a:spcBef>
                <a:spcPts val="500"/>
              </a:spcBef>
              <a:defRPr sz="1400">
                <a:solidFill>
                  <a:srgbClr val="333333"/>
                </a:solidFill>
              </a:defRPr>
            </a:pPr>
            <a:r>
              <a:t>• 其中有象/有物：恍惚之中，有形象可见；有实体可触——道虽无形，却主宰一切。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📜 典故：道不远人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201168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【王阳明·龙场悟道】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王阳明被贬贵州龙场，在困顿中悟道："圣人之道，吾性自足，向之求理于事物者误也。"——道不在外物，而在内心。正如老子所说："孔德之容，惟道是从"，真正的德行，是内心有道。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74720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⚡ 现代启示</a:t>
            </a:r>
          </a:p>
          <a:p>
            <a:pPr>
              <a:defRPr sz="1500">
                <a:solidFill>
                  <a:srgbClr val="C8C8C8"/>
                </a:solidFill>
              </a:defRPr>
            </a:pPr>
            <a:r>
              <a:t>向外求名求利，永远焦虑；向内求道求心，才是根本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【知行合一】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道的规律：惟恍惟惚——宇宙本质难以完全把握，保持敬畏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德的践行：惟道是从——追随规律，而非追随欲望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知行合一：明白道理不难，难的是真正按道理去做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🌊 附：江海处下的智慧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【上善若水·第八章延伸】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江海之所以能为百谷王者，以其善下之，故能为百谷王。是以圣人欲上民，必以言下之；欲先民，必以身后之。——江海居下，故能纳百川；圣人谦下，故能得民心。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91440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🇬🇧 丘吉尔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"勇气是站起来的能力，但跌倒后爬起来更需要勇气。"——处下不争，方能长久。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【处下智慧】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谦受益，满招损——自视甚高的人，往往失去成长的空间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欲上先下：想领导，先服务——团队成员感受到尊重，自然愿意追随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功成不居：做了事不显摆——功劳归于团队，威望反而更高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💡 生活中的智慧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🧘 内心做减法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每天减少一件事——少刷一个App，少参加一个应酬，少买一件不需要的东西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06039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💼 职场心态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不为KPI焦虑，不与人争高低——惟道是从，做好自己认为对的事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❤️ 家庭关系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少说教，多陪伴——绝圣弃智，用行动而非言语表达爱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257800"/>
            <a:ext cx="8229600" cy="11887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🎯 个人修养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在喧嚣中保持泊然——众人的热闹是他们的，我的宁静是我的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💎 精华提炼 · 第六课总结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8229600" cy="8229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第十九章·绝圣弃智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绝圣弃智，民利百倍——少折腾、少标榜，回归简单，反而更好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0280"/>
            <a:ext cx="8229600" cy="8229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第二十章·归真之旅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我独泊兮，其未兆——在众人熙熙中，保持淡泊宁静，不从众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第二十一章·孔德之容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惟道是从——最大的德，是顺从宇宙规律，而非追逐名利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8229600" cy="1371600"/>
          </a:xfrm>
          <a:prstGeom prst="roundRect">
            <a:avLst/>
          </a:prstGeom>
          <a:solidFill>
            <a:srgbClr val="1E3C7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🌟 一句话总结</a:t>
            </a:r>
          </a:p>
          <a:p>
            <a:pPr algn="ctr">
              <a:defRPr sz="2400" b="1">
                <a:solidFill>
                  <a:srgbClr val="FFFFFF"/>
                </a:solidFill>
              </a:defRPr>
            </a:pPr>
            <a:r>
              <a:t>绝学无忧，惟道是从</a:t>
            </a:r>
          </a:p>
          <a:p>
            <a:pPr>
              <a:defRPr sz="1600">
                <a:solidFill>
                  <a:srgbClr val="C8C8C8"/>
                </a:solidFill>
              </a:defRPr>
            </a:pPr>
            <a:r>
              <a:t>减少世俗的焦虑，追随道的规律，在纷扰中守住内心那份淡泊与宁静。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