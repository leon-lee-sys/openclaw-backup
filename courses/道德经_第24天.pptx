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国学经典24章 · 第24课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73152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800" b="1">
                <a:solidFill>
                  <a:srgbClr val="1E3C72"/>
                </a:solidFill>
              </a:defRPr>
            </a:pPr>
            <a:r>
              <a:t>《道德经》第76-78章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7315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出生入死 · 柔弱处上 · 为而不争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5486400"/>
            <a:ext cx="5486400" cy="1097280"/>
          </a:xfrm>
          <a:prstGeom prst="roundRect">
            <a:avLst/>
          </a:prstGeom>
          <a:solidFill>
            <a:srgbClr val="14233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i="1">
                <a:solidFill>
                  <a:srgbClr val="FFFFFF"/>
                </a:solidFill>
              </a:defRPr>
            </a:pPr>
            <a:r>
              <a:t>天下莫柔弱于水，而攻坚强者莫之能胜。</a:t>
            </a:r>
          </a:p>
          <a:p>
            <a:pPr algn="ctr">
              <a:defRPr sz="1400">
                <a:solidFill>
                  <a:srgbClr val="B4B4B4"/>
                </a:solidFill>
              </a:defRPr>
            </a:pPr>
            <a:r>
              <a:t>—— 第七十八章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今日课程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13716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E3C72"/>
                </a:solidFill>
              </a:defRPr>
            </a:pPr>
            <a:r>
              <a:t>📖 第七十六章：出生入死</a:t>
            </a:r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民之生也柔弱，死也坚强。万物草木之生也柔脆，死也枯槁。故坚强者死之徒，柔弱者生之徒。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880360"/>
            <a:ext cx="8229600" cy="13716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E3C72"/>
                </a:solidFill>
              </a:defRPr>
            </a:pPr>
            <a:r>
              <a:t>📖 第七十七章：柔弱处上</a:t>
            </a:r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天下之至柔，驰骋天下之至坚。无有入无间。柔弱胜刚强。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389120"/>
            <a:ext cx="8229600" cy="13716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E3C72"/>
                </a:solidFill>
              </a:defRPr>
            </a:pPr>
            <a:r>
              <a:t>📖 第七十八章：为而不争</a:t>
            </a:r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天下莫柔弱于水，而攻坚强者莫之能胜。以柔克刚，知其雄，守其雌。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第七十六章 · 出生入死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3474720"/>
          </a:xfrm>
          <a:prstGeom prst="roundRect">
            <a:avLst/>
          </a:prstGeom>
          <a:solidFill>
            <a:srgbClr val="14233C"/>
          </a:solidFill>
          <a:ln>
            <a:solidFill>
              <a:srgbClr val="1E3C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4682B4"/>
                </a:solidFill>
              </a:defRPr>
            </a:pPr>
            <a:r>
              <a:t>【原文】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人之生也柔弱，其死也坚强。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万物草木之生也柔脆，其死也枯槁。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　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故坚强者死之徒，柔弱者生之徒。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　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兵强则不胜，木强则兵。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　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强大处下，柔弱处上。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937760"/>
            <a:ext cx="8229600" cy="1463040"/>
          </a:xfrm>
          <a:prstGeom prst="roundRect">
            <a:avLst/>
          </a:prstGeom>
          <a:solidFill>
            <a:srgbClr val="F5F7FA"/>
          </a:solidFill>
          <a:ln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E3C72"/>
                </a:solidFill>
              </a:defRPr>
            </a:pPr>
            <a:r>
              <a:t>【白话解读】</a:t>
            </a:r>
          </a:p>
          <a:p>
            <a:pPr>
              <a:spcBef>
                <a:spcPts val="500"/>
              </a:spcBef>
              <a:defRPr sz="1800">
                <a:solidFill>
                  <a:srgbClr val="333333"/>
                </a:solidFill>
              </a:defRPr>
            </a:pPr>
            <a:r>
              <a:t>人活着时身体柔软，死了则变得僵硬。万物草木活着时枝条柔脆，死了则干枯。所以坚强的东西属于死亡一类，柔弱的东西属于生存一类。军队过于强大反而不能取胜，树木过于强硬则会被砍伐。强大的处于下位，柔弱的反而在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第七十六章 · 逐句释义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① 人之生也柔弱，其死也坚强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人活着时身体柔软灵活，死了则僵硬——柔弱是生命力的象征，坚强是死亡的预兆。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60604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② 万物草木之生也柔脆，其死也枯槁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草木活着时枝条柔韧，死了则干枯——自然万物无一例外，柔弱代表生机，枯槁代表死亡。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84048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③ 坚强者死之徒，柔弱者生之徒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属于坚强一类的是死亡之旅，属于柔弱一类的是生存之旅——老子揭示了强弱转化的辩证法则。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07492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④ 强大处下，柔弱处上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强大的反而处于下方，柔弱的反而处于上方——柔弱不是软弱，而是更具生命力的状态。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第七十六章 · 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1280160"/>
          </a:xfrm>
          <a:prstGeom prst="roundRect">
            <a:avLst/>
          </a:prstGeom>
          <a:solidFill>
            <a:srgbClr val="4682B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🌟 核心观点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t>柔弱胜刚强——生命的力量不在于强硬，而在于柔韧。真正强大的，是那些懂得示弱、保持柔顺的人。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83464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1. 柔弱代表生机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人活着时柔弱，死了才僵硬——柔弱是生命力的体现，是活力的象征。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06908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2. 坚强属于死亡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坚强的事物最终都会走向消亡——过于强硬反而会招致失败。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0352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3. 兵强则不胜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军队过于强硬反而无法获胜——逞强不是力量，柔韧才是真正的强大。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53796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4. 强大处下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真正强大的人懂得处下——处下不是软弱，而是智慧。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第七十七章 · 柔弱处上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4114800"/>
          </a:xfrm>
          <a:prstGeom prst="roundRect">
            <a:avLst/>
          </a:prstGeom>
          <a:solidFill>
            <a:srgbClr val="14233C"/>
          </a:solidFill>
          <a:ln>
            <a:solidFill>
              <a:srgbClr val="1E3C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4682B4"/>
                </a:solidFill>
              </a:defRPr>
            </a:pPr>
            <a:r>
              <a:t>【原文】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天下之至柔，驰骋天下之至坚。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无有入无间。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　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吾是以知无为之有益。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　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天下莫柔弱于水，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而攻坚强者莫之能胜。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　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其无以易之。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　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柔弱胜刚强。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　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弱之胜强，柔之胜刚，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天下莫不知，莫能行。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577840"/>
            <a:ext cx="8229600" cy="1463040"/>
          </a:xfrm>
          <a:prstGeom prst="roundRect">
            <a:avLst/>
          </a:prstGeom>
          <a:solidFill>
            <a:srgbClr val="F5F7FA"/>
          </a:solidFill>
          <a:ln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E3C72"/>
                </a:solidFill>
              </a:defRPr>
            </a:pPr>
            <a:r>
              <a:t>【白话解读】</a:t>
            </a:r>
          </a:p>
          <a:p>
            <a:pPr>
              <a:spcBef>
                <a:spcPts val="500"/>
              </a:spcBef>
              <a:defRPr sz="1800">
                <a:solidFill>
                  <a:srgbClr val="333333"/>
                </a:solidFill>
              </a:defRPr>
            </a:pPr>
            <a:r>
              <a:t>天下最柔弱的东西，能够穿透最坚硬的东西。无形的存在能够进入没有间隙的地方。我因此知道无为是有益的。天下没有什么比水更柔弱，但攻坚克强却没有能胜过水的。因为没有什么可以替代它。柔弱能战胜刚强。弱能胜强，柔能胜刚，天下没有人不知道，但没有人能够实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第七十七章 · 逐句释义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① 天下之至柔，驰骋天下之至坚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天下最柔弱的东西，能驾驭最坚硬的东西——水能穿石，风能蚀木，柔弱之力超越强硬。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60604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② 无有入无间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无形的力量能够穿透没有间隙的东西——'无'比'有'更有力量，无为比妄为更有效果。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84048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③ 天下莫柔弱于水，而攻坚强者莫之能胜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天下没有什么比水更柔弱，但攻坚强者没有能胜过水的——柔能克刚，以柔克刚是自然法则。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07492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④ 天下莫不知，莫能行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天下没有人不知道柔胜刚的道理，但没有人能够实行——知易行难，需要真正的智慧与修养。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第七十七章 · 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1280160"/>
          </a:xfrm>
          <a:prstGeom prst="roundRect">
            <a:avLst/>
          </a:prstGeom>
          <a:solidFill>
            <a:srgbClr val="4682B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🌟 核心观点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t>柔弱胜刚强——天下最柔的水，能攻克天下最刚强的东西。以柔克刚，是道的智慧。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83464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1. 至柔驰骋至坚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最柔弱的东西能驾驭最坚硬的东西——柔弱不是无能，而是最具穿透力的力量。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06908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2. 无有入无间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无形的力量能穿透无隙的东西——无为胜有为，无形胜有形。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0352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3. 水之柔弱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水虽柔弱却能攻克坚强——柔弱胜刚强是最普遍的自然法则。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53796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4. 知而不行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天下人莫不知柔胜刚，却莫能行——知道容易做到难，需要长期修养。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第七十八章 · 为而不争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3657600"/>
          </a:xfrm>
          <a:prstGeom prst="roundRect">
            <a:avLst/>
          </a:prstGeom>
          <a:solidFill>
            <a:srgbClr val="14233C"/>
          </a:solidFill>
          <a:ln>
            <a:solidFill>
              <a:srgbClr val="1E3C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4682B4"/>
                </a:solidFill>
              </a:defRPr>
            </a:pPr>
            <a:r>
              <a:t>【原文】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天下莫柔弱于水，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而攻坚强者莫之能胜。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　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以柔克刚，以弱胜强。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　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知其雄，守其雌，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此为溪常德。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　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复归于婴儿，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复归于朴。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　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为而不争，</a:t>
            </a:r>
          </a:p>
          <a:p>
            <a:pPr>
              <a:spcBef>
                <a:spcPts val="300"/>
              </a:spcBef>
              <a:defRPr sz="2200">
                <a:solidFill>
                  <a:srgbClr val="FFFFFF"/>
                </a:solidFill>
              </a:defRPr>
            </a:pPr>
            <a:r>
              <a:t>天之道也。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120640"/>
            <a:ext cx="8229600" cy="1463040"/>
          </a:xfrm>
          <a:prstGeom prst="roundRect">
            <a:avLst/>
          </a:prstGeom>
          <a:solidFill>
            <a:srgbClr val="F5F7FA"/>
          </a:solidFill>
          <a:ln>
            <a:solidFill>
              <a:srgbClr val="46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E3C72"/>
                </a:solidFill>
              </a:defRPr>
            </a:pPr>
            <a:r>
              <a:t>【白话解读】</a:t>
            </a:r>
          </a:p>
          <a:p>
            <a:pPr>
              <a:spcBef>
                <a:spcPts val="500"/>
              </a:spcBef>
              <a:defRPr sz="1800">
                <a:solidFill>
                  <a:srgbClr val="333333"/>
                </a:solidFill>
              </a:defRPr>
            </a:pPr>
            <a:r>
              <a:t>天下没有什么比水更柔弱，但攻坚克强却没有能胜过水的。以柔克刚，以弱胜强。知道什么是雄强，却甘愿处于雌柔，这就是接近永恒的德。再回归到婴儿般纯朴的状态，再回归到道的本源。有所作为但不与人争夺，这是自然的法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第七十八章 · 逐句释义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① 天下莫柔弱于水，而攻坚强者莫之能胜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天下最柔弱的是水，但攻坚克强没有能胜过水的——水是柔弱胜刚强的最好例证。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60604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② 知其雄，守其雌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知道什么是雄强，却甘愿处于雌柔——明知自己有能力，却选择谦下，这是最高的德行。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84048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③ 复归于婴儿，复归于朴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回归到婴儿般的纯真，回归到道的本源——返璞归真，复归自然，是人生的最高境界。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07492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④ 为而不争，天之道也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有所作为但不与人争夺，这是自然的法则——做该做的事，但不争功、不争利。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第七十八章 · 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1280160"/>
          </a:xfrm>
          <a:prstGeom prst="roundRect">
            <a:avLst/>
          </a:prstGeom>
          <a:solidFill>
            <a:srgbClr val="4682B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🌟 核心观点</a:t>
            </a:r>
          </a:p>
          <a:p>
            <a:pPr>
              <a:defRPr sz="1500">
                <a:solidFill>
                  <a:srgbClr val="FFFFFF"/>
                </a:solidFill>
              </a:defRPr>
            </a:pPr>
            <a:r>
              <a:t>为而不争——做该做的事，但不强求结果，不与人争。这是天之道，也是最高明的处世之道。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83464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1. 柔弱胜刚强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水虽柔弱却无坚不摧——柔弱不是无能，而是最强大的力量。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06908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2. 知雄守雌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知道自己的优势，却甘愿谦下——这是一种深层的智慧和修养。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30352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3. 复归于朴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回归本真、返璞归真——不被世俗所染，保持内心的纯朴。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53796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4. 为而不争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做事情但不争抢——天之道是利万物而不争，人的最高境界也是为而不争。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三章精华 · 一以贯之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141732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E3C72"/>
                </a:solidFill>
              </a:defRPr>
            </a:pPr>
            <a:r>
              <a:t>📖 第七十六章：出生入死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柔弱生之徒，坚强死之徒。强大处下，柔弱处上。生命的力量在于柔韧而非强硬。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880360"/>
            <a:ext cx="8229600" cy="141732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E3C72"/>
                </a:solidFill>
              </a:defRPr>
            </a:pPr>
            <a:r>
              <a:t>📖 第七十七章：柔弱处上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天下之至柔，驰骋天下之至坚。无有入无间。柔弱胜刚强，道之奥义。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389120"/>
            <a:ext cx="8229600" cy="141732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E3C72"/>
                </a:solidFill>
              </a:defRPr>
            </a:pPr>
            <a:r>
              <a:t>📖 第七十八章：为而不争</a:t>
            </a:r>
          </a:p>
          <a:p>
            <a:pPr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知其雄，守其雌，复归于朴。为而不争，天之道也——最高明的处世之道。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📌 现代应用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🏋️ 健身与健康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身体保持柔韧则健康，僵硬则衰亡——经常拉伸、瑜伽、太极，保持身体的柔韧性。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60604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💼 商业竞争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柔弱胜刚强 → 竞争中不逞强，善用柔韧策略，以退为进，才能在商海中立于不败之地。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84048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🧘 内心修养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复归于婴儿 → 减少成人世界的算计与焦虑，保持内心的纯真与好奇，活得更轻松自在。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507492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🤝 人际关系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为而不争 → 与人相处多做少说，不争功不抢功，反而更容易获得尊重与信任。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6309360"/>
            <a:ext cx="8229600" cy="1143000"/>
          </a:xfrm>
          <a:prstGeom prst="roundRect">
            <a:avLst/>
          </a:prstGeom>
          <a:solidFill>
            <a:srgbClr val="F5F7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E3C72"/>
                </a:solidFill>
              </a:defRPr>
            </a:pPr>
            <a:r>
              <a:t>💰 投资理财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弱之胜强 → 稳健投资不冒险，不追求高风险高回报，长期坚持反而收获更丰。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第24课 · 结语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7315200" cy="1828800"/>
          </a:xfrm>
          <a:prstGeom prst="roundRect">
            <a:avLst/>
          </a:prstGeom>
          <a:solidFill>
            <a:srgbClr val="14233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柔弱胜刚强</a:t>
            </a:r>
          </a:p>
          <a:p>
            <a:pPr algn="ctr">
              <a:spcBef>
                <a:spcPts val="1000"/>
              </a:spcBef>
              <a:defRPr sz="1800" i="1">
                <a:solidFill>
                  <a:srgbClr val="4682B4"/>
                </a:solidFill>
              </a:defRPr>
            </a:pPr>
            <a:r>
              <a:t>天下莫柔弱于水，而攻坚强者莫之能胜</a:t>
            </a:r>
          </a:p>
          <a:p>
            <a:pPr algn="ctr">
              <a:defRPr sz="1600">
                <a:solidFill>
                  <a:srgbClr val="B4B4B4"/>
                </a:solidFill>
              </a:defRPr>
            </a:pPr>
            <a:r>
              <a:t>为而不争，天之道也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333333"/>
                </a:solidFill>
              </a:defRPr>
            </a:pPr>
            <a:r>
              <a:t>道家智慧：至柔驰骋至坚，无有入无间。柔弱不是软弱，而是最具生命力的力量。</a:t>
            </a:r>
          </a:p>
          <a:p>
            <a:pPr algn="ctr">
              <a:spcBef>
                <a:spcPts val="800"/>
              </a:spcBef>
              <a:defRPr sz="1500">
                <a:solidFill>
                  <a:srgbClr val="4682B4"/>
                </a:solidFill>
              </a:defRPr>
            </a:pPr>
            <a:r>
              <a:t>知雄守雌，复归于朴——这是老子留给我们的处世良方。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969696"/>
                </a:solidFill>
              </a:defRPr>
            </a:pPr>
            <a:r>
              <a:t>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