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道德经</a:t>
            </a:r>
          </a:p>
          <a:p>
            <a:pPr algn="ctr">
              <a:defRPr sz="3600">
                <a:solidFill>
                  <a:srgbClr val="4682B4"/>
                </a:solidFill>
              </a:defRPr>
            </a:pPr>
            <a:r>
              <a:t>第22-24章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108960"/>
            <a:ext cx="3657600" cy="50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E3C72"/>
                </a:solidFill>
              </a:defRPr>
            </a:pPr>
            <a:r>
              <a:t>第二十二章 不自是 | 第二十三章 希言自然</a:t>
            </a:r>
            <a:br/>
            <a:r>
              <a:t>第二十四章 自知者明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2026年4月14日 · 第7天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第二十二章 不自是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1097280"/>
          </a:xfrm>
          <a:prstGeom prst="pentagon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i="1">
                <a:solidFill>
                  <a:srgbClr val="1E3C72"/>
                </a:solidFill>
              </a:defRPr>
            </a:pPr>
            <a:r>
              <a:t>曲则全，枉则直，洼则盈，</a:t>
            </a:r>
            <a:br/>
            <a:r>
              <a:t>敝则新，少则得，多则惑。</a:t>
            </a:r>
            <a:br/>
            <a:r>
              <a:t>是以圣人抱一为天下式。</a:t>
            </a:r>
            <a:br/>
            <a:r>
              <a:t>不自是，故彰；不自见，故明；</a:t>
            </a:r>
            <a:br/>
            <a:r>
              <a:t>不自伐，故有功；不自矜，故长。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24688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【解读】委曲反而能保全，弯曲反而能伸直，低洼反而能充盈。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31089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【要点】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6118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1. 曲则全：受得住委屈才能保全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411480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2. 不自是故彰：不自以为是，反而彰显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461772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3. 不自伐故有功：不自我夸耀，反而有功劳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512064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4. 夫唯不争，天下莫能与之争：正因为不争，天下没人能争得过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第二十三章 希言自然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1097280"/>
          </a:xfrm>
          <a:prstGeom prst="pentagon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i="1">
                <a:solidFill>
                  <a:srgbClr val="1E3C72"/>
                </a:solidFill>
              </a:defRPr>
            </a:pPr>
            <a:r>
              <a:t>希言自然。</a:t>
            </a:r>
            <a:br/>
            <a:r>
              <a:t>飘风不终朝，骤雨不终日。</a:t>
            </a:r>
            <a:br/>
            <a:r>
              <a:t>孰为此者？天地。</a:t>
            </a:r>
            <a:br/>
            <a:r>
              <a:t>天地尚不能久，而况于人乎？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24688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【解读】狂风刮不了一早晨，暴雨下不了一整天。谁造成的？天地。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31089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【要点】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6118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1. 少说话才合乎自然之道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411480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2. 飘风骤雨都是短暂的，不持久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461772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3. 暴风骤雨比喻强为之事不可长久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512064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4. 故从事于道者，道者同于道：追随道的人，道也与他同在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第二十四章 自知者明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1097280"/>
          </a:xfrm>
          <a:prstGeom prst="pentagon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i="1">
                <a:solidFill>
                  <a:srgbClr val="1E3C72"/>
                </a:solidFill>
              </a:defRPr>
            </a:pPr>
            <a:r>
              <a:t>企者不立，跨者不行，</a:t>
            </a:r>
            <a:br/>
            <a:r>
              <a:t>自见者不明，自是者不彰，</a:t>
            </a:r>
            <a:br/>
            <a:r>
              <a:t>自伐者无功，自矜者不长。</a:t>
            </a:r>
            <a:br/>
            <a:r>
              <a:t>其在道也，曰余食赘行，</a:t>
            </a:r>
            <a:br/>
            <a:r>
              <a:t>物或恶之，故有道者不处。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24688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【解读】踮起脚尖站不稳，迈大步走不远。自以为是反而不明。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31089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【要点】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36118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1. 企者不立：踮脚站不稳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411480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2. 跨者不行：大步走不远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461772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3. 自见者不明：固执己见反而不明白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512064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4. 其在道也，余食赘行：从道的角度看，这些就像剩饭赘肉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第22-24章 总结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第二十二章：曲则全，不自是故彰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7373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第二十三章：希言自然，飘风骤雨不终日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377439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第二十四章：企者不立，自知者明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914400" y="3657600"/>
            <a:ext cx="7315200" cy="137160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E3C72"/>
                </a:solidFill>
              </a:defRPr>
            </a:pPr>
            <a:r>
              <a:t>【核心要义】</a:t>
            </a:r>
            <a:br/>
            <a:r>
              <a:t>不争、谦下、自知之明。</a:t>
            </a:r>
            <a:br/>
            <a:r>
              <a:t>道家强调柔弱胜刚强，不自以为是方能有所成就。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道德经学习进度表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457200" y="10972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第1-3天 | 第1-9章（道可道，非常道）</a:t>
            </a:r>
          </a:p>
        </p:txBody>
      </p:sp>
      <p:sp>
        <p:nvSpPr>
          <p:cNvPr id="5" name="Regular Pentagon 4"/>
          <p:cNvSpPr/>
          <p:nvPr/>
        </p:nvSpPr>
        <p:spPr>
          <a:xfrm>
            <a:off x="457200" y="169164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第4-6天 | 第10-21章（上善若水等）</a:t>
            </a:r>
          </a:p>
        </p:txBody>
      </p:sp>
      <p:sp>
        <p:nvSpPr>
          <p:cNvPr id="6" name="Regular Pentagon 5"/>
          <p:cNvSpPr/>
          <p:nvPr/>
        </p:nvSpPr>
        <p:spPr>
          <a:xfrm>
            <a:off x="457200" y="228600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第7天（今天）| 第22-24章</a:t>
            </a:r>
          </a:p>
        </p:txBody>
      </p:sp>
      <p:sp>
        <p:nvSpPr>
          <p:cNvPr id="7" name="Regular Pentagon 6"/>
          <p:cNvSpPr/>
          <p:nvPr/>
        </p:nvSpPr>
        <p:spPr>
          <a:xfrm>
            <a:off x="457200" y="288036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第8天 | 第25-27章</a:t>
            </a:r>
          </a:p>
        </p:txBody>
      </p:sp>
      <p:sp>
        <p:nvSpPr>
          <p:cNvPr id="8" name="Regular Pentagon 7"/>
          <p:cNvSpPr/>
          <p:nvPr/>
        </p:nvSpPr>
        <p:spPr>
          <a:xfrm>
            <a:off x="457200" y="347472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第9天 | 第28-30章</a:t>
            </a:r>
          </a:p>
        </p:txBody>
      </p:sp>
      <p:sp>
        <p:nvSpPr>
          <p:cNvPr id="9" name="Regular Pentagon 8"/>
          <p:cNvSpPr/>
          <p:nvPr/>
        </p:nvSpPr>
        <p:spPr>
          <a:xfrm>
            <a:off x="457200" y="406908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第10天 | 第31-33章</a:t>
            </a:r>
          </a:p>
        </p:txBody>
      </p:sp>
      <p:sp>
        <p:nvSpPr>
          <p:cNvPr id="10" name="Regular Pentagon 9"/>
          <p:cNvSpPr/>
          <p:nvPr/>
        </p:nvSpPr>
        <p:spPr>
          <a:xfrm>
            <a:off x="457200" y="4663440"/>
            <a:ext cx="8229600" cy="594360"/>
          </a:xfrm>
          <a:prstGeom prst="pentagon">
            <a:avLst/>
          </a:prstGeom>
          <a:solidFill>
            <a:srgbClr val="F5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说明</a:t>
            </a:r>
          </a:p>
        </p:txBody>
      </p:sp>
      <p:sp>
        <p:nvSpPr>
          <p:cNvPr id="4" name="Regular Pentagon 3"/>
          <p:cNvSpPr/>
          <p:nvPr/>
        </p:nvSpPr>
        <p:spPr>
          <a:xfrm>
            <a:off x="914400" y="1828800"/>
            <a:ext cx="7315200" cy="2743200"/>
          </a:xfrm>
          <a:prstGeom prst="pentagon">
            <a:avLst/>
          </a:prstGeom>
          <a:solidFill>
            <a:srgbClr val="FFF5F5"/>
          </a:solidFill>
          <a:ln w="25400"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B43232"/>
                </a:solidFill>
              </a:defRPr>
            </a:pPr>
            <a:r>
              <a:t>【重要更正】</a:t>
            </a:r>
            <a:br/>
            <a:br/>
            <a:r>
              <a:t>本课件为第22-24章内容。</a:t>
            </a:r>
            <a:br/>
            <a:br/>
            <a:r>
              <a:t>之前错误发送的第31-35章课件作废，请以本版本为准。</a:t>
            </a:r>
            <a:br/>
            <a:br/>
            <a:r>
              <a:t>每日学习3章，从第1章依次递进。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629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