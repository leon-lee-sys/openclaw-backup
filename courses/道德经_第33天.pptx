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国学经典33章 · 终章特辑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3C72"/>
                </a:solidFill>
              </a:defRPr>
            </a:pPr>
            <a:r>
              <a:t>《道德经》第100-101章 · 第81章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4682B4"/>
                </a:solidFill>
              </a:defRPr>
            </a:pPr>
            <a:r>
              <a:t>为而不争 · 圣人之道 · 道德经完结篇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6400800" cy="128016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信言不美，美言不信。善者不辩，辩者不善。</a:t>
            </a:r>
          </a:p>
          <a:p>
            <a:pPr algn="ctr">
              <a:defRPr sz="1400">
                <a:solidFill>
                  <a:srgbClr val="B4B4B4"/>
                </a:solidFill>
              </a:defRPr>
            </a:pPr>
            <a:r>
              <a:t>知者不博，博者不知。—— 第八十一章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终章课程 · 三章收官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第一百章：为而不争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为而不争，与而不取。善为道者不以知争，功成不居。玄德深矣，与物反矣。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第一百零一章：圣人之道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圣人之道，为而不争，功成不居。不自见故明，不自是故彰。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C72"/>
                </a:solidFill>
              </a:defRPr>
            </a:pPr>
            <a:r>
              <a:t>📖 第八十一章：总结·信言不美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信言不美，美言不信。善者不辩，辩者不善。知者不博，博者不知——全篇总结。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第一百章 · 为而不争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为而不争，与而不取。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善为道者，不以知争。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以其不争，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故天下莫能与之争。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为而不争，功成不居。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夫唯不居，是以不去。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玄德深矣，远矣，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与物反矣，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然后乃至大顺。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有所作为但不争夺，给予但不索取。善于行道的人，不以智慧争夺。正因为他不争，所以天下没有人能与他争夺。有作为但不争夺，功业成就却不居功。正因为不居功，所以功业不会离去。玄德深奥啊，遥远啊，与万物同返于道，然后才能达到最大的顺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第一百章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为而不争，与而不取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有所作为但不争夺，给予但不索取——为道者无私无欲，只管付出，不问收获。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善为道者，不以知争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善于行道的人，不以智慧争夺——不用智巧争抢，不以才华压人。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以其不争，故天下莫能与之争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正因为他有不争的美德，所以天下没有人能与他争夺——不争者无敌于天下。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功成不居，夫唯不居，是以不去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功业成就却不居功，正因为不居功，所以功业不会离去——退让反而保全。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玄德深矣，远矣，与物反矣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玄德深奥遥远，与万物同返于道——返回道的本源，达到大顺境界。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第一百章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为而不争——行道者有所作为但不争夺，功成不居。不争之争，是为玄德。夫唯不争，天下莫能与之争。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为而不争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做事尽心尽力，但不与人争夺——只问付出，不问回报。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与而不取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给予但不索取——慷慨奉献，不求报偿。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不以知争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不用智巧争夺——不耍小聪明，不争一时之快。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功成不居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成就功业却不居功——谦退让贤，反而保全。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77724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5. 玄德大顺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玄德深远，与物反矣——返回道的本源，达到大顺境界。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第一百零一章 · 圣人之道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20040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圣人之道，为而不争，功成不居。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不自见故明，不自是故彰，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不自伐故有功，不自矜故长。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夫唯不争，故天下莫能与之争。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古之所谓曲则全者，岂虚言哉！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诚全而归之。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圣人的道，有所作为但不争夺，功业成就却不居功。不自我显示所以明智，不自以为是所以彰显，不自我夸耀所以有功，不自我骄傲所以长久。正因为不争夺，所以天下没有人能与他争夺。古人所说的委屈反而能保全，难道是空话吗！确实能够保全而归附于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第一百零一章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圣人之道，为而不争，功成不居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圣人的道——有所作为但不争夺，功成不居，是圣人的行为准则。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不自见故明，不自是故彰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不自我显示所以明智，不自以为是所以彰显——谦逊的人反而能看清全局。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不自伐故有功，不自矜故长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不自我夸耀所以有功，不自我骄傲所以长久——不争功反而功成名就。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夫唯不争，故天下莫能与之争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正因为不争夺，所以天下没有人能与他争夺——不争是最高明的争。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曲则全——诚全而归之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委屈反而能保全——真正的保全不是争来的，而是让出来的。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第一百零一章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圣人之道——为而不争，功成不居。不自见、不自是、不自伐、不自矜。曲则全，诚全而归之。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四不精神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不自见、不自是、不自伐、不自矜——不自我彰显，反而明智、彰显、有功、长久。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不争之争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夫唯不争，故天下莫能与之争——不争是最高明的策略。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曲则全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委屈反而能保全——退一步海阔天空，让三分皆大欢喜。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诚全归之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确实能够保全而归附于道——真诚地退让，最终能保全自己。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第八十一章 · 信言不美（全书总结）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114800"/>
          </a:xfrm>
          <a:prstGeom prst="roundRect">
            <a:avLst/>
          </a:prstGeom>
          <a:solidFill>
            <a:srgbClr val="14233C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【原文】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信言不美，美言不信。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善者不辩，辩者不善。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知者不博，博者不知。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圣人不积，既以为人己愈有，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既以与人己愈多。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天之道，利而不害。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圣人之道，为而不争。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　</a:t>
            </a:r>
          </a:p>
          <a:p>
            <a:pPr>
              <a:spcBef>
                <a:spcPts val="300"/>
              </a:spcBef>
              <a:defRPr sz="2200">
                <a:solidFill>
                  <a:srgbClr val="FFFFFF"/>
                </a:solidFill>
              </a:defRPr>
            </a:pPr>
            <a:r>
              <a:t>—— 终章 ——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577840"/>
            <a:ext cx="8229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800">
                <a:solidFill>
                  <a:srgbClr val="333333"/>
                </a:solidFill>
              </a:defRPr>
            </a:pPr>
            <a:r>
              <a:t>真实的话不华美，华美的话不真实。善良的人不巧辩，巧辩的人不善良。有智慧的人不广博，广博的人没有智慧。圣人不积蓄，尽力帮助别人自己反而更富有，尽量给予别人自己反而更充足。天的道，利益万物而不伤害。圣人的道，有所作为但不争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第八十一章 · 逐句释义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① 信言不美，美言不信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真实的话不华美，华美的话不真实——花言巧语往往不可信，真话往往不好听。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② 善者不辩，辩者不善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善良的人不巧辩，巧辩的人不善良——真正善良的人不需要争辩，真理自在人心。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③ 知者不博，博者不知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有智慧的人不广博，广博的人没有智慧——专精与广博的矛盾，真正智者有所取舍。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④ 圣人不积，为人愈有，与人愈多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圣人不积蓄，帮助别人自己更富有，给予别人自己更充足——越分享越富有。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⑤ 天之道，利而不害；圣人之道，为而不争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天道利物无害，圣道为而不争——全书核心宗旨的最终总结。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第八十一章 · 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信言不美，美言不信——终章总结：真实胜于华美，利他胜于利己，为而不争是天之道、圣人之道。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1. 信与美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信言不美，美言不信——真实的话往往不华美，华美的话往往不真实。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690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2. 善与辩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善者不辩，辩者不善——真正善良的人不需要巧辩，真理自在人心。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3. 知与博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知者不博，博者不知——专精与广博的矛盾，有智慧的人有所取舍。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5379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4. 圣人不积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既以为人己愈有，既以与人己愈多——越分享越富有，越给予越充足。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77724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5. 道之总结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天之道，利而不害；圣人之道，为而不争——全书核心宗旨的最终总结。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终章三篇 · 一以贯之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第一百章：为而不争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为而不争，与而不取，功成不居。玄德深矣，与物反矣——不争是最高明的争。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第一百零一章：圣人之道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圣人之道：为而不争，功成不居。不自见故明，不自是故彰。不自伐故有功，不自矜故长。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141732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第八十一章：全书总结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信言不美，美言不信。善者不辩，辩者不善。圣人不积，既以为人己愈有，既以与人己愈多。天之道，利而不害；圣人之道，为而不争。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📌 道德经81章核心脉络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第一章：道可道，非常道——开篇明义，道不可言说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21992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第十五章：微妙玄通，深不可识——古之善为道者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72384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第三十三章：知人者智，自知者明——认识自我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22776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第五十七章：以正治国，以奇用兵——治国之道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73168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第六十三章：为无为，事无事，味无味——无为而为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23559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第六十六章：江海所以能为百谷王者——处下不争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473951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第七十八章：天下莫柔弱于水——柔弱胜刚强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7324344"/>
            <a:ext cx="8229600" cy="804672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第八十一章：圣人之道，为而不争——全书宗旨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📌 现实联想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💎 信言不美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真实的话往往不中听——忠言逆耳利于行，多听真实反馈，少被美言迷惑。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🤝 为而不争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做事但不争抢——职场中做事尽心、不争功劳的人，反而容易获得晋升机会。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🎁 与人愈多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给予反而更富有——分享知识、经验、资源，帮助他人的同时自己也在成长。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📊 不自伐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不自我夸耀——有功劳不说，反而让人觉得可靠，功劳自然不会被埋没。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🌊 曲则全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委屈反而能保全——职场中适当让步、顾全大局的人，往往走得更远。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💼 管理启示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🎯 为而不争的领导力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领导者做事但不为争夺功劳，让团队成员获得荣誉。不争的领导者反而能凝聚人心、获得追随。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📣 不自伐的谦逊管理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有功不自我夸耀——这样的管理者让团队成员感到被尊重，团队更加团结，功劳自然保全。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🤝 与人愈多的领导格局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领导者越分享、越给予团队成长机会，自己收获的尊重和能力也越多。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⚖️ 曲则全的管理艺术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懂得在适当时候让步、顾全大局的管理者——看似吃亏，实则保全了更大的利益。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309360"/>
            <a:ext cx="8229600" cy="1143000"/>
          </a:xfrm>
          <a:prstGeom prst="round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🏆 信言不美的决策智慧</a:t>
            </a:r>
          </a:p>
          <a:p>
            <a:pPr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决策时多听真实但不好听的声音，而不是只听爱听的话——真实信息是正确决策的基础。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全书结语 · 道德经81章圆满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201168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天之道，利而不害</a:t>
            </a:r>
          </a:p>
          <a:p>
            <a:pPr algn="ctr">
              <a:spcBef>
                <a:spcPts val="800"/>
              </a:spcBef>
              <a:defRPr sz="3600" b="1">
                <a:solidFill>
                  <a:srgbClr val="4682B4"/>
                </a:solidFill>
              </a:defRPr>
            </a:pPr>
            <a:r>
              <a:t>圣人之道，为而不争</a:t>
            </a:r>
          </a:p>
          <a:p>
            <a:pPr algn="ctr">
              <a:defRPr sz="1600">
                <a:solidFill>
                  <a:srgbClr val="B4B4B4"/>
                </a:solidFill>
              </a:defRPr>
            </a:pPr>
            <a:r>
              <a:t>——《道德经》终章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81章道德经，核心在于：道法自然，为无为，事无事，味无味。</a:t>
            </a:r>
          </a:p>
          <a:p>
            <a:pPr algn="ctr">
              <a:spcBef>
                <a:spcPts val="600"/>
              </a:spcBef>
              <a:defRPr sz="1600">
                <a:solidFill>
                  <a:srgbClr val="4682B4"/>
                </a:solidFill>
              </a:defRPr>
            </a:pPr>
            <a:r>
              <a:t>上善若水，柔弱胜刚强，夫唯不争，天下莫能与之争。</a:t>
            </a:r>
          </a:p>
          <a:p>
            <a:pPr algn="ctr"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知足者富，强行者有志，死而不亡者寿。</a:t>
            </a:r>
          </a:p>
          <a:p>
            <a:pPr algn="ctr">
              <a:spcBef>
                <a:spcPts val="600"/>
              </a:spcBef>
              <a:defRPr sz="1500">
                <a:solidFill>
                  <a:srgbClr val="646464"/>
                </a:solidFill>
              </a:defRPr>
            </a:pPr>
            <a:r>
              <a:t>信言不美，美言不信；圣人不积，既以为人己愈有，既以与人己愈多。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