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《道德经》每日一课</a:t>
            </a:r>
          </a:p>
          <a:p>
            <a:pPr algn="ctr">
              <a:spcBef>
                <a:spcPts val="1600"/>
              </a:spcBef>
              <a:defRPr sz="2600">
                <a:solidFill>
                  <a:srgbClr val="666666"/>
                </a:solidFill>
              </a:defRPr>
            </a:pPr>
            <a:r>
              <a:t>第13天 · 第40-42章</a:t>
            </a:r>
          </a:p>
          <a:p>
            <a:pPr algn="ctr">
              <a:spcBef>
                <a:spcPts val="2000"/>
              </a:spcBef>
              <a:defRPr sz="2000">
                <a:solidFill>
                  <a:srgbClr val="B22222"/>
                </a:solidFill>
              </a:defRPr>
            </a:pPr>
            <a:r>
              <a:t>反者道之动 · 阴阳相生</a:t>
            </a:r>
          </a:p>
          <a:p>
            <a:pPr algn="ctr">
              <a:spcBef>
                <a:spcPts val="4000"/>
              </a:spcBef>
              <a:defRPr sz="1600">
                <a:solidFill>
                  <a:srgbClr val="666666"/>
                </a:solidFill>
              </a:defRPr>
            </a:pPr>
            <a:r>
              <a:t>2026年4月20日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56692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666666"/>
                </a:solidFill>
              </a:defRPr>
            </a:pPr>
            <a:r>
              <a:t>「上善若水，水善利万物而不争。」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第四十章 · 反者道之动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88720"/>
            <a:ext cx="8412480" cy="1463040"/>
          </a:xfrm>
          <a:prstGeom prst="roundRect">
            <a:avLst/>
          </a:prstGeom>
          <a:solidFill>
            <a:srgbClr val="F0F8FF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300" b="1">
                <a:solidFill>
                  <a:srgbClr val="003366"/>
                </a:solidFill>
              </a:defRPr>
            </a:pPr>
            <a:r>
              <a:t>【原文】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反者道之动，弱者道之用。天下万物生于有，有生于无。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834640"/>
            <a:ext cx="8412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B22222"/>
                </a:solidFill>
              </a:defRPr>
            </a:pPr>
            <a:r>
              <a:t>【白话解读】</a:t>
            </a:r>
          </a:p>
          <a:p>
            <a:pPr>
              <a:lnSpc>
                <a:spcPct val="150000"/>
              </a:lnSpc>
              <a:spcBef>
                <a:spcPts val="800"/>
              </a:spcBef>
              <a:defRPr sz="1500">
                <a:solidFill>
                  <a:srgbClr val="333333"/>
                </a:solidFill>
              </a:defRPr>
            </a:pPr>
            <a:r>
              <a:t>道的运动是循环往复的，道的作用是微妙柔弱的。天下万物产生于具体的有（有形的存在），而有又产生于虚无的道（无形的本原）。这是老子对宇宙生成论的核心表述——从「无」到「有」的演化过程。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754880"/>
            <a:ext cx="8412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B22222"/>
                </a:solidFill>
              </a:defRPr>
            </a:pPr>
            <a:r>
              <a:t>【精华提炼】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「反」：返回、循环，道的运动规律是周而复始的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「弱」：柔弱胜刚强，道以柔弱为用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「有无相生」：一切从无中来，又向无中去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第四十一章 · 上士闻道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88720"/>
            <a:ext cx="8412480" cy="1645920"/>
          </a:xfrm>
          <a:prstGeom prst="roundRect">
            <a:avLst/>
          </a:prstGeom>
          <a:solidFill>
            <a:srgbClr val="F0F8FF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300" b="1">
                <a:solidFill>
                  <a:srgbClr val="003366"/>
                </a:solidFill>
              </a:defRPr>
            </a:pPr>
            <a:r>
              <a:t>【原文】</a:t>
            </a:r>
          </a:p>
          <a:p>
            <a:pPr>
              <a:spcBef>
                <a:spcPts val="1000"/>
              </a:spcBef>
              <a:defRPr sz="1700">
                <a:solidFill>
                  <a:srgbClr val="333333"/>
                </a:solidFill>
              </a:defRPr>
            </a:pPr>
            <a:r>
              <a:t>上士闻道，勤而行之；中士闻道，若存若亡；下士闻道，大笑之。不笑不足以为道。</a:t>
            </a:r>
          </a:p>
          <a:p>
            <a:pPr>
              <a:spcBef>
                <a:spcPts val="1200"/>
              </a:spcBef>
              <a:defRPr sz="1500">
                <a:solidFill>
                  <a:srgbClr val="333333"/>
                </a:solidFill>
              </a:defRPr>
            </a:pPr>
            <a:r>
              <a:t>故建言有之：明道若昧，进道若退，夷道若纇，上德若谷，大白若辱，广德若不足，建德若偷，质真若渝，大方无隅，大器晚成，大音希声，大象无形，道隐无名。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926080"/>
            <a:ext cx="8412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B22222"/>
                </a:solidFill>
              </a:defRPr>
            </a:pPr>
            <a:r>
              <a:t>【白话解读】</a:t>
            </a:r>
          </a:p>
          <a:p>
            <a:pPr>
              <a:lnSpc>
                <a:spcPct val="140000"/>
              </a:lnSpc>
              <a:spcBef>
                <a:spcPts val="800"/>
              </a:spcBef>
              <a:defRPr sz="1400">
                <a:solidFill>
                  <a:srgbClr val="333333"/>
                </a:solidFill>
              </a:defRPr>
            </a:pPr>
            <a:r>
              <a:t>上等士人听闻道，就会努力去实践；中等士人将信将疑；下等士人则加以嘲笑。不被嘲笑，就不足以称为道了。因而古语说：光明的道好像暗昧；前进的道好像后退；平坦的道好像崎岖；崇高的德好像低洼的山谷……真正的道理往往与表面现象相反，需要用心体悟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029200"/>
            <a:ext cx="8412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B22222"/>
                </a:solidFill>
              </a:defRPr>
            </a:pPr>
            <a:r>
              <a:t>【精华提炼】</a:t>
            </a:r>
          </a:p>
          <a:p>
            <a:pPr>
              <a:spcBef>
                <a:spcPts val="500"/>
              </a:spcBef>
              <a:defRPr sz="1400">
                <a:solidFill>
                  <a:srgbClr val="333333"/>
                </a:solidFill>
              </a:defRPr>
            </a:pPr>
            <a:r>
              <a:t>• 真金不怕火炼：真正的道，往往超越常人认知</a:t>
            </a:r>
          </a:p>
          <a:p>
            <a:pPr>
              <a:spcBef>
                <a:spcPts val="500"/>
              </a:spcBef>
              <a:defRPr sz="1400">
                <a:solidFill>
                  <a:srgbClr val="333333"/>
                </a:solidFill>
              </a:defRPr>
            </a:pPr>
            <a:r>
              <a:t>• 大器晚成：成就大事需要时间与耐心</a:t>
            </a:r>
          </a:p>
          <a:p>
            <a:pPr>
              <a:spcBef>
                <a:spcPts val="500"/>
              </a:spcBef>
              <a:defRPr sz="1400">
                <a:solidFill>
                  <a:srgbClr val="333333"/>
                </a:solidFill>
              </a:defRPr>
            </a:pPr>
            <a:r>
              <a:t>• 大音希声：最宏大的声音反而听不见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第四十二章 · 道生一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88720"/>
            <a:ext cx="8412480" cy="1371600"/>
          </a:xfrm>
          <a:prstGeom prst="roundRect">
            <a:avLst/>
          </a:prstGeom>
          <a:solidFill>
            <a:srgbClr val="F0F8FF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300" b="1">
                <a:solidFill>
                  <a:srgbClr val="003366"/>
                </a:solidFill>
              </a:defRPr>
            </a:pPr>
            <a:r>
              <a:t>【原文】</a:t>
            </a:r>
          </a:p>
          <a:p>
            <a:pPr>
              <a:spcBef>
                <a:spcPts val="1000"/>
              </a:spcBef>
              <a:defRPr sz="1700">
                <a:solidFill>
                  <a:srgbClr val="333333"/>
                </a:solidFill>
              </a:defRPr>
            </a:pPr>
            <a:r>
              <a:t>道生一，一生二，二生三，三生万物。万物负阴而抱阳，冲气以为和。</a:t>
            </a:r>
          </a:p>
          <a:p>
            <a:pPr>
              <a:spcBef>
                <a:spcPts val="1000"/>
              </a:spcBef>
              <a:defRPr sz="1500">
                <a:solidFill>
                  <a:srgbClr val="333333"/>
                </a:solidFill>
              </a:defRPr>
            </a:pPr>
            <a:r>
              <a:t>人之所恶，唯孤、寡、不谷，而王公以为称。故物或损之而益，或益之而损。人之所教，我亦教之：强梁者不得其死，吾将以为教父。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743200"/>
            <a:ext cx="8412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B22222"/>
                </a:solidFill>
              </a:defRPr>
            </a:pPr>
            <a:r>
              <a:t>【白话解读】</a:t>
            </a:r>
          </a:p>
          <a:p>
            <a:pPr>
              <a:lnSpc>
                <a:spcPct val="140000"/>
              </a:lnSpc>
              <a:spcBef>
                <a:spcPts val="800"/>
              </a:spcBef>
              <a:defRPr sz="1400">
                <a:solidFill>
                  <a:srgbClr val="333333"/>
                </a:solidFill>
              </a:defRPr>
            </a:pPr>
            <a:r>
              <a:t>道是独一无二的原初存在，一生二（产生阴阳二气），二生三（阴阳二气交合），三生万物。万物背阴而向阳，阴阳二气相互激荡而达到和谐。世人厌恶孤、寡、不谷，但王公却用这些词自称。事物有时减损反而有益，有时增益反而有害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663440"/>
            <a:ext cx="84124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B22222"/>
                </a:solidFill>
              </a:defRPr>
            </a:pPr>
            <a:r>
              <a:t>【精华提炼】</a:t>
            </a:r>
          </a:p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</a:defRPr>
            </a:pPr>
            <a:r>
              <a:t>• 「道生万物」：从无到有，从一到万，宇宙生成的自然规律</a:t>
            </a:r>
          </a:p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</a:defRPr>
            </a:pPr>
            <a:r>
              <a:t>• 「负阴抱阳」：万事万物皆包含对立统一的阴阳两面</a:t>
            </a:r>
          </a:p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</a:defRPr>
            </a:pPr>
            <a:r>
              <a:t>• 「冲气为和」：和谐来自对立力量的平衡与调适</a:t>
            </a:r>
          </a:p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</a:defRPr>
            </a:pPr>
            <a:r>
              <a:t>• 「强梁者不得其死」：过于强硬反而招致灭亡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典故案例 · 塞翁失马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i="1">
                <a:solidFill>
                  <a:srgbClr val="666666"/>
                </a:solidFill>
              </a:defRPr>
            </a:pPr>
            <a:r>
              <a:t>「祸兮福所倚，福兮祸所伏。」—— 祸福相依，阴阳互转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828800"/>
            <a:ext cx="8412480" cy="4114800"/>
          </a:xfrm>
          <a:prstGeom prst="roundRect">
            <a:avLst/>
          </a:prstGeom>
          <a:solidFill>
            <a:srgbClr val="FAFAFA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200"/>
              </a:spcBef>
              <a:defRPr sz="1400" b="1">
                <a:solidFill>
                  <a:srgbClr val="B22222"/>
                </a:solidFill>
              </a:defRPr>
            </a:pPr>
            <a:r>
              <a:t>《淮南子·人间训》</a:t>
            </a:r>
          </a:p>
          <a:p>
            <a:pPr>
              <a:lnSpc>
                <a:spcPct val="160000"/>
              </a:lnSpc>
              <a:spcBef>
                <a:spcPts val="1400"/>
              </a:spcBef>
              <a:defRPr sz="1500">
                <a:solidFill>
                  <a:srgbClr val="333333"/>
                </a:solidFill>
              </a:defRPr>
            </a:pPr>
            <a:r>
              <a:t>从前，边塞地区住着一个精通道术的老人。他的马无缘无故跑到了胡人的地方，大家都为此安慰他。父亲说：'这未必不是一件好事。'</a:t>
            </a:r>
          </a:p>
          <a:p>
            <a:pPr>
              <a:lnSpc>
                <a:spcPct val="160000"/>
              </a:lnSpc>
              <a:spcBef>
                <a:spcPts val="1400"/>
              </a:spcBef>
              <a:defRPr sz="1500">
                <a:solidFill>
                  <a:srgbClr val="333333"/>
                </a:solidFill>
              </a:defRPr>
            </a:pPr>
            <a:r>
              <a:t>过了几个月，那匹马带着一群胡地的骏马回来了。大家都来祝贺。父亲说：'这未必不会成为一件坏事。'家里有好马，儿子喜欢骑马，结果从马上摔下来折断了大腿。</a:t>
            </a:r>
          </a:p>
          <a:p>
            <a:pPr>
              <a:lnSpc>
                <a:spcPct val="160000"/>
              </a:lnSpc>
              <a:spcBef>
                <a:spcPts val="1400"/>
              </a:spcBef>
              <a:defRPr sz="1500">
                <a:solidFill>
                  <a:srgbClr val="333333"/>
                </a:solidFill>
              </a:defRPr>
            </a:pPr>
            <a:r>
              <a:t>过了一年，胡人大举入侵，边塞壮年男子都拿起弓箭去打仗。靠近边塞的人，十个有九个都战死了。只有他儿子因为腿瘸的缘故，得以保全性命。</a:t>
            </a:r>
          </a:p>
          <a:p>
            <a:pPr>
              <a:lnSpc>
                <a:spcPct val="160000"/>
              </a:lnSpc>
              <a:spcBef>
                <a:spcPts val="1400"/>
              </a:spcBef>
              <a:defRPr sz="1500">
                <a:solidFill>
                  <a:srgbClr val="333333"/>
                </a:solidFill>
              </a:defRPr>
            </a:pPr>
            <a:r>
              <a:t>所以《易经》说：'吉凶祸福都是自己招致的。'</a:t>
            </a:r>
          </a:p>
          <a:p>
            <a:pPr>
              <a:spcBef>
                <a:spcPts val="1800"/>
              </a:spcBef>
              <a:defRPr sz="1400" b="1">
                <a:solidFill>
                  <a:srgbClr val="003366"/>
                </a:solidFill>
              </a:defRPr>
            </a:pPr>
            <a:r>
              <a:t>✅ 印证第四十章「反者道之动」：事物发展到极点，必然向反面转化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第40-42章 · 精华总结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280160"/>
            <a:ext cx="8412480" cy="1371600"/>
          </a:xfrm>
          <a:prstGeom prst="roundRect">
            <a:avLst/>
          </a:prstGeom>
          <a:solidFill>
            <a:srgbClr val="F5F8FF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800" b="1">
                <a:solidFill>
                  <a:srgbClr val="003366"/>
                </a:solidFill>
              </a:defRPr>
            </a:pPr>
            <a:r>
              <a:t>第四十章：反者道之动</a:t>
            </a:r>
          </a:p>
          <a:p>
            <a:pPr algn="ctr">
              <a:spcBef>
                <a:spcPts val="800"/>
              </a:spcBef>
              <a:defRPr sz="1500">
                <a:solidFill>
                  <a:srgbClr val="333333"/>
                </a:solidFill>
              </a:defRPr>
            </a:pPr>
            <a:r>
              <a:t>道的运动是循环往复的，万物生于有，有生于无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834639"/>
            <a:ext cx="8412480" cy="1371600"/>
          </a:xfrm>
          <a:prstGeom prst="roundRect">
            <a:avLst/>
          </a:prstGeom>
          <a:solidFill>
            <a:srgbClr val="F5F8FF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800" b="1">
                <a:solidFill>
                  <a:srgbClr val="003366"/>
                </a:solidFill>
              </a:defRPr>
            </a:pPr>
            <a:r>
              <a:t>第四十一章：上士闻道</a:t>
            </a:r>
          </a:p>
          <a:p>
            <a:pPr algn="ctr">
              <a:spcBef>
                <a:spcPts val="800"/>
              </a:spcBef>
              <a:defRPr sz="1500">
                <a:solidFill>
                  <a:srgbClr val="333333"/>
                </a:solidFill>
              </a:defRPr>
            </a:pPr>
            <a:r>
              <a:t>真正悟道者勤而行之，真理往往超越表面认知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4389120"/>
            <a:ext cx="8412480" cy="1371600"/>
          </a:xfrm>
          <a:prstGeom prst="roundRect">
            <a:avLst/>
          </a:prstGeom>
          <a:solidFill>
            <a:srgbClr val="F5F8FF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800" b="1">
                <a:solidFill>
                  <a:srgbClr val="003366"/>
                </a:solidFill>
              </a:defRPr>
            </a:pPr>
            <a:r>
              <a:t>第四十二章：道生一</a:t>
            </a:r>
          </a:p>
          <a:p>
            <a:pPr algn="ctr">
              <a:spcBef>
                <a:spcPts val="800"/>
              </a:spcBef>
              <a:defRPr sz="1500">
                <a:solidFill>
                  <a:srgbClr val="333333"/>
                </a:solidFill>
              </a:defRPr>
            </a:pPr>
            <a:r>
              <a:t>阴阳相生，刚柔并济，强梁者不得其死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5852160"/>
            <a:ext cx="6400800" cy="73152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💡 今日功课：体会「反者道之动」的智慧，在生活中观察阴阳转化之道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