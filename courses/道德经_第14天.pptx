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《道德经》每日一课</a:t>
            </a:r>
          </a:p>
          <a:p>
            <a:pPr algn="ctr">
              <a:spcBef>
                <a:spcPts val="1600"/>
              </a:spcBef>
              <a:defRPr sz="2600">
                <a:solidFill>
                  <a:srgbClr val="666666"/>
                </a:solidFill>
              </a:defRPr>
            </a:pPr>
            <a:r>
              <a:t>第14天 · 第43-45章</a:t>
            </a:r>
          </a:p>
          <a:p>
            <a:pPr algn="ctr">
              <a:spcBef>
                <a:spcPts val="2000"/>
              </a:spcBef>
              <a:defRPr sz="2000">
                <a:solidFill>
                  <a:srgbClr val="B22222"/>
                </a:solidFill>
              </a:defRPr>
            </a:pPr>
            <a:r>
              <a:t>知者不言 · 为学日益 · 大成若缺</a:t>
            </a:r>
          </a:p>
          <a:p>
            <a:pPr algn="ctr">
              <a:spcBef>
                <a:spcPts val="4000"/>
              </a:spcBef>
              <a:defRPr sz="1600">
                <a:solidFill>
                  <a:srgbClr val="666666"/>
                </a:solidFill>
              </a:defRPr>
            </a:pPr>
            <a:r>
              <a:t>2026年4月21日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669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666666"/>
                </a:solidFill>
              </a:defRPr>
            </a:pPr>
            <a:r>
              <a:t>「上善若水，水善利万物而不争。」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第四十三章 · 知者不言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8412480" cy="1463040"/>
          </a:xfrm>
          <a:prstGeom prst="roundRect">
            <a:avLst/>
          </a:prstGeom>
          <a:solidFill>
            <a:srgbClr val="F0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1">
                <a:solidFill>
                  <a:srgbClr val="003366"/>
                </a:solidFill>
              </a:defRPr>
            </a:pPr>
            <a:r>
              <a:t>【原文】</a:t>
            </a:r>
          </a:p>
          <a:p>
            <a:pPr>
              <a:spcBef>
                <a:spcPts val="1000"/>
              </a:spcBef>
              <a:defRPr sz="1700">
                <a:solidFill>
                  <a:srgbClr val="333333"/>
                </a:solidFill>
              </a:defRPr>
            </a:pPr>
            <a:r>
              <a:t>天下皆知美之为美，斯恶已；皆知善之为善，斯不善已。故有无相生，难易相成，长短相较，高下相倾，音声相和，前后相随。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834640"/>
            <a:ext cx="8412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22222"/>
                </a:solidFill>
              </a:defRPr>
            </a:pPr>
            <a:r>
              <a:t>【白话解读】</a:t>
            </a:r>
          </a:p>
          <a:p>
            <a:pPr>
              <a:lnSpc>
                <a:spcPct val="150000"/>
              </a:lnSpc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天下人都知道美之所以为美，丑的观念就产生了；都知道善之所以为善，不善的观念也就产生了。所以有与无相互生成，难与易相互成就，长与短相互显现，高与下相互依存，音与声相互和谐，前与后相互跟随——这便是宇宙万象对立统一的根本规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0"/>
            <a:ext cx="8412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22222"/>
                </a:solidFill>
              </a:defRPr>
            </a:pPr>
            <a:r>
              <a:t>【精华提炼】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「相对而生」：一切价值都是相对比较而存在的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「相生相成」：对立事物互相依存、互相成就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「自然之美」：不刻意比较，顺其自然才是真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第四十四章 · 为学日益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8412480" cy="1645920"/>
          </a:xfrm>
          <a:prstGeom prst="roundRect">
            <a:avLst/>
          </a:prstGeom>
          <a:solidFill>
            <a:srgbClr val="F0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1">
                <a:solidFill>
                  <a:srgbClr val="003366"/>
                </a:solidFill>
              </a:defRPr>
            </a:pPr>
            <a:r>
              <a:t>【原文】</a:t>
            </a:r>
          </a:p>
          <a:p>
            <a:pPr>
              <a:spcBef>
                <a:spcPts val="1000"/>
              </a:spcBef>
              <a:defRPr sz="1700">
                <a:solidFill>
                  <a:srgbClr val="333333"/>
                </a:solidFill>
              </a:defRPr>
            </a:pPr>
            <a:r>
              <a:t>为学日益，为道日损。损之又损，以至于无为，无为而无不为。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取天下常以无事，及其有事，不足以取天下。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926080"/>
            <a:ext cx="8412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22222"/>
                </a:solidFill>
              </a:defRPr>
            </a:pPr>
            <a:r>
              <a:t>【白话解读】</a:t>
            </a:r>
          </a:p>
          <a:p>
            <a:pPr>
              <a:lnSpc>
                <a:spcPct val="140000"/>
              </a:lnSpc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追求学问，知识每天都会增加；追求大道，欲望每天都会减少。减少再减少，一直到达自然无为的境界，无为反而能成就一切。治理天下要靠不妄为，如果政令繁苛，就不足以治理天下了。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029200"/>
            <a:ext cx="8412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22222"/>
                </a:solidFill>
              </a:defRPr>
            </a:pPr>
            <a:r>
              <a:t>【精华提炼】</a:t>
            </a:r>
          </a:p>
          <a:p>
            <a:pPr>
              <a:spcBef>
                <a:spcPts val="500"/>
              </a:spcBef>
              <a:defRPr sz="1400">
                <a:solidFill>
                  <a:srgbClr val="333333"/>
                </a:solidFill>
              </a:defRPr>
            </a:pPr>
            <a:r>
              <a:t>• 「为学日益」：知识技能需要不断积累</a:t>
            </a:r>
          </a:p>
          <a:p>
            <a:pPr>
              <a:spcBef>
                <a:spcPts val="500"/>
              </a:spcBef>
              <a:defRPr sz="1400">
                <a:solidFill>
                  <a:srgbClr val="333333"/>
                </a:solidFill>
              </a:defRPr>
            </a:pPr>
            <a:r>
              <a:t>• 「为道日损」：修心养性需要不断放下执念</a:t>
            </a:r>
          </a:p>
          <a:p>
            <a:pPr>
              <a:spcBef>
                <a:spcPts val="500"/>
              </a:spcBef>
              <a:defRPr sz="1400">
                <a:solidFill>
                  <a:srgbClr val="333333"/>
                </a:solidFill>
              </a:defRPr>
            </a:pPr>
            <a:r>
              <a:t>• 「无为而无不为」：不妄为反而什么都做成了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第四十五章 · 大成若缺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8412480" cy="1371600"/>
          </a:xfrm>
          <a:prstGeom prst="roundRect">
            <a:avLst/>
          </a:prstGeom>
          <a:solidFill>
            <a:srgbClr val="F0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1">
                <a:solidFill>
                  <a:srgbClr val="003366"/>
                </a:solidFill>
              </a:defRPr>
            </a:pPr>
            <a:r>
              <a:t>【原文】</a:t>
            </a:r>
          </a:p>
          <a:p>
            <a:pPr>
              <a:spcBef>
                <a:spcPts val="1000"/>
              </a:spcBef>
              <a:defRPr sz="1700">
                <a:solidFill>
                  <a:srgbClr val="333333"/>
                </a:solidFill>
              </a:defRPr>
            </a:pPr>
            <a:r>
              <a:t>大成若缺，其用不弊。大盈若冲，其用不穷。大直若屈，大巧若拙，大辩若讷。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躁胜寒，静胜热。清静为天下正。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743200"/>
            <a:ext cx="8412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22222"/>
                </a:solidFill>
              </a:defRPr>
            </a:pPr>
            <a:r>
              <a:t>【白话解读】</a:t>
            </a:r>
          </a:p>
          <a:p>
            <a:pPr>
              <a:lnSpc>
                <a:spcPct val="140000"/>
              </a:lnSpc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最完美的东西好像有欠缺，但它的作用不会衰竭。最充实的东西好像有空虚，但它的作用不会穷尽。最正直的东西好像有弯曲，最灵巧的东西好像很笨拙，最善辩的人好像言语迟钝。躁动能战胜寒冷，安静能战胜炎热。清静无为才是天下的正道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663440"/>
            <a:ext cx="8412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22222"/>
                </a:solidFill>
              </a:defRPr>
            </a:pPr>
            <a:r>
              <a:t>【精华提炼】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「大成若缺」：真正完美的事物看似有缺陷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「大巧若拙」：真正高明的人看似笨拙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「清静为天下正」：内心清静是治天下的根本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典故案例 · 扁鹊的医术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i="1">
                <a:solidFill>
                  <a:srgbClr val="666666"/>
                </a:solidFill>
              </a:defRPr>
            </a:pPr>
            <a:r>
              <a:t>「大巧若拙」—— 真正的高手，往往不动声色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28800"/>
            <a:ext cx="8412480" cy="4114800"/>
          </a:xfrm>
          <a:prstGeom prst="roundRect">
            <a:avLst/>
          </a:prstGeom>
          <a:solidFill>
            <a:srgbClr val="FAFAFA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  <a:defRPr sz="1400" b="1">
                <a:solidFill>
                  <a:srgbClr val="B22222"/>
                </a:solidFill>
              </a:defRPr>
            </a:pPr>
            <a:r>
              <a:t>《鹖冠子》</a:t>
            </a:r>
          </a:p>
          <a:p>
            <a:pPr>
              <a:lnSpc>
                <a:spcPct val="160000"/>
              </a:lnSpc>
              <a:spcBef>
                <a:spcPts val="1400"/>
              </a:spcBef>
              <a:defRPr sz="1500">
                <a:solidFill>
                  <a:srgbClr val="333333"/>
                </a:solidFill>
              </a:defRPr>
            </a:pPr>
            <a:r>
              <a:t>魏文侯问扁鹊：'你们三兄弟都精于医术，谁的医术最高？'扁鹊说：'大哥最高，二哥次之，我最差。'</a:t>
            </a:r>
          </a:p>
          <a:p>
            <a:pPr>
              <a:lnSpc>
                <a:spcPct val="160000"/>
              </a:lnSpc>
              <a:spcBef>
                <a:spcPts val="1400"/>
              </a:spcBef>
              <a:defRPr sz="1500">
                <a:solidFill>
                  <a:srgbClr val="333333"/>
                </a:solidFill>
              </a:defRPr>
            </a:pPr>
            <a:r>
              <a:t>文侯问：'为什么？'扁鹊答：'大哥治病，在病情发作之前就铲除病根，病人不知道自己有病，所以不以为功。我二哥治病，在病初起时症状尚轻，病人以为只能治小病，所以名气只及乡里。而我治病，往往在病情严重时，用针灸、刺血、敷药等大动作，病人和家属都以为我医术高超，所以名闻天下。'</a:t>
            </a:r>
          </a:p>
          <a:p>
            <a:pPr>
              <a:lnSpc>
                <a:spcPct val="160000"/>
              </a:lnSpc>
              <a:spcBef>
                <a:spcPts val="1400"/>
              </a:spcBef>
              <a:defRPr sz="1500">
                <a:solidFill>
                  <a:srgbClr val="333333"/>
                </a:solidFill>
              </a:defRPr>
            </a:pPr>
            <a:r>
              <a:t>真正的高手，在事情还未恶化时已化解，却不为人知——正如「大成若缺，大巧若拙」。</a:t>
            </a:r>
          </a:p>
          <a:p>
            <a:pPr>
              <a:spcBef>
                <a:spcPts val="1800"/>
              </a:spcBef>
              <a:defRPr sz="1400" b="1">
                <a:solidFill>
                  <a:srgbClr val="003366"/>
                </a:solidFill>
              </a:defRPr>
            </a:pPr>
            <a:r>
              <a:t>✅ 印证第四十五章「清静为天下正」：最高明的治理，是消弭问题于无形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第43-45章 · 精华总结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8412480" cy="1371600"/>
          </a:xfrm>
          <a:prstGeom prst="roundRect">
            <a:avLst/>
          </a:prstGeom>
          <a:solidFill>
            <a:srgbClr val="F5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800" b="1">
                <a:solidFill>
                  <a:srgbClr val="003366"/>
                </a:solidFill>
              </a:defRPr>
            </a:pPr>
            <a:r>
              <a:t>第四十三章：天下皆知</a:t>
            </a:r>
          </a:p>
          <a:p>
            <a:pPr algn="ctr"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美丑、善恶相对而生，有无、难易、长短、高下相互依存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834639"/>
            <a:ext cx="8412480" cy="1371600"/>
          </a:xfrm>
          <a:prstGeom prst="roundRect">
            <a:avLst/>
          </a:prstGeom>
          <a:solidFill>
            <a:srgbClr val="F5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800" b="1">
                <a:solidFill>
                  <a:srgbClr val="003366"/>
                </a:solidFill>
              </a:defRPr>
            </a:pPr>
            <a:r>
              <a:t>第四十四章：为学日益</a:t>
            </a:r>
          </a:p>
          <a:p>
            <a:pPr algn="ctr"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求学知识日增，求道欲望日减，无为而无不为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4389120"/>
            <a:ext cx="8412480" cy="1371600"/>
          </a:xfrm>
          <a:prstGeom prst="roundRect">
            <a:avLst/>
          </a:prstGeom>
          <a:solidFill>
            <a:srgbClr val="F5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800" b="1">
                <a:solidFill>
                  <a:srgbClr val="003366"/>
                </a:solidFill>
              </a:defRPr>
            </a:pPr>
            <a:r>
              <a:t>第四十五章：大成若缺</a:t>
            </a:r>
          </a:p>
          <a:p>
            <a:pPr algn="ctr"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真正完美看似有缺，大巧若拙，清静为天下正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852160"/>
            <a:ext cx="6400800" cy="73152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💡 今日功课：体会「大成若缺」的智慧，放下完美执念，清静面对生活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