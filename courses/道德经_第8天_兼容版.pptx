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/>
            </a:pPr>
            <a:r>
              <a:t>国学经典24章 · 第八课</a:t>
            </a:r>
          </a:p>
          <a:p>
            <a:pPr algn="ctr">
              <a:defRPr sz="2400"/>
            </a:pPr>
            <a:r>
              <a:t>《道德经》第二十五章至第二十七章</a:t>
            </a:r>
          </a:p>
          <a:p>
            <a:pPr algn="ctr">
              <a:defRPr sz="1800"/>
            </a:pPr>
            <a:r>
              <a:t>有物混成 · 致誉无誉 · 希言自然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第二十五章 · 有物混成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【原文】</a:t>
            </a:r>
          </a:p>
          <a:p>
            <a:pPr>
              <a:spcAft>
                <a:spcPts val="400"/>
              </a:spcAft>
              <a:defRPr sz="1400"/>
            </a:pPr>
            <a:r>
              <a:t>有物混成，先天地生。寂兮寥兮，独立不改，</a:t>
            </a:r>
          </a:p>
          <a:p>
            <a:pPr>
              <a:spcAft>
                <a:spcPts val="400"/>
              </a:spcAft>
              <a:defRPr sz="1400"/>
            </a:pPr>
            <a:r>
              <a:t>周行而不殆，可以为天下母。</a:t>
            </a:r>
          </a:p>
          <a:p>
            <a:pPr>
              <a:spcAft>
                <a:spcPts val="400"/>
              </a:spcAft>
              <a:defRPr sz="1400"/>
            </a:pPr>
            <a:r>
              <a:t>吾不知其名，字之曰道，强为之名曰大。</a:t>
            </a:r>
          </a:p>
          <a:p>
            <a:pPr>
              <a:spcAft>
                <a:spcPts val="400"/>
              </a:spcAft>
              <a:defRPr sz="1400"/>
            </a:pPr>
            <a:r>
              <a:t>大曰逝，逝曰远，远曰反。</a:t>
            </a:r>
          </a:p>
          <a:p>
            <a:pPr>
              <a:spcAft>
                <a:spcPts val="400"/>
              </a:spcAft>
              <a:defRPr sz="1400"/>
            </a:pPr>
            <a:r>
              <a:t>故道大，天大，地大，王亦大。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【白话解读】</a:t>
            </a:r>
          </a:p>
          <a:p>
            <a:pPr>
              <a:spcAft>
                <a:spcPts val="400"/>
              </a:spcAft>
              <a:defRPr sz="1400"/>
            </a:pPr>
            <a:r>
              <a:t>有个东西在天地之前就存在，是天下万物的本源。</a:t>
            </a:r>
          </a:p>
          <a:p>
            <a:pPr>
              <a:spcAft>
                <a:spcPts val="400"/>
              </a:spcAft>
              <a:defRPr sz="1400"/>
            </a:pPr>
            <a:r>
              <a:t>道广大无边而运行不息，终将返回本原。</a:t>
            </a:r>
          </a:p>
          <a:p>
            <a:pPr>
              <a:spcAft>
                <a:spcPts val="400"/>
              </a:spcAft>
              <a:defRPr sz="1400"/>
            </a:pPr>
            <a:r>
              <a:t>道大、天大、地大、王大，宇宙四大，人居其一。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第二十六章 · 致誉无誉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【原文】</a:t>
            </a:r>
          </a:p>
          <a:p>
            <a:pPr>
              <a:spcAft>
                <a:spcPts val="400"/>
              </a:spcAft>
              <a:defRPr sz="1400"/>
            </a:pPr>
            <a:r>
              <a:t>重为轻根，静为躁君。</a:t>
            </a:r>
          </a:p>
          <a:p>
            <a:pPr>
              <a:spcAft>
                <a:spcPts val="400"/>
              </a:spcAft>
              <a:defRPr sz="1400"/>
            </a:pPr>
            <a:r>
              <a:t>是以圣人终日行不离辎重，虽有荣观，燕处超然。</a:t>
            </a:r>
          </a:p>
          <a:p>
            <a:pPr>
              <a:spcAft>
                <a:spcPts val="400"/>
              </a:spcAft>
              <a:defRPr sz="1400"/>
            </a:pPr>
            <a:r>
              <a:t>奈何万乘之主，而以身轻天下？</a:t>
            </a:r>
          </a:p>
          <a:p>
            <a:pPr>
              <a:spcAft>
                <a:spcPts val="400"/>
              </a:spcAft>
              <a:defRPr sz="1400"/>
            </a:pPr>
            <a:r>
              <a:t>轻则失本，躁则失君。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【白话解读】</a:t>
            </a:r>
          </a:p>
          <a:p>
            <a:pPr>
              <a:spcAft>
                <a:spcPts val="400"/>
              </a:spcAft>
              <a:defRPr sz="1400"/>
            </a:pPr>
            <a:r>
              <a:t>稳重是轻率的根本，宁静是躁动的主宰。</a:t>
            </a:r>
          </a:p>
          <a:p>
            <a:pPr>
              <a:spcAft>
                <a:spcPts val="400"/>
              </a:spcAft>
              <a:defRPr sz="1400"/>
            </a:pPr>
            <a:r>
              <a:t>圣人虽有名利，却超然物外。</a:t>
            </a:r>
          </a:p>
          <a:p>
            <a:pPr>
              <a:spcAft>
                <a:spcPts val="400"/>
              </a:spcAft>
              <a:defRPr sz="1400"/>
            </a:pPr>
            <a:r>
              <a:t>轻率会失去根本，躁动会失去主宰。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第二十七章 · 希言自然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【原文】</a:t>
            </a:r>
          </a:p>
          <a:p>
            <a:pPr>
              <a:spcAft>
                <a:spcPts val="400"/>
              </a:spcAft>
              <a:defRPr sz="1400"/>
            </a:pPr>
            <a:r>
              <a:t>希言自然。</a:t>
            </a:r>
          </a:p>
          <a:p>
            <a:pPr>
              <a:spcAft>
                <a:spcPts val="400"/>
              </a:spcAft>
              <a:defRPr sz="1400"/>
            </a:pPr>
            <a:r>
              <a:t>飘风不终朝，骤雨不终日。</a:t>
            </a:r>
          </a:p>
          <a:p>
            <a:pPr>
              <a:spcAft>
                <a:spcPts val="400"/>
              </a:spcAft>
              <a:defRPr sz="1400"/>
            </a:pPr>
            <a:r>
              <a:t>孰为此者？天地。</a:t>
            </a:r>
          </a:p>
          <a:p>
            <a:pPr>
              <a:spcAft>
                <a:spcPts val="400"/>
              </a:spcAft>
              <a:defRPr sz="1400"/>
            </a:pPr>
            <a:r>
              <a:t>天地尚不能久，而况于人乎？</a:t>
            </a:r>
          </a:p>
          <a:p>
            <a:pPr>
              <a:spcAft>
                <a:spcPts val="400"/>
              </a:spcAft>
              <a:defRPr sz="1400"/>
            </a:pPr>
            <a:r>
              <a:t>故从事于道者，道者同于道，</a:t>
            </a:r>
          </a:p>
          <a:p>
            <a:pPr>
              <a:spcAft>
                <a:spcPts val="400"/>
              </a:spcAft>
              <a:defRPr sz="1400"/>
            </a:pPr>
            <a:r>
              <a:t>德者同于德，失者同于失。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【白话解读】</a:t>
            </a:r>
          </a:p>
          <a:p>
            <a:pPr>
              <a:spcAft>
                <a:spcPts val="400"/>
              </a:spcAft>
              <a:defRPr sz="1400"/>
            </a:pPr>
            <a:r>
              <a:t>少言才合乎自然之道。</a:t>
            </a:r>
          </a:p>
          <a:p>
            <a:pPr>
              <a:spcAft>
                <a:spcPts val="400"/>
              </a:spcAft>
              <a:defRPr sz="1400"/>
            </a:pPr>
            <a:r>
              <a:t>暴风骤雨都是短暂的，天地都不能持久，何况人呢？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/>
            </a:pPr>
            <a:r>
              <a:t>精华总结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【三章贯通】</a:t>
            </a:r>
          </a:p>
          <a:p>
            <a:pPr>
              <a:spcAft>
                <a:spcPts val="400"/>
              </a:spcAft>
              <a:defRPr sz="1400"/>
            </a:pPr>
            <a:r>
              <a:t>认识"道"的本体 → 理解"静重"的重要性 → 明白"希言自然"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【处世智慧】</a:t>
            </a:r>
          </a:p>
          <a:p>
            <a:pPr>
              <a:spcAft>
                <a:spcPts val="400"/>
              </a:spcAft>
              <a:defRPr sz="1400"/>
            </a:pPr>
            <a:r>
              <a:t>静为躁君 → 内心宁静方能驾驭躁动</a:t>
            </a:r>
          </a:p>
          <a:p>
            <a:pPr>
              <a:spcAft>
                <a:spcPts val="400"/>
              </a:spcAft>
              <a:defRPr sz="1400"/>
            </a:pPr>
            <a:r>
              <a:t>轻则失本 → 稳重行事方能立于不败</a:t>
            </a:r>
          </a:p>
          <a:p>
            <a:pPr>
              <a:spcAft>
                <a:spcPts val="400"/>
              </a:spcAft>
              <a:defRPr sz="1400"/>
            </a:pPr>
            <a:r>
              <a:t>希言自然 → 少说多做顺应自然规律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【对管理工作的启示】</a:t>
            </a:r>
          </a:p>
          <a:p>
            <a:pPr>
              <a:spcAft>
                <a:spcPts val="400"/>
              </a:spcAft>
              <a:defRPr sz="1400"/>
            </a:pPr>
            <a:r>
              <a:t>管理者的沉稳宁静是团队稳定的根本。</a:t>
            </a:r>
          </a:p>
          <a:p>
            <a:pPr>
              <a:spcAft>
                <a:spcPts val="400"/>
              </a:spcAft>
              <a:defRPr sz="1400"/>
            </a:pPr>
          </a:p>
          <a:p>
            <a:pPr>
              <a:spcAft>
                <a:spcPts val="400"/>
              </a:spcAft>
              <a:defRPr sz="1400"/>
            </a:pPr>
            <a:r>
              <a:t>上善若水，水善利万物而不争。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