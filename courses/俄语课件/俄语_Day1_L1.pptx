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E3C72"/>
                </a:solidFill>
              </a:defRPr>
            </a:pPr>
            <a:r>
              <a:t>俄语基础语法 · 第1天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333333"/>
                </a:solidFill>
              </a:defRPr>
            </a:pPr>
            <a:r>
              <a:t>名词的第1格和第2格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0A0"/>
                </a:solidFill>
              </a:defRPr>
            </a:pPr>
            <a:r>
              <a:t>День 1/84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一、什么是第1格？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Именительный падеж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第1格 = 主格，表示«谁/什么»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第1格是名词的原形，是所有名词的基础形式。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12848"/>
            <a:ext cx="8229600" cy="50292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Студент (学生) — Этот студент учится. (这个学生在学习)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52928"/>
            <a:ext cx="8229600" cy="50292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Книга (书) — Эта книга интересная. (这本书很有趣)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93008"/>
            <a:ext cx="8229600" cy="457200"/>
          </a:xfrm>
          <a:prstGeom prst="roundRect">
            <a:avLst/>
          </a:prstGeom>
          <a:solidFill>
            <a:srgbClr val="B4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记忆方法：第1格就是词典里单词的原形！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0A0"/>
                </a:solidFill>
              </a:defRPr>
            </a:pPr>
            <a:r>
              <a:t>День 1/84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二、第2格的基本用法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Родительный падеж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第2格主要表示«所属»关系，相当于中文的«的»：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Это книга студента. = 这是学生的书。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1284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Это дом брата. = 这是弟弟的房子。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96896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第2格还表示«来自»：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62656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Я из Китая. = 我来自中国。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46703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Она из Москвы. = 她来自莫斯科。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30752"/>
            <a:ext cx="8229600" cy="457200"/>
          </a:xfrm>
          <a:prstGeom prst="roundRect">
            <a:avLst/>
          </a:prstGeom>
          <a:solidFill>
            <a:srgbClr val="B4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关键语法：из + 第2格 = 来自某地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0A0"/>
                </a:solidFill>
              </a:defRPr>
            </a:pPr>
            <a:r>
              <a:t>День 1/84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三、名词第2格单数变化规则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Склонение существительных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第一变格法（阴性名词）：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以 -а / -я 结尾的阴性名词：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12848"/>
            <a:ext cx="8229600" cy="50292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книга → книги (书)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52928"/>
            <a:ext cx="8229600" cy="50292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девушка → девушки (姑娘)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930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第二变格法（阳性/中性名词）：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5876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以硬辅音结尾的阳性名词：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42816"/>
            <a:ext cx="8229600" cy="50292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дом → дома (房子)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882896"/>
            <a:ext cx="8229600" cy="50292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студент → студента (学生)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0A0"/>
                </a:solidFill>
              </a:defRPr>
            </a:pPr>
            <a:r>
              <a:t>День 1/84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四、名词第2格变化示例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Примеры склонения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阳性名词：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студдент → студента (学生的)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1284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друг → друга (朋友的)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96896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врач → врача (医生的)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80944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阴性名词：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46703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книга → книги (书的)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3075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девушка → девушки (姑娘的)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8229600" cy="457200"/>
          </a:xfrm>
          <a:prstGeom prst="roundRect">
            <a:avLst/>
          </a:prstGeom>
          <a:solidFill>
            <a:srgbClr val="B4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规律：通常在词尾加 -а 或 -и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0A0"/>
                </a:solidFill>
              </a:defRPr>
            </a:pPr>
            <a:r>
              <a:t>День 1/84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五、数量词后的第2格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Родительный после числительных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数字2-4后名词用单数第2格：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два студента (两个学生)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1284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три книги (三本书)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96896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четыре девушки (四个姑娘)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80944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数字5以上名词用复数第2格：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46703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пять студентов (五个学生)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30752"/>
            <a:ext cx="8229600" cy="457200"/>
          </a:xfrm>
          <a:prstGeom prst="roundRect">
            <a:avLst/>
          </a:prstGeom>
          <a:solidFill>
            <a:srgbClr val="B4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关键：1之后单数，2-4单数第2格，5+复数第2格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0A0"/>
                </a:solidFill>
              </a:defRPr>
            </a:pPr>
            <a:r>
              <a:t>День 1/84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六、第2格否定用法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Отрицательный родительный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否定«没有/不是»时使用第2格：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У меня нет времени. = 我没有时间。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1284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Это не моя книга. = 这不是我的书。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96896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нет = 没有（现在时）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62656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не было = 没有（过去时）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46703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не будет = 没有（将来时）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30752"/>
            <a:ext cx="8229600" cy="457200"/>
          </a:xfrm>
          <a:prstGeom prst="roundRect">
            <a:avLst/>
          </a:prstGeom>
          <a:solidFill>
            <a:srgbClr val="B4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结构：У + 人称 + нет + 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0A0"/>
                </a:solidFill>
              </a:defRPr>
            </a:pPr>
            <a:r>
              <a:t>День 1/84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七、阅读理解练习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Чтение с пониманием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Меня зовут Анна. Я из Москвы. Я студентка университета. Мой брат тоже студент. Он из Санкт-Петербурга.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4708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457200" y="2231136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请回答：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96896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1. Как её зовут? (她叫什么？)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80944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2. Откуда Анна? (她来自哪里？)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64991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3. Кто её брат? (她弟弟是做什么的？)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49039"/>
            <a:ext cx="8229600" cy="457200"/>
          </a:xfrm>
          <a:prstGeom prst="roundRect">
            <a:avLst/>
          </a:prstGeom>
          <a:solidFill>
            <a:srgbClr val="B4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提示：студентка = 女大学生，университет = 大学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0A0"/>
                </a:solidFill>
              </a:defRPr>
            </a:pPr>
            <a:r>
              <a:t>День 1/84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八、翻译练习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Перевод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中译俄练习：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1. 这是我朋友的书。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1284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2. 我来自中国。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96896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3. 她没有时间。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80944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57200" y="3364991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参考答案：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3075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1. Это книга моего друга.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2. Я из Китая.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9884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3. У неё нет времени.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0A0"/>
                </a:solidFill>
              </a:defRPr>
            </a:pPr>
            <a:r>
              <a:t>День 1/84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九、本课重点总结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Итоги урока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第2格核心用法：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① 表示所属：чьё? → ...的...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1284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② 表示来源：из + 第2格 = 来自...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96896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③ 数字搭配：2-4用单数，5+用复数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80944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④ 否定结构：нет + 第2格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64991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今日关键词汇：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3075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дом (房子) → дома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книга (书) → книги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9884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студент (学生) → студента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882896"/>
            <a:ext cx="8229600" cy="457200"/>
          </a:xfrm>
          <a:prstGeom prst="roundRect">
            <a:avLst/>
          </a:prstGeom>
          <a:solidFill>
            <a:srgbClr val="B4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记住：名词第2格回答чья?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0A0"/>
                </a:solidFill>
              </a:defRPr>
            </a:pPr>
            <a:r>
              <a:t>День 1/84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