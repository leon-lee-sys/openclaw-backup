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0116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601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《道德经》每日课件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601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>
                <a:solidFill>
                  <a:srgbClr val="C8E6FF"/>
                </a:solidFill>
              </a:defRPr>
            </a:pPr>
            <a:r>
              <a:t>第9天 · 第二十五章 至 第二十七章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01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666666"/>
                </a:solidFill>
              </a:defRPr>
            </a:pPr>
            <a:r>
              <a:t>2026年4月16日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840480"/>
            <a:ext cx="94457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003366"/>
                </a:solidFill>
                <a:latin typeface="KaiTi"/>
              </a:defRPr>
            </a:pPr>
            <a:r>
              <a:t>"有物混成，先天地生……独立不改，周行而不殆"</a:t>
            </a:r>
          </a:p>
          <a:p>
            <a:pPr algn="ctr">
              <a:defRPr sz="1600">
                <a:solidFill>
                  <a:srgbClr val="666666"/>
                </a:solidFill>
              </a:defRPr>
            </a:pPr>
            <a:r>
              <a:t>—— 道法自然，万物之宗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第二十五章｜有物混成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25912" cy="1463040"/>
          </a:xfrm>
          <a:prstGeom prst="roundRect">
            <a:avLst/>
          </a:prstGeom>
          <a:solidFill>
            <a:srgbClr val="F0F8FF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0" rIns="254000"/>
          <a:lstStyle/>
          <a:p>
            <a:pPr algn="ctr">
              <a:defRPr sz="2000">
                <a:solidFill>
                  <a:srgbClr val="003366"/>
                </a:solidFill>
                <a:latin typeface="KaiTi"/>
              </a:defRPr>
            </a:pPr>
            <a:r>
              <a:t>有物混成，先天地生。寂兮寥兮，独立不改，</a:t>
            </a:r>
            <a:br/>
            <a:r>
              <a:t>周行而不殆，可以为天下母。</a:t>
            </a:r>
            <a:br/>
            <a:r>
              <a:t>吾不知其名，字之曰道，强为之名曰大。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591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CC0000"/>
                </a:solidFill>
              </a:defRPr>
            </a:pPr>
            <a:r>
              <a:t>白话解读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34640"/>
            <a:ext cx="1072591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→ 有一个浑然一体的东西，在天地之前就已经存在。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→ 它寂静空虚，不依靠任何外力而独立存在，循环运行从不停止，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→ 可以作为天下的根本。我不知道它的名字，勉强把它叫做"道"，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→ 再勉强给它起个名字叫"大"。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→ 道大、天大、地大、人也大。宇宙中有四大，人居其中之一。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→ 人效法地，地效法天，天效法道，道效法自然。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846320"/>
            <a:ext cx="10725912" cy="146304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DC50"/>
                </a:solidFill>
              </a:defRPr>
            </a:pPr>
            <a:r>
              <a:t>💡 核心智慧：道法自然，人应顺应四大法则</a:t>
            </a:r>
          </a:p>
          <a:p>
            <a:pPr>
              <a:defRPr sz="1500">
                <a:solidFill>
                  <a:srgbClr val="DCF0FF"/>
                </a:solidFill>
              </a:defRPr>
            </a:pPr>
            <a:r>
              <a:t>  • 道是宇宙本源，人应效法天地，遵循自然规律而不妄为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第二十五章｜典故案例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2591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CC0000"/>
                </a:solidFill>
              </a:defRPr>
            </a:pPr>
            <a:r>
              <a:t>历史典故：汉初"文景之治"（道法自然）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591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【背景】秦末战乱后，汉初民生凋敝，社会急需休养生息。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【策略】汉高祖刘邦入关后，约法三章，轻徭薄赋。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至汉文帝、景帝，继续推行"黄老之术"——以道家思想治国，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政府尽量少干预，让百姓自然恢复。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【结果】农业税收降至三十税一，甚至一度全免；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废除肉刑，废止诽谤罪；边境和平，对匈奴和亲。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四十年间，百姓富足，粮仓堆积如山，史称"文景之治"。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【感悟】"人法地，地法天，天法道，道法自然"——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治国如同种田，不能揠苗助长。汉初帝王深谙此道，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以"无为"之政，收"无不为"之效，正是老子"道法自然"的绝佳诠释。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第二十六章｜重为轻根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25912" cy="1463040"/>
          </a:xfrm>
          <a:prstGeom prst="roundRect">
            <a:avLst/>
          </a:prstGeom>
          <a:solidFill>
            <a:srgbClr val="F0F8FF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0" rIns="254000"/>
          <a:lstStyle/>
          <a:p>
            <a:pPr algn="ctr">
              <a:defRPr sz="2000">
                <a:solidFill>
                  <a:srgbClr val="003366"/>
                </a:solidFill>
                <a:latin typeface="KaiTi"/>
              </a:defRPr>
            </a:pPr>
            <a:r>
              <a:t>重为轻根，静为躁君。</a:t>
            </a:r>
            <a:br/>
            <a:r>
              <a:t>是以圣人终日行，不离辎重。</a:t>
            </a:r>
            <a:br/>
            <a:r>
              <a:t>虽有荣观，燕处超然。奈何万乘之主，而以身轻天下？</a:t>
            </a:r>
            <a:br/>
            <a:r>
              <a:t>轻则失本，躁则失君。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591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CC0000"/>
                </a:solidFill>
              </a:defRPr>
            </a:pPr>
            <a:r>
              <a:t>白话解读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34640"/>
            <a:ext cx="1072591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→ 稳重是轻率的根本，宁静是躁动的主宰。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→ 因此圣人每天行走，始终不离开载重车辆。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→ 虽然有奢华的观赏享乐，却能安然超脱，不被物欲所困。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→ 为什么身为拥有万辆战车的大国君主，却以轻率的态度治理天下呢？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→ 轻率就会失去根本，躁动就会失去主宰的地位。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846320"/>
            <a:ext cx="10725912" cy="146304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DC50"/>
                </a:solidFill>
              </a:defRPr>
            </a:pPr>
            <a:r>
              <a:t>💡 核心智慧：稳重宁静，守住根本</a:t>
            </a:r>
          </a:p>
          <a:p>
            <a:pPr>
              <a:defRPr sz="1500">
                <a:solidFill>
                  <a:srgbClr val="DCF0FF"/>
                </a:solidFill>
              </a:defRPr>
            </a:pPr>
            <a:r>
              <a:t>  • 轻浮躁动是领导大忌，稳重沉静才能驾驭全局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第二十六章｜典故案例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2591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CC0000"/>
                </a:solidFill>
              </a:defRPr>
            </a:pPr>
            <a:r>
              <a:t>历史典故：刘备"髀肉复生"（稳重之志）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591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【背景】刘备在荆州依附刘表，一日如厕时发现自己大腿上长出了肥肉。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【感慨】刘备不禁潸然泪下——自寄人篱下以来，髀肉复生，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而功业未建，年华虚度。他对刘表说：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"从前在大腿上常年起茧，如今光景倒好，大腿又长肥肉了。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日月流逝，老将至矣，而功业不建，怎能不悲伤！"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【对比】同为枭雄，曹操性格轻锐果决，善于把握时机，但有时过于自信；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孙权沉稳持重，守成有方；刘备以"稳重"著称，髀肉复生之事足见其心志。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【感悟】"重为轻根，静为躁君"——刘备的泪水正是对这一古训的最好注脚。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稳重不是迟钝，而是对根本的坚守；宁静不是无为，而是对大业的执念。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领导者的轻浮是国家倾覆的先兆，刘备深谙此理，所以能三分天下有其一。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第二十七章｜善行无辙迹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25912" cy="1463040"/>
          </a:xfrm>
          <a:prstGeom prst="roundRect">
            <a:avLst/>
          </a:prstGeom>
          <a:solidFill>
            <a:srgbClr val="F0F8FF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0" rIns="254000"/>
          <a:lstStyle/>
          <a:p>
            <a:pPr algn="ctr">
              <a:defRPr sz="2000">
                <a:solidFill>
                  <a:srgbClr val="003366"/>
                </a:solidFill>
                <a:latin typeface="KaiTi"/>
              </a:defRPr>
            </a:pPr>
            <a:r>
              <a:t>善行无辙迹，善言无瑕谪，善数不用筹策，</a:t>
            </a:r>
            <a:br/>
            <a:r>
              <a:t>善闭无关楗而不可开，善结无绳约而不可解。</a:t>
            </a:r>
            <a:br/>
            <a:r>
              <a:t>是以圣人常善救人，故无弃人；常善救物，故无弃物。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591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CC0000"/>
                </a:solidFill>
              </a:defRPr>
            </a:pPr>
            <a:r>
              <a:t>白话解读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34640"/>
            <a:ext cx="1072591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→ 善于行走的不留痕迹，善于说话的不留破绽，善于计数的不用筹码，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→ 善于关闭的无须门闩却无人能开，善于捆绑的无须绳索却无人能解。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→ 因此圣人总是善于帮助人，所以没有被遗弃的人；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→ 总是善于利用万物，所以没有被遗弃的物。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→ 这就是袭明——承续大道之明。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846320"/>
            <a:ext cx="10725912" cy="146304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DC50"/>
                </a:solidFill>
              </a:defRPr>
            </a:pPr>
            <a:r>
              <a:t>💡 核心智慧：善行无迹，物尽其用</a:t>
            </a:r>
          </a:p>
          <a:p>
            <a:pPr>
              <a:defRPr sz="1500">
                <a:solidFill>
                  <a:srgbClr val="DCF0FF"/>
                </a:solidFill>
              </a:defRPr>
            </a:pPr>
            <a:r>
              <a:t>  • 最高明的帮助是润物无声，不留痕迹地成就他人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第二十七章｜典故案例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2591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CC0000"/>
                </a:solidFill>
              </a:defRPr>
            </a:pPr>
            <a:r>
              <a:t>历史典故：子贡赎人与子路受牛（善行有迹 vs 善行无迹）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591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【子贡赎人】鲁国有一条法律：赎出在外的鲁国人，可向国库报销。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子贡赎人于外，却拒绝报销，自认为这是好事。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孔子批评他：你这样做，以后谁还敢赎人？报销是应得的，不应收道德绑架。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【子路受牛】子路救起一个落水者，对方送了一头牛感谢他，子路欣然接受。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孔子高兴地说：以后鲁国救人的人会更多！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【感悟】子贡"善行"却留了"辙迹"——他的高尚反而堵住了别人行善的路；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子路"善行"无迹——接受谢礼让善行变得可复制、可推广。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老子说"善行无辙迹"，最高明的善行不是让人望而生畏，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而是春风化雨，让更多人在不知不觉中跟随。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管理者当学子路：让善行成为习惯，而非高高在上的标杆。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第二十五至二十七章 · 精华提炼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3657600" cy="3657600"/>
          </a:xfrm>
          <a:prstGeom prst="roundRect">
            <a:avLst/>
          </a:prstGeom>
          <a:solidFill>
            <a:srgbClr val="F0F8FF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80160"/>
            <a:ext cx="3383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</a:defRPr>
            </a:pPr>
            <a:r>
              <a:t>第二十五章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91640"/>
            <a:ext cx="3383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3366"/>
                </a:solidFill>
              </a:defRPr>
            </a:pPr>
            <a:r>
              <a:t>有物混成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377440"/>
            <a:ext cx="3383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道为宇宙本源，先天地生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人法地、地法天、天法道、道法自然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四大之中，人居其一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188720"/>
            <a:ext cx="3657600" cy="3657600"/>
          </a:xfrm>
          <a:prstGeom prst="roundRect">
            <a:avLst/>
          </a:prstGeom>
          <a:solidFill>
            <a:srgbClr val="F0F8FF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40" y="1280160"/>
            <a:ext cx="3383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</a:defRPr>
            </a:pPr>
            <a:r>
              <a:t>第二十六章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1691640"/>
            <a:ext cx="3383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3366"/>
                </a:solidFill>
              </a:defRPr>
            </a:pPr>
            <a:r>
              <a:t>重为轻根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2377440"/>
            <a:ext cx="3383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稳重是轻率的根本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静为躁君，宁静致远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轻则失本，躁则失君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188720"/>
            <a:ext cx="3657600" cy="3657600"/>
          </a:xfrm>
          <a:prstGeom prst="roundRect">
            <a:avLst/>
          </a:prstGeom>
          <a:solidFill>
            <a:srgbClr val="F0F8FF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1280160"/>
            <a:ext cx="3383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</a:defRPr>
            </a:pPr>
            <a:r>
              <a:t>第二十七章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1691640"/>
            <a:ext cx="3383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3366"/>
                </a:solidFill>
              </a:defRPr>
            </a:pPr>
            <a:r>
              <a:t>善行无辙迹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2377440"/>
            <a:ext cx="3383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善于助人，无人被弃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善于用物，无物可弃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善行无迹，润物无声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029200"/>
            <a:ext cx="11274552" cy="137160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DC50"/>
                </a:solidFill>
              </a:defRPr>
            </a:pPr>
            <a:r>
              <a:t>三章贯通：道法自然，稳重行事，善行无迹</a:t>
            </a:r>
          </a:p>
          <a:p>
            <a:pPr algn="ctr">
              <a:defRPr sz="1500">
                <a:solidFill>
                  <a:srgbClr val="C8E6FF"/>
                </a:solidFill>
              </a:defRPr>
            </a:pPr>
            <a:r>
              <a:t>核心心法：人法道，道法自然 → 重为轻根，静为躁君 → 善行无辙迹，常善救人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