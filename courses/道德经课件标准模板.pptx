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国学经典24章 · 第五课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1E3C72"/>
                </a:solidFill>
              </a:defRPr>
            </a:pPr>
            <a:r>
              <a:t>《道德经》第16-18章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682B4"/>
                </a:solidFill>
              </a:defRPr>
            </a:pPr>
            <a:r>
              <a:t>致虚守静 · 功成不居 · 大道废有仁义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5303520"/>
            <a:ext cx="54864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i="1">
                <a:solidFill>
                  <a:srgbClr val="1E3C72"/>
                </a:solidFill>
              </a:defRPr>
            </a:pPr>
            <a:r>
              <a:t>致虚极，守静笃。</a:t>
            </a:r>
          </a:p>
          <a:p>
            <a:pPr algn="ctr">
              <a:defRPr sz="1400">
                <a:solidFill>
                  <a:srgbClr val="969696"/>
                </a:solidFill>
              </a:defRPr>
            </a:pPr>
            <a:r>
              <a:t>—— 《道德经》第十六章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第十六章 · 致虚守静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219456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【原文】</a:t>
            </a:r>
          </a:p>
          <a:p>
            <a:pPr>
              <a:spcBef>
                <a:spcPts val="400"/>
              </a:spcBef>
              <a:defRPr sz="1900">
                <a:solidFill>
                  <a:srgbClr val="333333"/>
                </a:solidFill>
              </a:defRPr>
            </a:pPr>
            <a:r>
              <a:t>致虚极，守静笃。万物并作，吾以观复。</a:t>
            </a:r>
          </a:p>
          <a:p>
            <a:pPr>
              <a:spcBef>
                <a:spcPts val="400"/>
              </a:spcBef>
              <a:defRPr sz="1900">
                <a:solidFill>
                  <a:srgbClr val="333333"/>
                </a:solidFill>
              </a:defRPr>
            </a:pPr>
            <a:r>
              <a:t>夫物芸芸，各复归其根。归根曰静，是谓复命。</a:t>
            </a:r>
          </a:p>
          <a:p>
            <a:pPr>
              <a:spcBef>
                <a:spcPts val="400"/>
              </a:spcBef>
              <a:defRPr sz="1900">
                <a:solidFill>
                  <a:srgbClr val="333333"/>
                </a:solidFill>
              </a:defRPr>
            </a:pPr>
            <a:r>
              <a:t>复命曰常，知常曰明。不知常，妄作凶。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C72"/>
                </a:solidFill>
              </a:defRPr>
            </a:pPr>
            <a:r>
              <a:t>【白话解读】</a:t>
            </a:r>
          </a:p>
          <a:p>
            <a:pPr>
              <a:spcBef>
                <a:spcPts val="500"/>
              </a:spcBef>
              <a:defRPr sz="1400">
                <a:solidFill>
                  <a:srgbClr val="333333"/>
                </a:solidFill>
              </a:defRPr>
            </a:pPr>
            <a:r>
              <a:t>• 致虚极：让心灵达到极度虚空的状态——放下执念，空杯才能盛水。</a:t>
            </a:r>
          </a:p>
          <a:p>
            <a:pPr>
              <a:spcBef>
                <a:spcPts val="500"/>
              </a:spcBef>
              <a:defRPr sz="1400">
                <a:solidFill>
                  <a:srgbClr val="333333"/>
                </a:solidFill>
              </a:defRPr>
            </a:pPr>
            <a:r>
              <a:t>• 守静笃：坚定地保持宁静——静才能看清事物的本质和规律。</a:t>
            </a:r>
          </a:p>
          <a:p>
            <a:pPr>
              <a:spcBef>
                <a:spcPts val="500"/>
              </a:spcBef>
              <a:defRPr sz="1400">
                <a:solidFill>
                  <a:srgbClr val="333333"/>
                </a:solidFill>
              </a:defRPr>
            </a:pPr>
            <a:r>
              <a:t>• 观复：观察万物循环往复——四时轮转、生死交替，都是道在运行。</a:t>
            </a:r>
          </a:p>
          <a:p>
            <a:pPr>
              <a:spcBef>
                <a:spcPts val="500"/>
              </a:spcBef>
              <a:defRPr sz="1400">
                <a:solidFill>
                  <a:srgbClr val="333333"/>
                </a:solidFill>
              </a:defRPr>
            </a:pPr>
            <a:r>
              <a:t>• 复命曰常：回归本源是永恒的规律——知常才能明达，不妄动、不迷失。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第十六章 · 生活智慧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18872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🌟 核心智慧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静观自照，回归本源——在喧嚣中守住内心宁静，才能看清方向。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C72"/>
                </a:solidFill>
              </a:defRPr>
            </a:pPr>
            <a:r>
              <a:t>1. 决定前先静心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慌乱时做的决定往往错误。给自己一段静默时间，让心沉下来，答案自会浮现。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49039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C72"/>
                </a:solidFill>
              </a:defRPr>
            </a:pPr>
            <a:r>
              <a:t>2. 接受周期性规律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事业有高低，人生有起伏。知道"复命曰常"，就能在低谷时保持平静。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C72"/>
                </a:solidFill>
              </a:defRPr>
            </a:pPr>
            <a:r>
              <a:t>3. 每日静坐片刻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哪怕10分钟不看手机，感受呼吸，让纷乱的念头自然沉淀。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第十七章 · 功成不居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20116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【原文】</a:t>
            </a:r>
          </a:p>
          <a:p>
            <a:pPr>
              <a:spcBef>
                <a:spcPts val="400"/>
              </a:spcBef>
              <a:defRPr sz="1900">
                <a:solidFill>
                  <a:srgbClr val="333333"/>
                </a:solidFill>
              </a:defRPr>
            </a:pPr>
            <a:r>
              <a:t>太上，下知有之；其次，亲而誉之；</a:t>
            </a:r>
          </a:p>
          <a:p>
            <a:pPr>
              <a:spcBef>
                <a:spcPts val="400"/>
              </a:spcBef>
              <a:defRPr sz="1900">
                <a:solidFill>
                  <a:srgbClr val="333333"/>
                </a:solidFill>
              </a:defRPr>
            </a:pPr>
            <a:r>
              <a:t>其次，畏之；其次，侮之。</a:t>
            </a:r>
          </a:p>
          <a:p>
            <a:pPr>
              <a:spcBef>
                <a:spcPts val="400"/>
              </a:spcBef>
              <a:defRPr sz="1900">
                <a:solidFill>
                  <a:srgbClr val="333333"/>
                </a:solidFill>
              </a:defRPr>
            </a:pPr>
            <a:r>
              <a:t>信不足焉，有不信焉。悠兮，其贵言。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C72"/>
                </a:solidFill>
              </a:defRPr>
            </a:pPr>
            <a:r>
              <a:t>【白话解读】</a:t>
            </a:r>
          </a:p>
          <a:p>
            <a:pPr>
              <a:spcBef>
                <a:spcPts val="500"/>
              </a:spcBef>
              <a:defRPr sz="1400">
                <a:solidFill>
                  <a:srgbClr val="333333"/>
                </a:solidFill>
              </a:defRPr>
            </a:pPr>
            <a:r>
              <a:t>• 太上下知有之：最高明的领导者，百姓只知道他的存在——制度完善，无为而治。</a:t>
            </a:r>
          </a:p>
          <a:p>
            <a:pPr>
              <a:spcBef>
                <a:spcPts val="500"/>
              </a:spcBef>
              <a:defRPr sz="1400">
                <a:solidFill>
                  <a:srgbClr val="333333"/>
                </a:solidFill>
              </a:defRPr>
            </a:pPr>
            <a:r>
              <a:t>• 其次亲而誉之：次一等的，百姓亲近并称赞他——德治仁政，有为教化。</a:t>
            </a:r>
          </a:p>
          <a:p>
            <a:pPr>
              <a:spcBef>
                <a:spcPts val="500"/>
              </a:spcBef>
              <a:defRPr sz="1400">
                <a:solidFill>
                  <a:srgbClr val="333333"/>
                </a:solidFill>
              </a:defRPr>
            </a:pPr>
            <a:r>
              <a:t>• 其次畏之侮之：再次的，百姓害怕他；最次的，百姓轻蔑他——威权暴政，强压之下必有反抗。</a:t>
            </a:r>
          </a:p>
          <a:p>
            <a:pPr>
              <a:spcBef>
                <a:spcPts val="500"/>
              </a:spcBef>
              <a:defRPr sz="1400">
                <a:solidFill>
                  <a:srgbClr val="333333"/>
                </a:solidFill>
              </a:defRPr>
            </a:pPr>
            <a:r>
              <a:t>• 核心：贵言：最好的治理，是少发号施令——言多必失，令繁必乱。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📜 典故：功成不居的管理智慧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8288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【张良功成身退】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张良佐汉高祖定天下，封留侯。后从赤松子游，学辟谷之术。天下既定，他不贪功名，急流勇退。刘邦后杀韩信、彭越，而张良独善其身，正是"功成不居"的最好例证。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t>老子的"太上下知有之"——最好的领导，是让团队感受不到你的存在，却离不开你的制度。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91840"/>
            <a:ext cx="8229600" cy="91440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🌍 西方管理对照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t>德鲁克："管理的最高境界，是无需管理。" 优秀的制度，让执行者自觉运转。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【管理启示】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建立制度，而非依赖个人权威——"太上，下知有之"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授权到位，不过度干预——让团队自主运转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功成不居：成绩归团队，风险我承担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第十八章 · 大道废有仁义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8288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【原文】</a:t>
            </a:r>
          </a:p>
          <a:p>
            <a:pPr>
              <a:spcBef>
                <a:spcPts val="400"/>
              </a:spcBef>
              <a:defRPr sz="1900">
                <a:solidFill>
                  <a:srgbClr val="333333"/>
                </a:solidFill>
              </a:defRPr>
            </a:pPr>
            <a:r>
              <a:t>大道废，有仁义；</a:t>
            </a:r>
          </a:p>
          <a:p>
            <a:pPr>
              <a:spcBef>
                <a:spcPts val="400"/>
              </a:spcBef>
              <a:defRPr sz="1900">
                <a:solidFill>
                  <a:srgbClr val="333333"/>
                </a:solidFill>
              </a:defRPr>
            </a:pPr>
            <a:r>
              <a:t>智慧出，有大伪；</a:t>
            </a:r>
          </a:p>
          <a:p>
            <a:pPr>
              <a:spcBef>
                <a:spcPts val="400"/>
              </a:spcBef>
              <a:defRPr sz="1900">
                <a:solidFill>
                  <a:srgbClr val="333333"/>
                </a:solidFill>
              </a:defRPr>
            </a:pPr>
            <a:r>
              <a:t>六亲不和，有孝慈；国家昏乱，有忠臣。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C72"/>
                </a:solidFill>
              </a:defRPr>
            </a:pPr>
            <a:r>
              <a:t>【白话解读】</a:t>
            </a:r>
          </a:p>
          <a:p>
            <a:pPr>
              <a:spcBef>
                <a:spcPts val="500"/>
              </a:spcBef>
              <a:defRPr sz="1400">
                <a:solidFill>
                  <a:srgbClr val="333333"/>
                </a:solidFill>
              </a:defRPr>
            </a:pPr>
            <a:r>
              <a:t>• 大道废，有仁义：天道被废弃，才需要倡导仁义——道德败坏才需要道德说教。</a:t>
            </a:r>
          </a:p>
          <a:p>
            <a:pPr>
              <a:spcBef>
                <a:spcPts val="500"/>
              </a:spcBef>
              <a:defRPr sz="1400">
                <a:solidFill>
                  <a:srgbClr val="333333"/>
                </a:solidFill>
              </a:defRPr>
            </a:pPr>
            <a:r>
              <a:t>• 智慧出，有大伪：智巧出现，诈伪也就跟着来了——机关算尽，反误了卿卿性命。</a:t>
            </a:r>
          </a:p>
          <a:p>
            <a:pPr>
              <a:spcBef>
                <a:spcPts val="500"/>
              </a:spcBef>
              <a:defRPr sz="1400">
                <a:solidFill>
                  <a:srgbClr val="333333"/>
                </a:solidFill>
              </a:defRPr>
            </a:pPr>
            <a:r>
              <a:t>• 六亲不和，有孝慈：家庭失和，才需要彰显孝慈——平日和睦，何须特别标榜？</a:t>
            </a:r>
          </a:p>
          <a:p>
            <a:pPr>
              <a:spcBef>
                <a:spcPts val="500"/>
              </a:spcBef>
              <a:defRPr sz="1400">
                <a:solidFill>
                  <a:srgbClr val="333333"/>
                </a:solidFill>
              </a:defRPr>
            </a:pPr>
            <a:r>
              <a:t>• 核心：返璞归真：最好的状态是无需刻意——真正的和谐，不需要对比和彰显。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📜 典故：大道废有仁义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20116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【庄子·外篇·在宥】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孔子西藏游，谒见老子。老子曰："先生想以仁义教导君主，是扰乱其心啊！"仁义是乱世之药——当社会道德尚好时，仁义无需标榜；当需要大力提倡时，问题已经严重了。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474720"/>
            <a:ext cx="8229600" cy="91440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⚡ 现代职场警示</a:t>
            </a:r>
          </a:p>
          <a:p>
            <a:pPr>
              <a:defRPr sz="1500">
                <a:solidFill>
                  <a:srgbClr val="C8C8C8"/>
                </a:solidFill>
              </a:defRPr>
            </a:pPr>
            <a:r>
              <a:t>一家公司反复强调"诚信文化"——说明诚信问题已经很突出了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【辨证智慧】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警惕"道德标榜"：天天讲道德，可能道德正在滑坡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看实质而非形式：六亲和睦的家庭，无需"孝子"奖状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问题出现后的补救，远不如预防——"为之于未有"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🌍 西方思想对照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🇫🇷 卢梭 · "自然状态" · 1754年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"文明是疾病，良心是天使。"——文明越复杂，人性越扭曲。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14600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🇩🇪 马克思 · "异化理论" · 1844年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资本主义使人"异化"——人创造了机器，却成为机器的附属品。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749039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🇺🇸 梭罗 · "文明的反面" · 1849年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"文明创造了更体面的苦刑。"——物质越丰富，束缚越深。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983479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🇬🇧 斯密 · "道德情感论" · 1759年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同情心是人的本性，市场经济反而让人冷漠——资本主义的道德代价。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💡 生活中的智慧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🧘 每日静心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晨起静坐10分钟，不刷手机，感受"致虚极，守静笃"的清凉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06039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💼 领导力修炼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少开会、少发指令——建立好制度，让团队"下知有之"自动运转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931920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❤️ 家庭关系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家庭和睦不需要"孝子模范"——日常的陪伴，胜过节日的仪式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257800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🎯 个人成长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追求内在充实，而非外在标签——真正的成熟，不需要向人证明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💎 精华提炼 · 第五课总结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82296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第十六章·致虚守静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万物并作，吾以观复——静观本质，回归本源，知晓常理方能明达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40280"/>
            <a:ext cx="8229600" cy="82296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第十七章·功成不居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太上下知有之——最好的领导，是让制度代替个人权威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00400"/>
            <a:ext cx="8229600" cy="82296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第十八章·大道废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大道废，有仁义——社会问题已出现，才需要道德标榜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389120"/>
            <a:ext cx="8229600" cy="1371600"/>
          </a:xfrm>
          <a:prstGeom prst="roundRect">
            <a:avLst/>
          </a:prstGeom>
          <a:solidFill>
            <a:srgbClr val="1E3C7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🌟 一句话总结</a:t>
            </a:r>
          </a:p>
          <a:p>
            <a:pPr algn="ctr">
              <a:defRPr sz="2400" b="1">
                <a:solidFill>
                  <a:srgbClr val="FFFFFF"/>
                </a:solidFill>
              </a:defRPr>
            </a:pPr>
            <a:r>
              <a:t>致虚极，守静笃</a:t>
            </a:r>
          </a:p>
          <a:p>
            <a:pPr>
              <a:defRPr sz="1600">
                <a:solidFill>
                  <a:srgbClr val="C8C8C8"/>
                </a:solidFill>
              </a:defRPr>
            </a:pPr>
            <a:r>
              <a:t>在喧嚣中守住宁静，在纷扰中回归本质，功成不居，自然自在。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