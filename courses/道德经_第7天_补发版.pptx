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国学经典24章 · 第七课（补发）</a:t>
            </a:r>
          </a:p>
          <a:p>
            <a:pPr algn="ctr">
              <a:defRPr sz="2800"/>
            </a:pPr>
            <a:r>
              <a:t>《道德经》第十九章至第二十一章</a:t>
            </a:r>
          </a:p>
          <a:p>
            <a:pPr algn="ctr">
              <a:defRPr sz="2000"/>
            </a:pPr>
            <a:r>
              <a:t>绝学无忧 · 见素抱朴 · 孔德之容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第十九章 · 绝学无忧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绝圣弃智，民利百倍；绝仁弃义，民复孝慈；绝巧弃利，盗贼无有。此三者以为文不足，故令有所属：见素抱朴，少私寡欲。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本章提出"绝学"的主张。抛弃圣贤智慧与仁义巧利，百姓反而获得更大利益。真正的智慧在于保持本真、减少私欲。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【精华提炼】</a:t>
            </a:r>
          </a:p>
          <a:p>
            <a:pPr>
              <a:spcAft>
                <a:spcPts val="800"/>
              </a:spcAft>
              <a:defRPr sz="1600"/>
            </a:pPr>
            <a:r>
              <a:t>绝学无忧 → 返璞归真</a:t>
            </a:r>
          </a:p>
          <a:p>
            <a:pPr>
              <a:spcAft>
                <a:spcPts val="800"/>
              </a:spcAft>
              <a:defRPr sz="1600"/>
            </a:pPr>
            <a:r>
              <a:t>少私寡欲 → 内心安宁</a:t>
            </a:r>
          </a:p>
          <a:p>
            <a:pPr>
              <a:spcAft>
                <a:spcPts val="800"/>
              </a:spcAft>
              <a:defRPr sz="1600"/>
            </a:pPr>
            <a:r>
              <a:t>见素抱朴 → 本真生活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第二十章 · 见素抱朴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绝学无忧。唯之与阿，相去几何？善之与恶，相去若何？人之所畏，不可不畏。荒兮，其未央哉！众人熙熙，如享太牢，如春登台。我独泊兮，其未兆。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老子以对比手法展现修道之人的独特状态。世俗之人热热闹闹，而得道者却淡泊宁静。"我独泊兮"的状态，正是道的境界。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【精华提炼】</a:t>
            </a:r>
          </a:p>
          <a:p>
            <a:pPr>
              <a:spcAft>
                <a:spcPts val="800"/>
              </a:spcAft>
              <a:defRPr sz="1600"/>
            </a:pPr>
            <a:r>
              <a:t>泊兮未兆 → 淡泊宁静</a:t>
            </a:r>
          </a:p>
          <a:p>
            <a:pPr>
              <a:spcAft>
                <a:spcPts val="800"/>
              </a:spcAft>
              <a:defRPr sz="1600"/>
            </a:pPr>
            <a:r>
              <a:t>昏昏闷闷 → 大智若愚</a:t>
            </a:r>
          </a:p>
          <a:p>
            <a:pPr>
              <a:spcAft>
                <a:spcPts val="800"/>
              </a:spcAft>
              <a:defRPr sz="1600"/>
            </a:pPr>
            <a:r>
              <a:t>沌沌若婴 → 回归本真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第二十一章 · 孔德之容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孔德之容，惟道是从。道之为物，惟恍惟惚。惚兮恍兮，其中有象；恍兮惚兮，其中有物；窈兮冥兮，其中有精；其精甚真，其中有信。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大德的行容，完全顺从于道。道虽恍惚无形，却包含着宇宙万物的本原。认识道，就能理解万物的运行规律。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【精华提炼】</a:t>
            </a:r>
          </a:p>
          <a:p>
            <a:pPr>
              <a:spcAft>
                <a:spcPts val="800"/>
              </a:spcAft>
              <a:defRPr sz="1600"/>
            </a:pPr>
            <a:r>
              <a:t>惟道是从 → 顺应自然</a:t>
            </a:r>
          </a:p>
          <a:p>
            <a:pPr>
              <a:spcAft>
                <a:spcPts val="800"/>
              </a:spcAft>
              <a:defRPr sz="1600"/>
            </a:pPr>
            <a:r>
              <a:t>恍惚有物 → 道为万物本源</a:t>
            </a:r>
          </a:p>
          <a:p>
            <a:pPr>
              <a:spcAft>
                <a:spcPts val="800"/>
              </a:spcAft>
              <a:defRPr sz="1600"/>
            </a:pPr>
            <a:r>
              <a:t>孔德真精 → 大德承载大道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第十九章至第二十一章 · 精华总结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【三章贯通】</a:t>
            </a:r>
          </a:p>
          <a:p>
            <a:pPr>
              <a:spcAft>
                <a:spcPts val="800"/>
              </a:spcAft>
              <a:defRPr sz="1600"/>
            </a:pPr>
            <a:r>
              <a:t>从"绝学"的态度，到"见素抱朴"的修养，再到"惟道是从"的境界，最终达到与道合一的境界。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【处世智慧】</a:t>
            </a:r>
          </a:p>
          <a:p>
            <a:pPr>
              <a:spcAft>
                <a:spcPts val="800"/>
              </a:spcAft>
              <a:defRPr sz="1600"/>
            </a:pPr>
            <a:r>
              <a:t>少私寡欲，不被外物所累</a:t>
            </a:r>
          </a:p>
          <a:p>
            <a:pPr>
              <a:spcAft>
                <a:spcPts val="800"/>
              </a:spcAft>
              <a:defRPr sz="1600"/>
            </a:pPr>
            <a:r>
              <a:t>大智若愚，内心淡泊宁静</a:t>
            </a:r>
          </a:p>
          <a:p>
            <a:pPr>
              <a:spcAft>
                <a:spcPts val="800"/>
              </a:spcAft>
              <a:defRPr sz="1600"/>
            </a:pPr>
            <a:r>
              <a:t>惟道是从，顺应自然规律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【对管理工作的启示】</a:t>
            </a:r>
          </a:p>
          <a:p>
            <a:pPr>
              <a:spcAft>
                <a:spcPts val="800"/>
              </a:spcAft>
              <a:defRPr sz="1600"/>
            </a:pPr>
            <a:r>
              <a:t>不拘泥于表面方法，顺应规律、无为而治。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上善若水，水善利万物而不争。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