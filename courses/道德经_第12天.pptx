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54864"/>
          </a:xfrm>
          <a:prstGeom prst="rect">
            <a:avLst/>
          </a:prstGeom>
          <a:solidFill>
            <a:srgbClr val="B4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B4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4D2F0"/>
                </a:solidFill>
              </a:rPr>
              <a:t>《道德经》每日一课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第 12 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4D2F0"/>
                </a:solidFill>
              </a:rPr>
              <a:t>第37章 · 第38章 · 第39章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6BEE6"/>
                </a:solidFill>
              </a:rPr>
              <a:t>道常无为 ｜ 始制有名 ｜ 上德不德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AAD2"/>
                </a:solidFill>
              </a:rPr>
              <a:t>制作：小燕子 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4D2F0"/>
                </a:solidFill>
              </a:rPr>
              <a:t>第 37 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道常无为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solidFill>
            <a:srgbClr val="1E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CEBFF"/>
                </a:solidFill>
              </a:rPr>
              <a:t>「道常无为而无不为。侯王若能守，万物将自化。」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第37章 · 原文与解读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73152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63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【原文】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道常无为而无不为。侯王若能守之，万物将自化。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化而欲作，吾将镇之以无名之朴。无名之朴，夫亦将无欲。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不欲以静，天下将自定。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95728"/>
            <a:ext cx="73152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0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【白话解读】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79776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大道始终顺应自然，不妄加干涉，却成就了一切。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领导者若能守住这个原则，万物便会自然生化。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当人心萌生贪欲时，便以道的质朴来镇伏，人若无私无欲，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心灵归于宁静，天下自然安定。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02736"/>
            <a:ext cx="73152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7733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【核心思想】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86784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全章核心：一个「守」字。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不是消极不作为，而是以不争之德，守住道的本体，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让万物各归其位，自然而然地运转。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第37章 · 典故案例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1615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📜 案例一：汉初休养生息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9164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汉高祖刘邦建立汉朝后，面对战乱创伤，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实行「萧规曹随」——不频繁更改政策，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减轻赋税，让百姓休养生息。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结果：文景之治，天下大定。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这正是「道常无为而无不为」的实践。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188720"/>
            <a:ext cx="411480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21615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📜 案例二：刘备「勿以善小」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69164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刘备临终遗言：「勿以善小而不为，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勿以恶小而为之。」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他不主张用严厉刑法治理蜀国，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而是以德感化官员与百姓。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体现「天下将自定」的政治智慧。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572000"/>
            <a:ext cx="8595360" cy="1920240"/>
          </a:xfrm>
          <a:prstGeom prst="round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</a:rPr>
              <a:t>🏢 管理启示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749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✓ 好的管理不是事必躬亲，而是设定正确的方向和原则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1383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✓ 「少即是多」——减少不必要的干预，组织自有活力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5274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✓ 领导者最大的智慧是「守」：守住核心价值观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4D2F0"/>
                </a:solidFill>
              </a:rPr>
              <a:t>第 38 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上德不德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solidFill>
            <a:srgbClr val="1E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CEBFF"/>
                </a:solidFill>
              </a:rPr>
              <a:t>「上德不德，是以有德；下德不失德，是以无德。」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第38章 · 原文与解读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73152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63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【原文】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上德不德，是以有德；下德不失德，是以无德。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上德无为而无以为；下德为之而有以为。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上仁为之而无以为；上义为之而有以为。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上礼为之而莫之应，则攘臂而扔之。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95728"/>
            <a:ext cx="73152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0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【白话解读】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79776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真正有德之人，不刻意表现德行，所以真正有德；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刻意不失德之人，往往失去了真正的德。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上德者顺其自然，不带私心；下德者刻意作为，动机不纯。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仁、义、礼三者，层层递减，至礼已是强拉硬拽。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02736"/>
            <a:ext cx="73152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7733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【层次图解】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86784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上德（不德）→ 上仁（无以为）→ 上义（有以为）→ 上礼（扔之）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↓有德     ↓    ↓     ↓无德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德行递减，人为递增，老子以此揭示失道而后德的历程。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第38章 · 精华提炼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0700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🟦 上德 vs 下德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9164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上德不德：真正有德，不自显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顺应本性，无心而为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「无不为」—— 无所不成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德的最高境界：自然流露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如阳光普照，不求回报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代表：得道圣人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188720"/>
            <a:ext cx="411480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20700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🟥 下德不失德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69164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刻意不失德：虚伪的道德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人为造作，有心而为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「为之而有以为」—— 有所图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德的假象：形式大于实质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如作秀表演，期待掌声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代表：伪善之人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4D2F0"/>
                </a:solidFill>
              </a:rPr>
              <a:t>第 39 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上德不德（续）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solidFill>
            <a:srgbClr val="1E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CEBFF"/>
                </a:solidFill>
              </a:rPr>
              <a:t>「昔之得一者：天得一以清，地得一以宁，神得一以灵。」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第39章 · 原文与解读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73152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63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【原文】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昔之得一者：天得一以清，地得一以宁，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神得一以灵，谷得一以盈，万物得一以生，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侯王得一以为天下贞。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95728"/>
            <a:ext cx="73152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0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【白话解读】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79776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自古以来得到「一」（即道）的事物：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天得道而清明，地得道而安宁，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人心得道而灵慧，河谷得道而充盈，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万物得道而生长，领导者得道而为天下楷模。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02736"/>
            <a:ext cx="73152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7733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【反面论证】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86784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天无以清将恐裂，地无以宁将恐废，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神无以灵将恐歇，谷无以盈将恐竭，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万物无以生将恐灭，侯王无以贵将恐蹶。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——失去道，则一切崩溃，此为「贵高必以贱为本」之理。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第39章 · 典故与启示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0700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📜 历史案例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9164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秦朝统一六国后，秦始皇严刑峻法，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焚书坑儒，以暴力治天下，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结果：二世而亡，仅存15年。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汉初刘邦以道家黄老之术治国，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轻徭薄赋，与民休息，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结果：开创四百年汉朝基业。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对比：霸道 vs 王道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188720"/>
            <a:ext cx="411480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20700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🏢 现代管理启示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69164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「贵以贱为本」—— 顾客是根本，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     忽视用户需求的组织必倒。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「高以下为基」—— 基层是基础，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     不尊重员工的企业难长久。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亚马逊的「Day 1」哲学：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永远保持创业初期的谦逊与灵活，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不因成功而傲慢，不因规模而僵化。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这正是「得一」精神的现代诠释。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第12天 · 三章精华总览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097280"/>
            <a:ext cx="2651760" cy="5029200"/>
          </a:xfrm>
          <a:prstGeom prst="roundRect">
            <a:avLst/>
          </a:prstGeom>
          <a:solidFill>
            <a:srgbClr val="1E5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280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第37章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17830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CEBFF"/>
                </a:solidFill>
              </a:rPr>
              <a:t>道常无为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468880"/>
            <a:ext cx="2651760" cy="45720"/>
          </a:xfrm>
          <a:prstGeom prst="rect">
            <a:avLst/>
          </a:prstGeom>
          <a:solidFill>
            <a:srgbClr val="B4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EBFF"/>
                </a:solidFill>
              </a:rPr>
              <a:t>✦ 无为而治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EBFF"/>
                </a:solidFill>
              </a:rPr>
              <a:t>✦ 顺势而为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EBFF"/>
                </a:solidFill>
              </a:rPr>
              <a:t>✦ 守朴去欲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97280"/>
            <a:ext cx="2651760" cy="5029200"/>
          </a:xfrm>
          <a:prstGeom prst="roundRect">
            <a:avLst/>
          </a:prstGeom>
          <a:solidFill>
            <a:srgbClr val="3264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280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第38章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7830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CEBFF"/>
                </a:solidFill>
              </a:rPr>
              <a:t>上德不德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468880"/>
            <a:ext cx="2651760" cy="45720"/>
          </a:xfrm>
          <a:prstGeom prst="rect">
            <a:avLst/>
          </a:prstGeom>
          <a:solidFill>
            <a:srgbClr val="B4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79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EBFF"/>
                </a:solidFill>
              </a:rPr>
              <a:t>✦ 真德不显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3291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EBFF"/>
                </a:solidFill>
              </a:rPr>
              <a:t>✦ 伪德刻意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3931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EBFF"/>
                </a:solidFill>
              </a:rPr>
              <a:t>✦ 层次分明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097280"/>
            <a:ext cx="2651760" cy="5029200"/>
          </a:xfrm>
          <a:prstGeom prst="roundRect">
            <a:avLst/>
          </a:prstGeom>
          <a:solidFill>
            <a:srgbClr val="4678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280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第39章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830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CEBFF"/>
                </a:solidFill>
              </a:rPr>
              <a:t>得一者成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468880"/>
            <a:ext cx="2651760" cy="45720"/>
          </a:xfrm>
          <a:prstGeom prst="rect">
            <a:avLst/>
          </a:prstGeom>
          <a:solidFill>
            <a:srgbClr val="B4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EBFF"/>
                </a:solidFill>
              </a:rPr>
              <a:t>✦ 天清地宁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291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EBFF"/>
                </a:solidFill>
              </a:rPr>
              <a:t>✦ 贵以贱本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931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EBFF"/>
                </a:solidFill>
              </a:rPr>
              <a:t>✦ 高以下基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第12天 · 核心收获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53312"/>
            <a:ext cx="201168" cy="201168"/>
          </a:xfrm>
          <a:prstGeom prst="rect">
            <a:avLst/>
          </a:prstGeom>
          <a:solidFill>
            <a:srgbClr val="00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286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「道常无为」—— 最高明的领导，是让被领导者感觉不到被管理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56232"/>
            <a:ext cx="201168" cy="201168"/>
          </a:xfrm>
          <a:prstGeom prst="rect">
            <a:avLst/>
          </a:prstGeom>
          <a:solidFill>
            <a:srgbClr val="00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957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「上德不德」—— 真正的德行是自然的，不是表演的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201168" cy="201168"/>
          </a:xfrm>
          <a:prstGeom prst="rect">
            <a:avLst/>
          </a:prstGeom>
          <a:solidFill>
            <a:srgbClr val="00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987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「贵以贱为本」—— 越高贵，越要以卑微为根基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62072"/>
            <a:ext cx="201168" cy="201168"/>
          </a:xfrm>
          <a:prstGeom prst="rect">
            <a:avLst/>
          </a:prstGeom>
          <a:solidFill>
            <a:srgbClr val="00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0162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889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「天下将自定」—— 给予事物空间和时间，它会自我调适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303520"/>
            <a:ext cx="8412480" cy="118872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3949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4D2F0"/>
                </a:solidFill>
              </a:rPr>
              <a:t>💡  核心结论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150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无为不是躺平，而是「为」到极致之后的从容放下。以不争，成就无可争。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