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全面落实安全生产主体责任</a:t>
            </a:r>
          </a:p>
          <a:p>
            <a:pPr algn="ctr">
              <a:defRPr sz="3200" b="1">
                <a:solidFill>
                  <a:srgbClr val="4682B4"/>
                </a:solidFill>
              </a:defRPr>
            </a:pPr>
            <a:r>
              <a:t>有力保障企业高质量发展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108960"/>
            <a:ext cx="3657600" cy="508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1E3C72"/>
                </a:solidFill>
              </a:defRPr>
            </a:pPr>
            <a:r>
              <a:t>—— 企业安全生产主体责任落实专题培训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2026年4月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1/&lt;pptx.text.text._Paragraph object at 0x10c130050&gt;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目 录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188720"/>
            <a:ext cx="640080" cy="640080"/>
          </a:xfrm>
          <a:prstGeom prst="ellipse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28016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落实企业安全生产主体责任的重要性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9456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主要存在问题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017520"/>
            <a:ext cx="640080" cy="640080"/>
          </a:xfrm>
          <a:prstGeom prst="ellipse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310896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提升领导力带动企业落实责任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2/&lt;pptx.text.text._Paragraph object at 0x10beb6a50&gt;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培训背景与目的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188720"/>
            <a:ext cx="502920" cy="502920"/>
          </a:xfrm>
          <a:prstGeom prst="pentagon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6187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安全生产是企业发展的生命线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1874519"/>
            <a:ext cx="502920" cy="502920"/>
          </a:xfrm>
          <a:prstGeom prst="pentagon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4767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落实主体责任是安全生产的根本保障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2560320"/>
            <a:ext cx="502920" cy="502920"/>
          </a:xfrm>
          <a:prstGeom prst="pentagon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3347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近年来安全生产形势依然严峻</a:t>
            </a:r>
          </a:p>
        </p:txBody>
      </p:sp>
      <p:sp>
        <p:nvSpPr>
          <p:cNvPr id="10" name="Regular Pentagon 9"/>
          <p:cNvSpPr/>
          <p:nvPr/>
        </p:nvSpPr>
        <p:spPr>
          <a:xfrm>
            <a:off x="457200" y="3246120"/>
            <a:ext cx="502920" cy="502920"/>
          </a:xfrm>
          <a:prstGeom prst="pentagon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1927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需要各级领导和员工共同参与</a:t>
            </a:r>
          </a:p>
        </p:txBody>
      </p:sp>
      <p:sp>
        <p:nvSpPr>
          <p:cNvPr id="12" name="Regular Pentagon 11"/>
          <p:cNvSpPr/>
          <p:nvPr/>
        </p:nvSpPr>
        <p:spPr>
          <a:xfrm>
            <a:off x="457200" y="3931920"/>
            <a:ext cx="502920" cy="502920"/>
          </a:xfrm>
          <a:prstGeom prst="pentagon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00507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通过培训提升全员安全意识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3/&lt;pptx.text.text._Paragraph object at 0x10be5f850&gt;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习近平总书记关于安全生产重要论述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8686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i="1">
                <a:solidFill>
                  <a:srgbClr val="1E3C72"/>
                </a:solidFill>
              </a:defRPr>
            </a:pPr>
            <a:r>
              <a:t>"人命关天，发展决不能以牺牲人的生命为代价。"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2011680"/>
            <a:ext cx="8229600" cy="8686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i="1">
                <a:solidFill>
                  <a:srgbClr val="1E3C72"/>
                </a:solidFill>
              </a:defRPr>
            </a:pPr>
            <a:r>
              <a:t>"安全生产必须警钟长鸣、常抓不懈。"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971800"/>
            <a:ext cx="8229600" cy="8686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i="1">
                <a:solidFill>
                  <a:srgbClr val="1E3C72"/>
                </a:solidFill>
              </a:defRPr>
            </a:pPr>
            <a:r>
              <a:t>"落实安全生产责任制，要落实行业主管部门直接监管、安全监管部门综合监管、地方政府属地监管。"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931920"/>
            <a:ext cx="8229600" cy="8686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i="1">
                <a:solidFill>
                  <a:srgbClr val="1E3C72"/>
                </a:solidFill>
              </a:defRPr>
            </a:pPr>
            <a:r>
              <a:t>"要抓紧建立健全安全生产责任体系。"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5760720"/>
            <a:ext cx="8229600" cy="914400"/>
          </a:xfrm>
          <a:prstGeom prst="pentagon">
            <a:avLst/>
          </a:prstGeom>
          <a:solidFill>
            <a:srgbClr val="FFF5F5"/>
          </a:solidFill>
          <a:ln w="2540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B43232"/>
                </a:solidFill>
              </a:defRPr>
            </a:pPr>
            <a:r>
              <a:t>安全生产是必须守住的底线，不可逾越的红线！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4/&lt;pptx.text.text._Paragraph object at 0x10be966f0&gt;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重要指示批示核心要点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B43232"/>
                </a:solidFill>
              </a:rPr>
              <a:t>【红线意识】</a:t>
            </a:r>
            <a:r>
              <a:rPr sz="1200">
                <a:solidFill>
                  <a:srgbClr val="333333"/>
                </a:solidFill>
              </a:rPr>
              <a:t>发展绝不能以牺牲安全为代价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64792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B43232"/>
                </a:solidFill>
              </a:rPr>
              <a:t>【两个至上】</a:t>
            </a:r>
            <a:r>
              <a:rPr sz="1200">
                <a:solidFill>
                  <a:srgbClr val="333333"/>
                </a:solidFill>
              </a:rPr>
              <a:t>人民至上，生命至上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478024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B43232"/>
                </a:solidFill>
              </a:rPr>
              <a:t>【两个根本】</a:t>
            </a:r>
            <a:r>
              <a:rPr sz="1200">
                <a:solidFill>
                  <a:srgbClr val="333333"/>
                </a:solidFill>
              </a:rPr>
              <a:t>从根本上消除隐患、从根本上解决问题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191256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B43232"/>
                </a:solidFill>
              </a:rPr>
              <a:t>【三管三必须】</a:t>
            </a:r>
            <a:r>
              <a:rPr sz="1200">
                <a:solidFill>
                  <a:srgbClr val="333333"/>
                </a:solidFill>
              </a:rPr>
              <a:t>管行业必须管安全、管业务必须管安全、管生产经营必须管安全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904488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B43232"/>
                </a:solidFill>
              </a:rPr>
              <a:t>【四不放过】</a:t>
            </a:r>
            <a:r>
              <a:rPr sz="1200">
                <a:solidFill>
                  <a:srgbClr val="333333"/>
                </a:solidFill>
              </a:rPr>
              <a:t>事故原因不查清不放过，责任人员不处理不放过、整改措施不落实不放过、教训不汲取不放过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5/&lt;pptx.text.text._Paragraph object at 0x10be96270&gt;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安全生产重大事故警示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64008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2020年福建泉州欣佳酒店"3·7"坍塌事故 — 29人死亡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64792"/>
            <a:ext cx="8229600" cy="64008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2021年湖北十堰燃气爆炸事故 — 25人死亡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478024"/>
            <a:ext cx="8229600" cy="64008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2022年湖南长沙望城区自建房倒塌事故 — 54人死亡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191256"/>
            <a:ext cx="8229600" cy="64008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2023年北京丰台长峰医院火灾 — 29人死亡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904488"/>
            <a:ext cx="8229600" cy="64008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2024年广东梅大高速塌方灾害 — 48人死亡</a:t>
            </a:r>
          </a:p>
        </p:txBody>
      </p:sp>
      <p:sp>
        <p:nvSpPr>
          <p:cNvPr id="9" name="Regular Pentagon 8"/>
          <p:cNvSpPr/>
          <p:nvPr/>
        </p:nvSpPr>
        <p:spPr>
          <a:xfrm>
            <a:off x="457200" y="5760720"/>
            <a:ext cx="8229600" cy="914400"/>
          </a:xfrm>
          <a:prstGeom prst="pentagon">
            <a:avLst/>
          </a:prstGeom>
          <a:solidFill>
            <a:srgbClr val="FFF5F5"/>
          </a:solidFill>
          <a:ln w="2540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B43232"/>
                </a:solidFill>
              </a:defRPr>
            </a:pPr>
            <a:r>
              <a:t>血的教训——安全绝非小事，责任重于泰山！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6/&lt;pptx.text.text._Paragraph object at 0x10be97830&gt;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第一部分</a:t>
            </a:r>
            <a:br/>
            <a:r>
              <a:t>PART 0一</a:t>
            </a:r>
          </a:p>
          <a:p>
            <a:pPr algn="ctr">
              <a:defRPr sz="3600" b="1">
                <a:solidFill>
                  <a:srgbClr val="FFFFFF"/>
                </a:solidFill>
              </a:defRPr>
            </a:pPr>
            <a:r>
              <a:t>落实企业安全生产主体责任的重要性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7/&lt;pptx.text.text._Paragraph object at 0x10be97b30&gt;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一、落实企业安全生产主体责任的重要性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" cy="502920"/>
          </a:xfrm>
          <a:prstGeom prst="pentagon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（一）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143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落实主体责任是法律的基本要求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1874519"/>
            <a:ext cx="822960" cy="502920"/>
          </a:xfrm>
          <a:prstGeom prst="pentagon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（二）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92023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落实主体责任是企业发展的根本保障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2651760"/>
            <a:ext cx="822960" cy="502920"/>
          </a:xfrm>
          <a:prstGeom prst="pentagon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（三）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69747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落实主体责任是员工权益的基本保障</a:t>
            </a:r>
          </a:p>
        </p:txBody>
      </p:sp>
      <p:sp>
        <p:nvSpPr>
          <p:cNvPr id="10" name="Regular Pentagon 9"/>
          <p:cNvSpPr/>
          <p:nvPr/>
        </p:nvSpPr>
        <p:spPr>
          <a:xfrm>
            <a:off x="457200" y="3429000"/>
            <a:ext cx="822960" cy="502920"/>
          </a:xfrm>
          <a:prstGeom prst="pentagon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（四）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474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落实主体责任是社会和谐的重要基础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8/&lt;pptx.text.text._Paragraph object at 0x10c138950&gt;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（一）落实主体责任是法律的基本要求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1. 《安全生产法》明确规定生产经营单位是安全生产责任主体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3736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2. 主要负责人对本单位安全生产工作全面负责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77439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3. 建立健全安全生产责任制是法定义务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01752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4. 未落实主体责任将承担行政、民事、刑事等法律责任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5760720"/>
            <a:ext cx="8229600" cy="914400"/>
          </a:xfrm>
          <a:prstGeom prst="pentagon">
            <a:avLst/>
          </a:prstGeom>
          <a:solidFill>
            <a:srgbClr val="FFF5F5"/>
          </a:solidFill>
          <a:ln w="2540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B43232"/>
                </a:solidFill>
              </a:defRPr>
            </a:pPr>
            <a:r>
              <a:t>法律是底线，落实主体责任是企业的根本义务！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9/&lt;pptx.text.text._Paragraph object at 0x10c139490&gt;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我国安全生产法律体系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【上位法】《中华人民共和国安全生产法》（2021年修订）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09928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【专门法】《消防法》《危险化学品安全管理条例》等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68296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【行政法规】《生产安全事故应急条例》《安全生产许可证条例》等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026663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【部门规章】《生产安全事故报告和调查处理条例》等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685031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【地方性法规】各省市安全生产条例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10/&lt;pptx.text.text._Paragraph object at 0x10c1394f0&gt;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安全生产主体责任的法定定义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914400" y="1280160"/>
            <a:ext cx="7315200" cy="1188720"/>
          </a:xfrm>
          <a:prstGeom prst="pentagon">
            <a:avLst/>
          </a:prstGeom>
          <a:solidFill>
            <a:srgbClr val="F0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i="1">
                <a:solidFill>
                  <a:srgbClr val="1E3C72"/>
                </a:solidFill>
              </a:defRPr>
            </a:pPr>
            <a:r>
              <a:t>"生产经营单位是安全生产的责任主体，对本单位的安全生产承担主体责任。"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主体责任包括：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18688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① 建立健全安全生产责任制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94176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② 配备安全生产管理人员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169664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③ 保障安全生产投入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645152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④ 落实安全教育培训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12064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⑤ 强化应急救援体系建设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11/&lt;pptx.text.text._Paragraph object at 0x10c13a030&gt;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企业主要负责人七项职责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>
                <a:solidFill>
                  <a:srgbClr val="333333"/>
                </a:solidFill>
              </a:defRPr>
            </a:pPr>
            <a:r>
              <a:t>1. 建立、健全本单位安全生产责任制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645919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>
                <a:solidFill>
                  <a:srgbClr val="333333"/>
                </a:solidFill>
              </a:defRPr>
            </a:pPr>
            <a:r>
              <a:t>2. 组织制定本单位安全生产规章制度和操作规程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240279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>
                <a:solidFill>
                  <a:srgbClr val="333333"/>
                </a:solidFill>
              </a:defRPr>
            </a:pPr>
            <a:r>
              <a:t>3. 组织制定并实施本单位安全生产教育和培训计划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834639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>
                <a:solidFill>
                  <a:srgbClr val="333333"/>
                </a:solidFill>
              </a:defRPr>
            </a:pPr>
            <a:r>
              <a:t>4. 保证本单位安全生产投入的有效实施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428999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>
                <a:solidFill>
                  <a:srgbClr val="333333"/>
                </a:solidFill>
              </a:defRPr>
            </a:pPr>
            <a:r>
              <a:t>5. 督促、检查本单位的安全生产工作，及时消除隐患</a:t>
            </a:r>
          </a:p>
        </p:txBody>
      </p:sp>
      <p:sp>
        <p:nvSpPr>
          <p:cNvPr id="9" name="Regular Pentagon 8"/>
          <p:cNvSpPr/>
          <p:nvPr/>
        </p:nvSpPr>
        <p:spPr>
          <a:xfrm>
            <a:off x="457200" y="4023359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>
                <a:solidFill>
                  <a:srgbClr val="333333"/>
                </a:solidFill>
              </a:defRPr>
            </a:pPr>
            <a:r>
              <a:t>6. 组织制定并实施本单位的生产安全事故应急救援预案</a:t>
            </a:r>
          </a:p>
        </p:txBody>
      </p:sp>
      <p:sp>
        <p:nvSpPr>
          <p:cNvPr id="10" name="Regular Pentagon 9"/>
          <p:cNvSpPr/>
          <p:nvPr/>
        </p:nvSpPr>
        <p:spPr>
          <a:xfrm>
            <a:off x="457200" y="461772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>
                <a:solidFill>
                  <a:srgbClr val="333333"/>
                </a:solidFill>
              </a:defRPr>
            </a:pPr>
            <a:r>
              <a:t>7. 及时、如实报告生产安全事故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12/&lt;pptx.text.text._Paragraph object at 0x10c13a570&gt;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（二）落实主体责任是企业发展的根本保障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1. 安全生产是企业可持续发展的重要基石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3736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2. 事故会给企业带来巨大经济损失和声誉损害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77439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3. 落实主体责任有助于提升企业管理水平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01752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4. 良好的安全业绩是企业核心竞争力的重要组成部分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5760720"/>
            <a:ext cx="8229600" cy="914400"/>
          </a:xfrm>
          <a:prstGeom prst="pentagon">
            <a:avLst/>
          </a:prstGeom>
          <a:solidFill>
            <a:srgbClr val="FFF5F5"/>
          </a:solidFill>
          <a:ln w="25400">
            <a:solidFill>
              <a:srgbClr val="1E3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E3C72"/>
                </a:solidFill>
              </a:defRPr>
            </a:pPr>
            <a:r>
              <a:t>安全是最大的效益，安全出问题一切归零！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13/&lt;pptx.text.text._Paragraph object at 0x10c13af30&gt;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安全生产法律责任追究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59436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【行政处罚】责令限期改正、罚款、停产停业整顿、吊销证照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09928"/>
            <a:ext cx="8229600" cy="59436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【民事责任】赔偿损失、消除影响、恢复原状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68296"/>
            <a:ext cx="8229600" cy="59436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【刑事责任】重大责任事故罪、重大劳动安全事故罪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026663"/>
            <a:ext cx="8229600" cy="59436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【量刑标准】造成死亡1-3人：3年以下；3人以上：3-7年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5760720"/>
            <a:ext cx="8229600" cy="914400"/>
          </a:xfrm>
          <a:prstGeom prst="pentagon">
            <a:avLst/>
          </a:prstGeom>
          <a:solidFill>
            <a:srgbClr val="FFF5F5"/>
          </a:solidFill>
          <a:ln w="2540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B43232"/>
                </a:solidFill>
              </a:defRPr>
            </a:pPr>
            <a:r>
              <a:t>法网恢恢，疏而不漏！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14/&lt;pptx.text.text._Paragraph object at 0x10c13ba10&gt;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（三）落实主体责任是员工权益的基本保障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1. 保障员工的生命安全和身体健康是企业的首要责任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3736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2. 落实主体责任才能为员工创造安全的工作环境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77439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3. 安全的工作环境有助于提高员工工作积极性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01752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4. 员工安全权益得到保障才能与企业共同发展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5760720"/>
            <a:ext cx="8229600" cy="914400"/>
          </a:xfrm>
          <a:prstGeom prst="pentagon">
            <a:avLst/>
          </a:prstGeom>
          <a:solidFill>
            <a:srgbClr val="FFF5F5"/>
          </a:solidFill>
          <a:ln w="25400">
            <a:solidFill>
              <a:srgbClr val="00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006450"/>
                </a:solidFill>
              </a:defRPr>
            </a:pPr>
            <a:r>
              <a:t>员工是企业最宝贵的财富，安全是给员工最好的福利！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15/&lt;pptx.text.text._Paragraph object at 0x10c14c530&gt;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（四）落实主体责任是社会和谐的重要基础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1. 安全生产关系社会稳定和和谐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3736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2. 事故会造成人员伤亡和家庭悲剧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77439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3. 企业落实主体责任有助于减轻社会负担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01752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4. 良好的安全生产形势是平安中国建设的重要组成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5760720"/>
            <a:ext cx="8229600" cy="914400"/>
          </a:xfrm>
          <a:prstGeom prst="pentagon">
            <a:avLst/>
          </a:prstGeom>
          <a:solidFill>
            <a:srgbClr val="FFF5F5"/>
          </a:solidFill>
          <a:ln w="2540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B43232"/>
                </a:solidFill>
              </a:defRPr>
            </a:pPr>
            <a:r>
              <a:t>安全生产，人人有责，家家平安！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16/&lt;pptx.text.text._Paragraph object at 0x10c14cfb0&gt;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双重预防机制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5029200" cy="457200"/>
          </a:xfrm>
          <a:prstGeom prst="pentagon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【风险分级管控】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554480"/>
            <a:ext cx="5029200" cy="457200"/>
          </a:xfrm>
          <a:prstGeom prst="pentagon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① 全面辨识风险 — 确定风险点 — 评估风险等级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057400"/>
            <a:ext cx="5029200" cy="457200"/>
          </a:xfrm>
          <a:prstGeom prst="pentagon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② 制定管控措施 — 明确责任人和管控周期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560320"/>
            <a:ext cx="5029200" cy="457200"/>
          </a:xfrm>
          <a:prstGeom prst="pentagon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③ 动态更新 — 根据实际情况及时调整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246120"/>
            <a:ext cx="5029200" cy="457200"/>
          </a:xfrm>
          <a:prstGeom prst="pentagon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【隐患排查治理】</a:t>
            </a:r>
          </a:p>
        </p:txBody>
      </p:sp>
      <p:sp>
        <p:nvSpPr>
          <p:cNvPr id="9" name="Regular Pentagon 8"/>
          <p:cNvSpPr/>
          <p:nvPr/>
        </p:nvSpPr>
        <p:spPr>
          <a:xfrm>
            <a:off x="457200" y="3749039"/>
            <a:ext cx="5029200" cy="457200"/>
          </a:xfrm>
          <a:prstGeom prst="pentagon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① 日常排查 — 班前班后检查 — 专项检查</a:t>
            </a:r>
          </a:p>
        </p:txBody>
      </p:sp>
      <p:sp>
        <p:nvSpPr>
          <p:cNvPr id="10" name="Regular Pentagon 9"/>
          <p:cNvSpPr/>
          <p:nvPr/>
        </p:nvSpPr>
        <p:spPr>
          <a:xfrm>
            <a:off x="457200" y="4251959"/>
            <a:ext cx="5029200" cy="457200"/>
          </a:xfrm>
          <a:prstGeom prst="pentagon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② 分级治理 — 班组级/车间级/厂级</a:t>
            </a:r>
          </a:p>
        </p:txBody>
      </p:sp>
      <p:sp>
        <p:nvSpPr>
          <p:cNvPr id="11" name="Regular Pentagon 10"/>
          <p:cNvSpPr/>
          <p:nvPr/>
        </p:nvSpPr>
        <p:spPr>
          <a:xfrm>
            <a:off x="457200" y="4754879"/>
            <a:ext cx="5029200" cy="457200"/>
          </a:xfrm>
          <a:prstGeom prst="pentagon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③ 闭环管理 — 整改-验收-销号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17/&lt;pptx.text.text._Paragraph object at 0x10c14f230&gt;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第一部分小结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371600"/>
            <a:ext cx="8229600" cy="594360"/>
          </a:xfrm>
          <a:prstGeom prst="pentagon">
            <a:avLst/>
          </a:prstGeom>
          <a:solidFill>
            <a:srgbClr val="1E3C7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✓ 落实主体责任是法律的基本要求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2029967"/>
            <a:ext cx="8229600" cy="594360"/>
          </a:xfrm>
          <a:prstGeom prst="pentagon">
            <a:avLst/>
          </a:prstGeom>
          <a:solidFill>
            <a:srgbClr val="1E3C7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✓ 落实主体责任是企业发展的根本保障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688335"/>
            <a:ext cx="8229600" cy="594360"/>
          </a:xfrm>
          <a:prstGeom prst="pentagon">
            <a:avLst/>
          </a:prstGeom>
          <a:solidFill>
            <a:srgbClr val="1E3C7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✓ 落实主体责任是员工权益的基本保障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346703"/>
            <a:ext cx="8229600" cy="594360"/>
          </a:xfrm>
          <a:prstGeom prst="pentagon">
            <a:avLst/>
          </a:prstGeom>
          <a:solidFill>
            <a:srgbClr val="1E3C7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✓ 落实主体责任是社会和谐的重要基础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4005071"/>
            <a:ext cx="8229600" cy="594360"/>
          </a:xfrm>
          <a:prstGeom prst="pentagon">
            <a:avLst/>
          </a:prstGeom>
          <a:solidFill>
            <a:srgbClr val="1E3C7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✓ 双重预防机制是落实主体责任的重要抓手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18/&lt;pptx.text.text._Paragraph object at 0x10c14e870&gt;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第二部分</a:t>
            </a:r>
            <a:br/>
            <a:r>
              <a:t>PART 0二</a:t>
            </a:r>
          </a:p>
          <a:p>
            <a:pPr algn="ctr">
              <a:defRPr sz="3600" b="1">
                <a:solidFill>
                  <a:srgbClr val="FFFFFF"/>
                </a:solidFill>
              </a:defRPr>
            </a:pPr>
            <a:r>
              <a:t>主要存在问题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19/&lt;pptx.text.text._Paragraph object at 0x10c14dc70&gt;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二、主要存在问题概述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B43232"/>
                </a:solidFill>
              </a:rPr>
              <a:t>（一）</a:t>
            </a:r>
            <a:r>
              <a:rPr sz="1600" b="1">
                <a:solidFill>
                  <a:srgbClr val="333333"/>
                </a:solidFill>
              </a:rPr>
              <a:t>企业层面存在的问题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920240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B43232"/>
                </a:solidFill>
              </a:rPr>
              <a:t>（二）</a:t>
            </a:r>
            <a:r>
              <a:rPr sz="1600" b="1">
                <a:solidFill>
                  <a:srgbClr val="333333"/>
                </a:solidFill>
              </a:rPr>
              <a:t>管理层面的问题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743200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B43232"/>
                </a:solidFill>
              </a:rPr>
              <a:t>（三）</a:t>
            </a:r>
            <a:r>
              <a:rPr sz="1600" b="1">
                <a:solidFill>
                  <a:srgbClr val="333333"/>
                </a:solidFill>
              </a:rPr>
              <a:t>员工层面的问题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566160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B43232"/>
                </a:solidFill>
              </a:rPr>
              <a:t>（四）</a:t>
            </a:r>
            <a:r>
              <a:rPr sz="1600" b="1">
                <a:solidFill>
                  <a:srgbClr val="333333"/>
                </a:solidFill>
              </a:rPr>
              <a:t>外部环境的问题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20/&lt;pptx.text.text._Paragraph object at 0x10be96d50&gt;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（一）企业层面存在的问题（一）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1. 安全投入不足，设施设备老化、落后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3736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2. 安全管理制度不健全，或者有制度不落实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77439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3. 安全教育培训流于形式，走过场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01752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4. 隐患排查治理不深入、不彻底，走形式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21/&lt;pptx.text.text._Paragraph object at 0x10c14fad0&gt;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（一）企业层面存在的问题（二）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5. 应急救援预案不完善，或者演练不足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3736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6. 违章指挥、违章作业行为时有发生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77439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7. 新改扩建项目安全设施"三同时"落实不到位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01752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8. 外包工程安全管理主体责任不清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5760720"/>
            <a:ext cx="8229600" cy="914400"/>
          </a:xfrm>
          <a:prstGeom prst="pentagon">
            <a:avLst/>
          </a:prstGeom>
          <a:solidFill>
            <a:srgbClr val="FFF5F5"/>
          </a:solidFill>
          <a:ln w="2540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B43232"/>
                </a:solidFill>
              </a:defRPr>
            </a:pPr>
            <a:r>
              <a:t>企业是安全生产的内因和根本，必须切实履行主体责任！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22/&lt;pptx.text.text._Paragraph object at 0x10c158e30&gt;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（二）管理层面的问题（一）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1. 安全生产责任制落实不到位，存在层层衰减现象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3736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2. 安全监管执法"宽松软虚"，不敢动真碰硬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77439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3. 安全检查走形式、走过场，发现不了问题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23/&lt;pptx.text.text._Paragraph object at 0x10c158c50&gt;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（二）管理层面的问题（二）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4. 安全考核奖惩机制不完善，赏罚不明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3736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5. 安全信息传达不畅通，基层不知情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77439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6. 安全责任追究不严格，大事化小小事化了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5760720"/>
            <a:ext cx="8229600" cy="914400"/>
          </a:xfrm>
          <a:prstGeom prst="pentagon">
            <a:avLst/>
          </a:prstGeom>
          <a:solidFill>
            <a:srgbClr val="FFF5F5"/>
          </a:solidFill>
          <a:ln w="2540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B43232"/>
                </a:solidFill>
              </a:defRPr>
            </a:pPr>
            <a:r>
              <a:t>管理是落实主体责任的关键环节，必须敢于动真碰硬！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24/&lt;pptx.text.text._Paragraph object at 0x10c159d30&gt;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（三）员工层面的问题（一）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1. 安全意识淡薄，存在侥幸心理和麻痹思想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3736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2. 安全知识技能不足，不知道如何防范风险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77439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3. 对安全隐患识别能力不强，看不出问题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25/&lt;pptx.text.text._Paragraph object at 0x10c15a570&gt;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（三）员工层面的问题（二）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4. 自我保护意识有待提高，违规行为屡禁不止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3736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5. 应急处置和自救互救能力欠缺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77439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6. 不愿意主动报告安全隐患，怕麻烦、怕考核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5760720"/>
            <a:ext cx="8229600" cy="914400"/>
          </a:xfrm>
          <a:prstGeom prst="pentagon">
            <a:avLst/>
          </a:prstGeom>
          <a:solidFill>
            <a:srgbClr val="FFF5F5"/>
          </a:solidFill>
          <a:ln w="2540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B43232"/>
                </a:solidFill>
              </a:defRPr>
            </a:pPr>
            <a:r>
              <a:t>员工是安全生产的第一道防线，全员参与才能确保安全！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26/&lt;pptx.text.text._Paragraph object at 0x10c15ac30&gt;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（四）外部环境的问题（一）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1. 部分行业产能过剩，安全投入受限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3736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2. 小微企业安全基础薄弱，管理水平低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77439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3. 中介机构安全服务市场不规范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27/&lt;pptx.text.text._Paragraph object at 0x10c15b4d0&gt;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（四）外部环境的问题（二）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4. 安全监管力量配置不足，监管能力有待提高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3736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5. 社会安全文化建设滞后，安全氛围不够浓厚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77439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6. 安全技术支撑能力有待加强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5760720"/>
            <a:ext cx="8229600" cy="914400"/>
          </a:xfrm>
          <a:prstGeom prst="pentagon">
            <a:avLst/>
          </a:prstGeom>
          <a:solidFill>
            <a:srgbClr val="FFF5F5"/>
          </a:solidFill>
          <a:ln w="2540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B43232"/>
                </a:solidFill>
              </a:defRPr>
            </a:pPr>
            <a:r>
              <a:t>外部环境是影响因素，内因才是根本，外因通过内因起作用！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28/&lt;pptx.text.text._Paragraph object at 0x10c15bbf0&gt;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案例一：福建泉州欣佳酒店"3·7"坍塌事故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73152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【事故概况】2020年3月7日，泉州市鲤城区欣佳酒店发生坍塌，造成29人死亡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828800"/>
            <a:ext cx="8229600" cy="73152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【直接原因】违法违规建设施工，原四层钢结构被违规改建为七层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606040"/>
            <a:ext cx="8229600" cy="73152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【主要教训】违法违规建设、监管严重缺位、隐患长期存在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29/&lt;pptx.text.text._Paragraph object at 0x10c1603b0&gt;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案例二：湖北十堰燃气爆炸事故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73152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【事故概况】2021年6月13日，十堰市张湾区艳湖社区集贸市场发生燃气爆炸，25人死亡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828800"/>
            <a:ext cx="8229600" cy="73152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【直接原因】燃气管道长期泄漏，达到爆炸极限后遇明火爆炸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606040"/>
            <a:ext cx="8229600" cy="73152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【主要教训】管道巡检不到位、监测预警不完善、应急处置不力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30/&lt;pptx.text.text._Paragraph object at 0x10c15b1d0&gt;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案例三：湖南长沙"4·29"自建房倒塌事故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73152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【事故概况】2022年4月29日，长沙市望城区一居民自建房倒塌，54人死亡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828800"/>
            <a:ext cx="8229600" cy="73152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【直接原因】房屋地基承载力不足，违规加盖导致荷载大幅增加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606040"/>
            <a:ext cx="8229600" cy="73152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【主要教训】违规建设、监管缺失、排查整治不力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31/&lt;pptx.text.text._Paragraph object at 0x10c160230&gt;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案例四：北京丰台长峰医院火灾事故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73152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【事故概况】2023年4月18日，北京长峰医院住院部发生火灾，29人死亡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828800"/>
            <a:ext cx="8229600" cy="73152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【直接原因】施工作业产生火花引燃涂料挥发物，形成爆燃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606040"/>
            <a:ext cx="8229600" cy="73152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【主要教训】动火作业安全管理缺失、消防设施故障、应急疏散不力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32/&lt;pptx.text.text._Paragraph object at 0x10c160b90&gt;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案例五：广东梅大高速塌方灾害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73152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【事故概况】2024年5月1日，梅大高速茶阳段塌方灾害，48人死亡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828800"/>
            <a:ext cx="8229600" cy="73152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【直接原因】连续强降雨导致路基边坡失稳，发生滑坡塌方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606040"/>
            <a:ext cx="8229600" cy="73152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【主要教训】地质风险评估不足、监测预警不完善、应急管控不及时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33/&lt;pptx.text.text._Paragraph object at 0x10c160d70&gt;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事故共性教训（一）——主体责任不落实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▸ 企业安全意识淡薄，安全投入严重不足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830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▸ 主要负责人安全职责履行不到位，重生产轻安全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4688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▸ 安全管理机构不健全，安全制度不落实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35/&lt;pptx.text.text._Paragraph object at 0x10c162330&gt;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事故共性教训（二）——隐患排查治理不深入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▸ 隐患排查走形式、搞过场，发现不了问题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830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▸ 重大隐患视而不见，长期得不到治理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4688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▸ 双重预防机制流于形式，运行不到位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36/&lt;pptx.text.text._Paragraph object at 0x10c162870&gt;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第二部分小结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37160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✓ 企业层面：投入不足、管理不严、培训不够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2029967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✓ 管理层面：责任衰减、执法不严、考核不明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688335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✓ 员工层面：意识淡薄、技能不足、不愿报告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346703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✓ 外部环境：基础薄弱、监管不足、氛围不浓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4005071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✓ 事故教训：主体责任不落实是根本原因！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37/&lt;pptx.text.text._Paragraph object at 0x10c162450&gt;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第三部分</a:t>
            </a:r>
            <a:br/>
            <a:r>
              <a:t>PART 0三</a:t>
            </a:r>
          </a:p>
          <a:p>
            <a:pPr algn="ctr">
              <a:defRPr sz="3600" b="1">
                <a:solidFill>
                  <a:srgbClr val="FFFFFF"/>
                </a:solidFill>
              </a:defRPr>
            </a:pPr>
            <a:r>
              <a:t>提升领导力带动企业落实责任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38/&lt;pptx.text.text._Paragraph object at 0x10c162b10&gt;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三、提升领导力带动企业落实责任概述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06450"/>
                </a:solidFill>
              </a:rPr>
              <a:t>（一）</a:t>
            </a:r>
            <a:r>
              <a:rPr sz="1600" b="1">
                <a:solidFill>
                  <a:srgbClr val="333333"/>
                </a:solidFill>
              </a:rPr>
              <a:t>领导者安全角色认知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920240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06450"/>
                </a:solidFill>
              </a:rPr>
              <a:t>（二）</a:t>
            </a:r>
            <a:r>
              <a:rPr sz="1600" b="1">
                <a:solidFill>
                  <a:srgbClr val="333333"/>
                </a:solidFill>
              </a:rPr>
              <a:t>领导者安全行为规范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743200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06450"/>
                </a:solidFill>
              </a:rPr>
              <a:t>（三）</a:t>
            </a:r>
            <a:r>
              <a:rPr sz="1600" b="1">
                <a:solidFill>
                  <a:srgbClr val="333333"/>
                </a:solidFill>
              </a:rPr>
              <a:t>安全领导力提升路径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566160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06450"/>
                </a:solidFill>
              </a:rPr>
              <a:t>（四）</a:t>
            </a:r>
            <a:r>
              <a:rPr sz="1600" b="1">
                <a:solidFill>
                  <a:srgbClr val="333333"/>
                </a:solidFill>
              </a:rPr>
              <a:t>安全文化建设推动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39/&lt;pptx.text.text._Paragraph object at 0x10be965d0&gt;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（一）领导者安全角色认知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1188720" cy="50292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决策者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170432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将安全纳入企业战略规划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1828800"/>
            <a:ext cx="1188720" cy="50292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践行者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901952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以身作则遵守安全规定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2560320"/>
            <a:ext cx="1188720" cy="50292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推动者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633472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持续推进安全文化建设</a:t>
            </a:r>
          </a:p>
        </p:txBody>
      </p:sp>
      <p:sp>
        <p:nvSpPr>
          <p:cNvPr id="10" name="Regular Pentagon 9"/>
          <p:cNvSpPr/>
          <p:nvPr/>
        </p:nvSpPr>
        <p:spPr>
          <a:xfrm>
            <a:off x="457200" y="3291839"/>
            <a:ext cx="1188720" cy="50292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监督者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364991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督促安全责任落实</a:t>
            </a:r>
          </a:p>
        </p:txBody>
      </p:sp>
      <p:sp>
        <p:nvSpPr>
          <p:cNvPr id="12" name="Regular Pentagon 11"/>
          <p:cNvSpPr/>
          <p:nvPr/>
        </p:nvSpPr>
        <p:spPr>
          <a:xfrm>
            <a:off x="457200" y="5760720"/>
            <a:ext cx="8229600" cy="914400"/>
          </a:xfrm>
          <a:prstGeom prst="pentagon">
            <a:avLst/>
          </a:prstGeom>
          <a:solidFill>
            <a:srgbClr val="FFF5F5"/>
          </a:solidFill>
          <a:ln w="25400">
            <a:solidFill>
              <a:srgbClr val="00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006450"/>
                </a:solidFill>
              </a:defRPr>
            </a:pPr>
            <a:r>
              <a:t>领导重视是抓好安全生产工作的关键！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40/&lt;pptx.text.text._Paragraph object at 0x10c164d70&gt;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（一）领导者角色认知——走动管理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【核心要点】每天至少一次深入现场检查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3736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【关注重点】人员状态、设备设施、作业环境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77439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【发现问题】及时记录，建立台账，督促整改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01752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【沟通交流】与员工沟通安全话题，听取意见建议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65760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【示范引领】营造高层重视安全的氛围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41/&lt;pptx.text.text._Paragraph object at 0x10c165430&gt;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（二）领导者安全行为规范（一）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1. 亲自研究部署安全工作，定期召开安全会议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3736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2. 定期带队检查安全生产，深入现场发现问题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77439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3. 带头参加安全教育培训，提升自身安全素养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01752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4. 及时研究解决安全问题，整改隐患不过夜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42/&lt;pptx.text.text._Paragraph object at 0x10c1650d0&gt;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（二）领导者安全行为规范（二）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5. 建立健全安全考核机制，奖惩分明促落实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3736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6. 公开表彰安全先进典型，营造良好安全氛围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77439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7. 发生事故第一时间赶赴现场，指挥应急处置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01752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8. 主动接受职工代表大会监督，报告安全工作情况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5760720"/>
            <a:ext cx="8229600" cy="914400"/>
          </a:xfrm>
          <a:prstGeom prst="pentagon">
            <a:avLst/>
          </a:prstGeom>
          <a:solidFill>
            <a:srgbClr val="FFF5F5"/>
          </a:solidFill>
          <a:ln w="2540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B43232"/>
                </a:solidFill>
              </a:defRPr>
            </a:pPr>
            <a:r>
              <a:t>领导者是安全生产的第一责任人，必须以上率下！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43/&lt;pptx.text.text._Paragraph object at 0x10c1666f0&gt;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（二）安全决策原则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【安全优先原则】安全与效率冲突时，安全优先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3736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【预防优先原则】事前投入大于事后代价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77439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【综合治理原则】多措并举、系统推进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01752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【科学决策原则】重大决策必须安全论证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65760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【责任追究原则】发生事故必须严肃追责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44/&lt;pptx.text.text._Paragraph object at 0x10c1669f0&gt;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（三）安全领导力提升路径（一）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1371600" cy="50292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理念先行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170432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树立"安全第一"理念，形成安全文化认同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1828800"/>
            <a:ext cx="1371600" cy="50292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制度保障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901952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完善安全责任体系，明确各层各级职责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2743200"/>
            <a:ext cx="8229600" cy="50292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▸ 将安全纳入企业战略规划</a:t>
            </a:r>
          </a:p>
        </p:txBody>
      </p:sp>
      <p:sp>
        <p:nvSpPr>
          <p:cNvPr id="9" name="Regular Pentagon 8"/>
          <p:cNvSpPr/>
          <p:nvPr/>
        </p:nvSpPr>
        <p:spPr>
          <a:xfrm>
            <a:off x="457200" y="3291840"/>
            <a:ext cx="8229600" cy="50292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▸ 建立全员安全责任体系</a:t>
            </a:r>
          </a:p>
        </p:txBody>
      </p:sp>
      <p:sp>
        <p:nvSpPr>
          <p:cNvPr id="10" name="Regular Pentagon 9"/>
          <p:cNvSpPr/>
          <p:nvPr/>
        </p:nvSpPr>
        <p:spPr>
          <a:xfrm>
            <a:off x="457200" y="3840480"/>
            <a:ext cx="8229600" cy="50292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▸ 完善安全管理制度流程</a:t>
            </a:r>
          </a:p>
        </p:txBody>
      </p:sp>
      <p:sp>
        <p:nvSpPr>
          <p:cNvPr id="11" name="Regular Pentagon 10"/>
          <p:cNvSpPr/>
          <p:nvPr/>
        </p:nvSpPr>
        <p:spPr>
          <a:xfrm>
            <a:off x="457200" y="4389120"/>
            <a:ext cx="8229600" cy="50292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▸ 健全安全考核奖惩机制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45/&lt;pptx.text.text._Paragraph object at 0x10c166510&gt;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（三）安全领导力提升路径（二）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1371600" cy="50292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能力提升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170432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加强安全培训学习，提高安全管理水平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1828800"/>
            <a:ext cx="1371600" cy="50292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行为示范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901952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领导以身作则，带动全员安全行为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2743200"/>
            <a:ext cx="8229600" cy="50292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▸ 参加安全管理培训，提升专业能力</a:t>
            </a:r>
          </a:p>
        </p:txBody>
      </p:sp>
      <p:sp>
        <p:nvSpPr>
          <p:cNvPr id="9" name="Regular Pentagon 8"/>
          <p:cNvSpPr/>
          <p:nvPr/>
        </p:nvSpPr>
        <p:spPr>
          <a:xfrm>
            <a:off x="457200" y="3291840"/>
            <a:ext cx="8229600" cy="50292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▸ 学习先进企业经验，拓展视野</a:t>
            </a:r>
          </a:p>
        </p:txBody>
      </p:sp>
      <p:sp>
        <p:nvSpPr>
          <p:cNvPr id="10" name="Regular Pentagon 9"/>
          <p:cNvSpPr/>
          <p:nvPr/>
        </p:nvSpPr>
        <p:spPr>
          <a:xfrm>
            <a:off x="457200" y="3840480"/>
            <a:ext cx="8229600" cy="50292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▸ 领导带头遵守安全规定</a:t>
            </a:r>
          </a:p>
        </p:txBody>
      </p:sp>
      <p:sp>
        <p:nvSpPr>
          <p:cNvPr id="11" name="Regular Pentagon 10"/>
          <p:cNvSpPr/>
          <p:nvPr/>
        </p:nvSpPr>
        <p:spPr>
          <a:xfrm>
            <a:off x="457200" y="4389120"/>
            <a:ext cx="8229600" cy="50292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▸ 领导带头参与安全活动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46/&lt;pptx.text.text._Paragraph object at 0x10c167fb0&gt;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（三）安全领导力提升路径（三）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1371600" cy="50292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持续改进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170432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定期评估反馈，不断优化安全管理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011680"/>
            <a:ext cx="8229600" cy="50292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▸ 定期开展安全绩效评估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560320"/>
            <a:ext cx="8229600" cy="50292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▸ 分析安全形势，查找薄弱环节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108960"/>
            <a:ext cx="8229600" cy="50292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▸ 学习借鉴先进经验</a:t>
            </a:r>
          </a:p>
        </p:txBody>
      </p:sp>
      <p:sp>
        <p:nvSpPr>
          <p:cNvPr id="9" name="Regular Pentagon 8"/>
          <p:cNvSpPr/>
          <p:nvPr/>
        </p:nvSpPr>
        <p:spPr>
          <a:xfrm>
            <a:off x="457200" y="3657600"/>
            <a:ext cx="8229600" cy="50292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▸ 持续改进安全工作</a:t>
            </a:r>
          </a:p>
        </p:txBody>
      </p:sp>
      <p:sp>
        <p:nvSpPr>
          <p:cNvPr id="10" name="Regular Pentagon 9"/>
          <p:cNvSpPr/>
          <p:nvPr/>
        </p:nvSpPr>
        <p:spPr>
          <a:xfrm>
            <a:off x="457200" y="5760720"/>
            <a:ext cx="8229600" cy="914400"/>
          </a:xfrm>
          <a:prstGeom prst="pentagon">
            <a:avLst/>
          </a:prstGeom>
          <a:solidFill>
            <a:srgbClr val="FFF5F5"/>
          </a:solidFill>
          <a:ln w="25400">
            <a:solidFill>
              <a:srgbClr val="00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006450"/>
                </a:solidFill>
              </a:defRPr>
            </a:pPr>
            <a:r>
              <a:t>安全领导力提升是长期过程，需要持续学习和实践！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47/&lt;pptx.text.text._Paragraph object at 0x10c1746b0&gt;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（三）安全领导力提升路径——小结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371600"/>
            <a:ext cx="8229600" cy="594360"/>
          </a:xfrm>
          <a:prstGeom prst="pentagon">
            <a:avLst/>
          </a:prstGeom>
          <a:solidFill>
            <a:srgbClr val="1E3C7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▸ 理念先行：树立安全第一思想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2029967"/>
            <a:ext cx="8229600" cy="594360"/>
          </a:xfrm>
          <a:prstGeom prst="pentagon">
            <a:avLst/>
          </a:prstGeom>
          <a:solidFill>
            <a:srgbClr val="1E3C7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▸ 制度保障：完善责任体系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688335"/>
            <a:ext cx="8229600" cy="594360"/>
          </a:xfrm>
          <a:prstGeom prst="pentagon">
            <a:avLst/>
          </a:prstGeom>
          <a:solidFill>
            <a:srgbClr val="1E3C7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▸ 能力提升：加强培训学习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346703"/>
            <a:ext cx="8229600" cy="594360"/>
          </a:xfrm>
          <a:prstGeom prst="pentagon">
            <a:avLst/>
          </a:prstGeom>
          <a:solidFill>
            <a:srgbClr val="1E3C7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▸ 行为示范：领导以身作则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4005071"/>
            <a:ext cx="8229600" cy="594360"/>
          </a:xfrm>
          <a:prstGeom prst="pentagon">
            <a:avLst/>
          </a:prstGeom>
          <a:solidFill>
            <a:srgbClr val="1E3C7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▸ 持续改进：不断优化提升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48/&lt;pptx.text.text._Paragraph object at 0x10c175cd0&gt;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（四）安全文化建设推动（一）——核心理念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6450"/>
                </a:solidFill>
              </a:rPr>
              <a:t>安全愿景：</a:t>
            </a:r>
            <a:r>
              <a:rPr sz="1400">
                <a:solidFill>
                  <a:srgbClr val="333333"/>
                </a:solidFill>
              </a:rPr>
              <a:t>零事故、零伤害、零污染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810512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6450"/>
                </a:solidFill>
              </a:rPr>
              <a:t>安全使命：</a:t>
            </a:r>
            <a:r>
              <a:rPr sz="1400">
                <a:solidFill>
                  <a:srgbClr val="333333"/>
                </a:solidFill>
              </a:rPr>
              <a:t>保障员工生命安全，守护企业健康发展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523744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6450"/>
                </a:solidFill>
              </a:rPr>
              <a:t>安全价值观：</a:t>
            </a:r>
            <a:r>
              <a:rPr sz="1400">
                <a:solidFill>
                  <a:srgbClr val="333333"/>
                </a:solidFill>
              </a:rPr>
              <a:t>安全是最大的效益，安全是最好的业绩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236976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6450"/>
                </a:solidFill>
              </a:rPr>
              <a:t>安全行为准则：</a:t>
            </a:r>
            <a:r>
              <a:rPr sz="1400">
                <a:solidFill>
                  <a:srgbClr val="333333"/>
                </a:solidFill>
              </a:rPr>
              <a:t>遵章守纪、按章操作、拒绝违章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5760720"/>
            <a:ext cx="8229600" cy="914400"/>
          </a:xfrm>
          <a:prstGeom prst="pentagon">
            <a:avLst/>
          </a:prstGeom>
          <a:solidFill>
            <a:srgbClr val="FFF5F5"/>
          </a:solidFill>
          <a:ln w="25400">
            <a:solidFill>
              <a:srgbClr val="00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006450"/>
                </a:solidFill>
              </a:defRPr>
            </a:pPr>
            <a:r>
              <a:t>文化管人管灵魂，制度管人管行为！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49/&lt;pptx.text.text._Paragraph object at 0x10c1756d0&gt;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（四）安全文化建设推动（二）——安全标准化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5029200" cy="45720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【创建要求】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554480"/>
            <a:ext cx="5029200" cy="457200"/>
          </a:xfrm>
          <a:prstGeom prst="pentagon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▸ 建立并保持安全生产管理体系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057400"/>
            <a:ext cx="5029200" cy="457200"/>
          </a:xfrm>
          <a:prstGeom prst="pentagon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▸ 涵盖安全生产所有相关要素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560320"/>
            <a:ext cx="5029200" cy="457200"/>
          </a:xfrm>
          <a:prstGeom prst="pentagon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▸ 实现岗位达标、专业达标、企业达标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200399"/>
            <a:ext cx="5029200" cy="45720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【评审等级】</a:t>
            </a:r>
          </a:p>
        </p:txBody>
      </p:sp>
      <p:sp>
        <p:nvSpPr>
          <p:cNvPr id="9" name="Regular Pentagon 8"/>
          <p:cNvSpPr/>
          <p:nvPr/>
        </p:nvSpPr>
        <p:spPr>
          <a:xfrm>
            <a:off x="457200" y="3703320"/>
            <a:ext cx="5029200" cy="457200"/>
          </a:xfrm>
          <a:prstGeom prst="pentagon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▸ 一级：国家评审（评分≥90）</a:t>
            </a:r>
          </a:p>
        </p:txBody>
      </p:sp>
      <p:sp>
        <p:nvSpPr>
          <p:cNvPr id="10" name="Regular Pentagon 9"/>
          <p:cNvSpPr/>
          <p:nvPr/>
        </p:nvSpPr>
        <p:spPr>
          <a:xfrm>
            <a:off x="457200" y="4206240"/>
            <a:ext cx="5029200" cy="457200"/>
          </a:xfrm>
          <a:prstGeom prst="pentagon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▸ 二级：省级评审（评分≥75）</a:t>
            </a:r>
          </a:p>
        </p:txBody>
      </p:sp>
      <p:sp>
        <p:nvSpPr>
          <p:cNvPr id="11" name="Regular Pentagon 10"/>
          <p:cNvSpPr/>
          <p:nvPr/>
        </p:nvSpPr>
        <p:spPr>
          <a:xfrm>
            <a:off x="457200" y="4709159"/>
            <a:ext cx="5029200" cy="457200"/>
          </a:xfrm>
          <a:prstGeom prst="pentagon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▸ 三级：市县级评审（评分≥60）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50/&lt;pptx.text.text._Paragraph object at 0x10c180ad0&gt;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（四）安全文化建设推动（三）——安全生产责任体系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【横向到边】各职能部门各司其职、齐抓共管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3736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【纵向到底】层层分解，责任到人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77439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【网格化管理】不留死角、不留空白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51/&lt;pptx.text.text._Paragraph object at 0x10c1813d0&gt;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（四）安全文化建设推动（四）——杜邦安全理念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4572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1. 所有安全事故都可以预防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554480"/>
            <a:ext cx="8229600" cy="4572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2. 各级管理层对安全负有直接责任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057400"/>
            <a:ext cx="8229600" cy="4572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3. 各级管理者必须亲自检查安全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560320"/>
            <a:ext cx="8229600" cy="4572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4. 员工必须接受严格的安全培训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063239"/>
            <a:ext cx="8229600" cy="4572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5. 安全是聘用的条件之一</a:t>
            </a:r>
          </a:p>
        </p:txBody>
      </p:sp>
      <p:sp>
        <p:nvSpPr>
          <p:cNvPr id="9" name="Regular Pentagon 8"/>
          <p:cNvSpPr/>
          <p:nvPr/>
        </p:nvSpPr>
        <p:spPr>
          <a:xfrm>
            <a:off x="457200" y="3566159"/>
            <a:ext cx="8229600" cy="4572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6. 员工必须参与安全事务</a:t>
            </a:r>
          </a:p>
        </p:txBody>
      </p:sp>
      <p:sp>
        <p:nvSpPr>
          <p:cNvPr id="10" name="Regular Pentagon 9"/>
          <p:cNvSpPr/>
          <p:nvPr/>
        </p:nvSpPr>
        <p:spPr>
          <a:xfrm>
            <a:off x="457200" y="4069079"/>
            <a:ext cx="8229600" cy="4572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7. 隐患必须及时整改</a:t>
            </a:r>
          </a:p>
        </p:txBody>
      </p:sp>
      <p:sp>
        <p:nvSpPr>
          <p:cNvPr id="11" name="Regular Pentagon 10"/>
          <p:cNvSpPr/>
          <p:nvPr/>
        </p:nvSpPr>
        <p:spPr>
          <a:xfrm>
            <a:off x="457200" y="4571999"/>
            <a:ext cx="8229600" cy="4572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8. 工作外的安全与工作内安全同样重要</a:t>
            </a:r>
          </a:p>
        </p:txBody>
      </p:sp>
      <p:sp>
        <p:nvSpPr>
          <p:cNvPr id="12" name="Regular Pentagon 11"/>
          <p:cNvSpPr/>
          <p:nvPr/>
        </p:nvSpPr>
        <p:spPr>
          <a:xfrm>
            <a:off x="457200" y="5074919"/>
            <a:ext cx="8229600" cy="4572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9. 安全是衡量管理业绩的标准</a:t>
            </a:r>
          </a:p>
        </p:txBody>
      </p:sp>
      <p:sp>
        <p:nvSpPr>
          <p:cNvPr id="13" name="Regular Pentagon 12"/>
          <p:cNvSpPr/>
          <p:nvPr/>
        </p:nvSpPr>
        <p:spPr>
          <a:xfrm>
            <a:off x="457200" y="5577839"/>
            <a:ext cx="8229600" cy="4572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10. 良好的安全创造良好的业绩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52/&lt;pptx.text.text._Paragraph object at 0x10c181910&gt;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（四）安全文化建设推动（五）——班组安全管理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【班组安全核心】班前安全喊话、班中安全互保、班后安全总结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3736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【安全员职责】检查现场安全状态、纠正违章作业行为、报告安全隐患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77439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【互保联保】互相监督、互相提醒、互相保护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5760720"/>
            <a:ext cx="8229600" cy="914400"/>
          </a:xfrm>
          <a:prstGeom prst="pentagon">
            <a:avLst/>
          </a:prstGeom>
          <a:solidFill>
            <a:srgbClr val="FFF5F5"/>
          </a:solidFill>
          <a:ln w="2540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B43232"/>
                </a:solidFill>
              </a:defRPr>
            </a:pPr>
            <a:r>
              <a:t>班组是安全生产的第一道防线！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53/&lt;pptx.text.text._Paragraph object at 0x10c182750&gt;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（四）安全文化建设推动（六）——2024安全生产月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1371600" y="1371600"/>
            <a:ext cx="6400800" cy="1188720"/>
          </a:xfrm>
          <a:prstGeom prst="pentagon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"人人讲安全、个个会应急"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914400" y="2743200"/>
            <a:ext cx="7315200" cy="50292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▸ 强化安全发展理念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914400" y="3337560"/>
            <a:ext cx="7315200" cy="50292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▸ 普及安全知识技能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914400" y="3931920"/>
            <a:ext cx="7315200" cy="50292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▸ 提升应急处置能力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914400" y="4526280"/>
            <a:ext cx="7315200" cy="50292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▸ 营造浓厚安全氛围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54/&lt;pptx.text.text._Paragraph object at 0x10c1831d0&gt;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安全风险管控技术（一）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【安全评价技术】安全预评价、安全验收评价、安全现状评价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09928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【危险有害因素辨识】人的因素、物的因素、环境因素、管理因素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68296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【风险评估方法】SCL、JHA、FTA、HAZOP等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55/&lt;pptx.text.text._Paragraph object at 0x10c1824b0&gt;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安全风险管控技术（二）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【隐患分类】一般隐患与重大隐患分级管理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09928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【隐患排查方法】日常巡检、专项检查、综合检查、专家检查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68296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【闭环管理流程】发现 → 报告 → 评估 → 整改 → 验收 → 销号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56/&lt;pptx.text.text._Paragraph object at 0x10c183fb0&gt;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安全监测监控技术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【视频监控系统】24小时实时监控，重点区域全覆盖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09928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【气体监测系统】实时监测有毒有害气体浓度，超限报警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68296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【人员定位系统】掌握人员位置，实现智能考勤和应急救援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57/&lt;pptx.text.text._Paragraph object at 0x10c183e90&gt;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智慧安全技术应用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【物联网技术】设备互联互通，数据实时采集传输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09928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【大数据分析】海量数据分析挖掘，精准发现问题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68296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【人工智能】AI智能识别隐患，自动预警提醒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58/&lt;pptx.text.text._Paragraph object at 0x10c183e90&gt;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应急管理体系建设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【应急预案体系】综合预案、专项预案、现场处置方案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09928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【应急救援队伍】专职救援队、兼职救援队、志愿者队伍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68296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【应急演练】计划制定、实战演练、总结评估、持续改进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59/&lt;pptx.text.text._Paragraph object at 0x10c1848f0&gt;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安全培训教育体系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【三级安全教育】厂级教育 → 车间教育 → 班组教育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09928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【培训内容】安全法律法规、安全管理制度、操作规程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68296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【培训方式】集中授课、实操演练、案例分析、在线学习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60/&lt;pptx.text.text._Paragraph object at 0x10c1852b0&gt;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特种设备安全管理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【特种设备范围】锅炉、压力容器、压力管道、电梯、起重机械等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09928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【管理要求】办理使用登记、定期检验检测、配备作业人员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68296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【日常管理】日常维护保养、定期自行检查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61/&lt;pptx.text.text._Paragraph object at 0x10c185970&gt;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危险化学品安全管理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【危化品管理重点】实施目录管理、规范储存管理、严格作业审批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09928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【储存管理】分类储存、防火防爆、温湿度控制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68296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【作业管理】动火作业、有限空间作业等必须执行作业许可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62/&lt;pptx.text.text._Paragraph object at 0x10c185eb0&gt;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建筑施工安全管理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【事故类型】高处坠落52%、物体打击15%、坍塌10%、机械伤害9%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09928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【预防措施】严格落实施工安全措施费、强化特种作业人员管理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68296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【重点领域】基坑支护、脚手架搭设、临时用电、施工升降机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63/&lt;pptx.text.text._Paragraph object at 0x10c1863f0&gt;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应急处置程序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5156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【第一时间】启动应急响应，组织人员疏散撤离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09928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【第二时间】报告事故情况，拨打119/120/110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68296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【第三时间】组织先期处置，控制事态发展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026663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【第四时间】配合救援调查，分析事故原因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64/&lt;pptx.text.text._Paragraph object at 0x10c1859d0&gt;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培训总结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▸ 安全生产必须警钟长鸣、常抓不懈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55648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▸ 落实主体责任是安全生产的根本保障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414015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▸ 隐患排查治理是防范事故的关键抓手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072383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▸ 应急能力建设是减少损失的重要手段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730751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▸ 安全文化建设是长治久安的根本途径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65/&lt;pptx.text.text._Paragraph object at 0x10c184a10&gt;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下一步工作要求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1. 深入开展安全隐患大排查大整治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55648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2. 全面推进安全生产标准化建设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414015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3. 切实加强应急能力建设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072383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4. 持续强化安全培训和宣传教育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730751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5. 加快安全管理信息化建设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66/&lt;pptx.text.text._Paragraph object at 0x10c185550&gt;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庄严承诺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严格遵守安全生产法律法规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55648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认真落实安全生产主体责任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414015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扎实开展安全隐患排查治理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072383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不断提升安全管理能力和水平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730751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切实保障员工生命安全和身体健康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67/&lt;pptx.text.text._Paragraph object at 0x10c186ab0&gt;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安全寄语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914400" y="1828800"/>
            <a:ext cx="7315200" cy="18288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i="1">
                <a:solidFill>
                  <a:srgbClr val="006450"/>
                </a:solidFill>
              </a:defRPr>
            </a:pPr>
            <a:r>
              <a:t>安全生产只有起点，没有终点；只有逗号，没有句号。让我们共同努力，守护安全，共创美好未来！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68/&lt;pptx.text.text._Paragraph object at 0x10c180a70&gt;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感谢各位领导和同事的积极参与！</a:t>
            </a:r>
          </a:p>
          <a:p>
            <a:pPr algn="ctr">
              <a:defRPr sz="2800">
                <a:solidFill>
                  <a:srgbClr val="4682B4"/>
                </a:solidFill>
              </a:defRPr>
            </a:pPr>
            <a:r>
              <a:t>安全生产，人人有责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让我们共同守护安全，共享美好生活！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69/&lt;pptx.text.text._Paragraph object at 0x10c184c50&gt;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附页 1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914400" y="2743200"/>
            <a:ext cx="7315200" cy="18288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3C72"/>
                </a:solidFill>
              </a:defRPr>
            </a:pPr>
            <a:r>
              <a:t>第1页备用内容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70/&lt;pptx.text.text._Paragraph object at 0x10c187fb0&gt;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附页 2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914400" y="2743200"/>
            <a:ext cx="7315200" cy="18288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3C72"/>
                </a:solidFill>
              </a:defRPr>
            </a:pPr>
            <a:r>
              <a:t>第2页备用内容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71/&lt;pptx.text.text._Paragraph object at 0x10c185a90&gt;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附页 3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914400" y="2743200"/>
            <a:ext cx="7315200" cy="18288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3C72"/>
                </a:solidFill>
              </a:defRPr>
            </a:pPr>
            <a:r>
              <a:t>第3页备用内容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72/&lt;pptx.text.text._Paragraph object at 0x10c194bf0&gt;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附页 4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914400" y="2743200"/>
            <a:ext cx="7315200" cy="18288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3C72"/>
                </a:solidFill>
              </a:defRPr>
            </a:pPr>
            <a:r>
              <a:t>第4页备用内容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73/&lt;pptx.text.text._Paragraph object at 0x10c1954f0&gt;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附页 5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914400" y="2743200"/>
            <a:ext cx="7315200" cy="18288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3C72"/>
                </a:solidFill>
              </a:defRPr>
            </a:pPr>
            <a:r>
              <a:t>第5页备用内容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74/&lt;pptx.text.text._Paragraph object at 0x10c195df0&gt;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附页 6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914400" y="2743200"/>
            <a:ext cx="7315200" cy="18288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3C72"/>
                </a:solidFill>
              </a:defRPr>
            </a:pPr>
            <a:r>
              <a:t>第6页备用内容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75/&lt;pptx.text.text._Paragraph object at 0x10c196630&gt;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附页 7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914400" y="2743200"/>
            <a:ext cx="7315200" cy="18288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3C72"/>
                </a:solidFill>
              </a:defRPr>
            </a:pPr>
            <a:r>
              <a:t>第7页备用内容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76/&lt;pptx.text.text._Paragraph object at 0x10c196b70&gt;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附页 8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914400" y="2743200"/>
            <a:ext cx="7315200" cy="18288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3C72"/>
                </a:solidFill>
              </a:defRPr>
            </a:pPr>
            <a:r>
              <a:t>第8页备用内容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77/&lt;pptx.text.text._Paragraph object at 0x10c1970b0&gt;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附页 9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914400" y="2743200"/>
            <a:ext cx="7315200" cy="18288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3C72"/>
                </a:solidFill>
              </a:defRPr>
            </a:pPr>
            <a:r>
              <a:t>第9页备用内容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78/&lt;pptx.text.text._Paragraph object at 0x10c197650&gt;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附页 10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914400" y="2743200"/>
            <a:ext cx="7315200" cy="18288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3C72"/>
                </a:solidFill>
              </a:defRPr>
            </a:pPr>
            <a:r>
              <a:t>第10页备用内容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79/&lt;pptx.text.text._Paragraph object at 0x10c197bf0&gt;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附页 11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914400" y="2743200"/>
            <a:ext cx="7315200" cy="18288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3C72"/>
                </a:solidFill>
              </a:defRPr>
            </a:pPr>
            <a:r>
              <a:t>第11页备用内容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80/&lt;pptx.text.text._Paragraph object at 0x10c196270&gt;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