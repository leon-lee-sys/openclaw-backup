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全面落实安全生产主体责任</a:t>
            </a:r>
          </a:p>
          <a:p>
            <a:pPr algn="ctr">
              <a:defRPr sz="3200" b="1">
                <a:solidFill>
                  <a:srgbClr val="4682B4"/>
                </a:solidFill>
              </a:defRPr>
            </a:pPr>
            <a:r>
              <a:t>有力保障企业高质量发展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108960"/>
            <a:ext cx="3657600" cy="50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1E3C72"/>
                </a:solidFill>
              </a:defRPr>
            </a:pPr>
            <a:r>
              <a:t>—— 企业安全生产主体责任落实专题培训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2026年4月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1/80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目 录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188720"/>
            <a:ext cx="640080" cy="640080"/>
          </a:xfrm>
          <a:prstGeom prst="ellipse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2801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落实企业安全生产主体责任的重要性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945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主要存在问题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017520"/>
            <a:ext cx="640080" cy="640080"/>
          </a:xfrm>
          <a:prstGeom prst="ellipse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1089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提升领导力带动企业落实责任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2/80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培训背景与目的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188720"/>
            <a:ext cx="457200" cy="45720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6187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安全生产是企业发展的生命线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1874519"/>
            <a:ext cx="457200" cy="45720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4767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落实主体责任是安全生产的根本保障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2560320"/>
            <a:ext cx="457200" cy="45720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3347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近年来安全生产形势依然严峻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3246120"/>
            <a:ext cx="457200" cy="45720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1927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需要各级领导和员工共同参与</a:t>
            </a:r>
          </a:p>
        </p:txBody>
      </p:sp>
      <p:sp>
        <p:nvSpPr>
          <p:cNvPr id="12" name="Regular Pentagon 11"/>
          <p:cNvSpPr/>
          <p:nvPr/>
        </p:nvSpPr>
        <p:spPr>
          <a:xfrm>
            <a:off x="457200" y="3931920"/>
            <a:ext cx="457200" cy="45720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0507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通过培训提升全员安全意识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3/80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习近平总书记关于安全生产重要论述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8686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1E3C72"/>
                </a:solidFill>
              </a:defRPr>
            </a:pPr>
            <a:r>
              <a:t>"人命关天，发展决不能以牺牲人的生命为代价。"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2011680"/>
            <a:ext cx="8229600" cy="8686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1E3C72"/>
                </a:solidFill>
              </a:defRPr>
            </a:pPr>
            <a:r>
              <a:t>"安全生产必须警钟长鸣、常抓不懈。"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971800"/>
            <a:ext cx="8229600" cy="8686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1E3C72"/>
                </a:solidFill>
              </a:defRPr>
            </a:pPr>
            <a:r>
              <a:t>"落实安全生产责任制，要落实行业主管部门直接监管、安全监管部门综合监管、地方政府属地监管。"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931920"/>
            <a:ext cx="8229600" cy="8686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1E3C72"/>
                </a:solidFill>
              </a:defRPr>
            </a:pPr>
            <a:r>
              <a:t>"要抓紧建立健全安全生产责任体系。"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安全生产是必须守住的底线，不可逾越的红线！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4/80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重要指示批示核心要点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43232"/>
                </a:solidFill>
              </a:rPr>
              <a:t>【红线意识】</a:t>
            </a:r>
            <a:r>
              <a:rPr sz="1200">
                <a:solidFill>
                  <a:srgbClr val="333333"/>
                </a:solidFill>
              </a:rPr>
              <a:t>发展绝不能以牺牲安全为代价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64792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43232"/>
                </a:solidFill>
              </a:rPr>
              <a:t>【两个至上】</a:t>
            </a:r>
            <a:r>
              <a:rPr sz="1200">
                <a:solidFill>
                  <a:srgbClr val="333333"/>
                </a:solidFill>
              </a:rPr>
              <a:t>人民至上，生命至上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78024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43232"/>
                </a:solidFill>
              </a:rPr>
              <a:t>【两个根本】</a:t>
            </a:r>
            <a:r>
              <a:rPr sz="1200">
                <a:solidFill>
                  <a:srgbClr val="333333"/>
                </a:solidFill>
              </a:rPr>
              <a:t>从根本上消除隐患、从根本上解决问题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191256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43232"/>
                </a:solidFill>
              </a:rPr>
              <a:t>【三管三必须】</a:t>
            </a:r>
            <a:r>
              <a:rPr sz="1200">
                <a:solidFill>
                  <a:srgbClr val="333333"/>
                </a:solidFill>
              </a:rPr>
              <a:t>管行业必须管安全、管业务必须管安全、管生产经营必须管安全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904488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43232"/>
                </a:solidFill>
              </a:rPr>
              <a:t>【四不放过】</a:t>
            </a:r>
            <a:r>
              <a:rPr sz="1200">
                <a:solidFill>
                  <a:srgbClr val="333333"/>
                </a:solidFill>
              </a:rPr>
              <a:t>事故原因不查清不放过，责任人员不处理不放过、整改措施不落实不放过、教训不汲取不放过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5/80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安全生产重大事故警示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64008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2020年福建泉州欣佳酒店"3·7"坍塌事故 — 29人死亡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64792"/>
            <a:ext cx="8229600" cy="64008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2021年湖北十堰燃气爆炸事故 — 25人死亡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78024"/>
            <a:ext cx="8229600" cy="64008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2022年湖南长沙望城区自建房倒塌事故 — 54人死亡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191256"/>
            <a:ext cx="8229600" cy="64008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2023年北京丰台长峰医院火灾 — 29人死亡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904488"/>
            <a:ext cx="8229600" cy="64008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2024年广东梅大高速塌方灾害 — 48人死亡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血的教训——安全绝非小事，责任重于泰山！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6/80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第一部分</a:t>
            </a:r>
            <a:br/>
            <a:r>
              <a:t>PART 0一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落实企业安全生产主体责任的重要性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7/80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一、落实企业安全生产主体责任的重要性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" cy="50292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（一）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143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落实主体责任是法律的基本要求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1874519"/>
            <a:ext cx="822960" cy="50292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（二）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2023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落实主体责任是企业发展的根本保障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2651760"/>
            <a:ext cx="822960" cy="50292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（三）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69747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落实主体责任是员工权益的基本保障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3429000"/>
            <a:ext cx="822960" cy="50292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（四）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落实主体责任是社会和谐的重要基础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8/80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一、落实企业安全生产主体责任的重要性</a:t>
            </a:r>
            <a:br/>
            <a:r>
              <a:t>（一）落实主体责任是法律的基本要求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1. 《安全生产法》明确规定生产经营单位是安全生产责任主体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1907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2. 主要负责人对本单位安全生产工作全面负责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4086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3. 建立健全安全生产责任制是法定义务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962656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4. 未落实主体责任将承担行政、民事、刑事等法律责任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法律是底线，落实主体责任是企业的根本义务！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9/80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一、落实企业安全生产主体责任的重要性</a:t>
            </a:r>
            <a:br/>
            <a:r>
              <a:t>（一）落实主体责任是法律的基本要求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【上位法】《中华人民共和国安全生产法》（2021年修订）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7335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【专门法】《消防法》《危险化学品安全管理条例》等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29514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【行政法规】《生产安全事故应急条例》《安全生产许可证条例》等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916936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【部门规章】《生产安全事故报告和调查处理条例》等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53872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【地方性法规】各省市安全生产条例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10/80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一、落实企业安全生产主体责任的重要性</a:t>
            </a:r>
            <a:br/>
            <a:r>
              <a:t>（一）落实主体责任是法律的基本要求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1234440"/>
            <a:ext cx="7315200" cy="1097280"/>
          </a:xfrm>
          <a:prstGeom prst="pentagon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i="1">
                <a:solidFill>
                  <a:srgbClr val="1E3C72"/>
                </a:solidFill>
              </a:defRPr>
            </a:pPr>
            <a:r>
              <a:t>"生产经营单位是安全生产的责任主体，对本单位的安全生产承担主体责任。"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主体责任包括：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① 建立健全安全生产责任制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② 配备安全生产管理人员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③ 保障安全生产投入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3891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④ 落实安全教育培训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8463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⑤ 强化应急救援体系建设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11/80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一、落实企业安全生产主体责任的重要性</a:t>
            </a:r>
            <a:br/>
            <a:r>
              <a:t>（一）落实主体责任是法律的基本要求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30352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1. 建立、健全本单位安全生产责任制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27631"/>
            <a:ext cx="8229600" cy="530352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2. 组织制定本单位安全生产规章制度和操作规程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203703"/>
            <a:ext cx="8229600" cy="530352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3. 组织制定并实施本单位安全生产教育和培训计划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779775"/>
            <a:ext cx="8229600" cy="530352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4. 保证本单位安全生产投入的有效实施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355847"/>
            <a:ext cx="8229600" cy="530352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5. 督促、检查本单位的安全生产工作，及时消除隐患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3931920"/>
            <a:ext cx="8229600" cy="530352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6. 组织制定并实施本单位的生产安全事故应急救援预案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4507992"/>
            <a:ext cx="8229600" cy="530352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7. 及时、如实报告生产安全事故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12/80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一、落实企业安全生产主体责任的重要性</a:t>
            </a:r>
            <a:br/>
            <a:r>
              <a:t>（二）落实主体责任是企业发展的根本保障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1. 安全生产是企业可持续发展的重要基石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373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2. 事故会给企业带来巨大经济损失和声誉损害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77439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3. 落实主体责任有助于提升企业管理水平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1752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4. 良好的安全业绩是企业核心竞争力的重要组成部分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E3C72"/>
                </a:solidFill>
              </a:defRPr>
            </a:pPr>
            <a:r>
              <a:t>安全是最大的效益，安全出问题一切归零！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13/80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一、落实企业安全生产主体责任的重要性</a:t>
            </a:r>
            <a:br/>
            <a:r>
              <a:t>（二）落实主体责任是企业发展的根本保障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9436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【行政处罚】责令限期改正、罚款、停产停业整顿、吊销证照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09928"/>
            <a:ext cx="8229600" cy="59436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【民事责任】赔偿损失、消除影响、恢复原状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68296"/>
            <a:ext cx="8229600" cy="59436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【刑事责任】重大责任事故罪、重大劳动安全事故罪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26663"/>
            <a:ext cx="8229600" cy="59436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【量刑标准】造成死亡1-3人：3年以下；3人以上：3-7年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法网恢恢，疏而不漏！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14/80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一、落实企业安全生产主体责任的重要性</a:t>
            </a:r>
            <a:br/>
            <a:r>
              <a:t>（三）落实主体责任是员工权益的基本保障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1. 保障员工的生命安全和身体健康是企业的首要责任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373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2. 落实主体责任才能为员工创造安全的工作环境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77439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3. 安全的工作环境有助于提高员工工作积极性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1752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4. 员工安全权益得到保障才能与企业共同发展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00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06450"/>
                </a:solidFill>
              </a:defRPr>
            </a:pPr>
            <a:r>
              <a:t>员工是企业最宝贵的财富，安全是给员工最好的福利！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15/80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一、落实企业安全生产主体责任的重要性</a:t>
            </a:r>
            <a:br/>
            <a:r>
              <a:t>（四）落实主体责任是社会和谐的重要基础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1. 安全生产关系社会稳定与和谐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373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2. 事故会造成人员伤亡和家庭悲剧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77439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3. 企业落实主体责任有助于减轻社会负担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1752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4. 良好的安全生产形势是平安中国建设的重要组成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安全生产，人人有责，家家平安！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16/80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一、落实企业安全生产主体责任的重要性</a:t>
            </a:r>
            <a:br/>
            <a:r>
              <a:t>附：双重预防机制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5029200" cy="45720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【风险分级管控】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554480"/>
            <a:ext cx="50292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① 全面辨识风险 — 确定风险点 — 评估风险等级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057400"/>
            <a:ext cx="50292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② 制定管控措施 — 明确责任人和管控周期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560320"/>
            <a:ext cx="50292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③ 动态更新 — 根据实际情况及时调整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200399"/>
            <a:ext cx="50292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【隐患排查治理】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3703320"/>
            <a:ext cx="50292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① 日常排查 — 班前班后检查 — 专项检查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4206240"/>
            <a:ext cx="50292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② 分级治理 — 班组级/车间级/厂级</a:t>
            </a:r>
          </a:p>
        </p:txBody>
      </p:sp>
      <p:sp>
        <p:nvSpPr>
          <p:cNvPr id="11" name="Regular Pentagon 10"/>
          <p:cNvSpPr/>
          <p:nvPr/>
        </p:nvSpPr>
        <p:spPr>
          <a:xfrm>
            <a:off x="457200" y="4709159"/>
            <a:ext cx="50292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③ 闭环管理 — 整改-验收-销号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17/80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第一部分小结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371600"/>
            <a:ext cx="8229600" cy="548640"/>
          </a:xfrm>
          <a:prstGeom prst="pentagon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（一）落实主体责任是法律的基本要求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2011680"/>
            <a:ext cx="8229600" cy="548640"/>
          </a:xfrm>
          <a:prstGeom prst="pentagon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（二）落实主体责任是企业发展的根本保障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651760"/>
            <a:ext cx="8229600" cy="548640"/>
          </a:xfrm>
          <a:prstGeom prst="pentagon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（三）落实主体责任是员工权益的基本保障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291840"/>
            <a:ext cx="8229600" cy="548640"/>
          </a:xfrm>
          <a:prstGeom prst="pentagon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（四）落实主体责任是社会和谐的重要基础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931920"/>
            <a:ext cx="8229600" cy="548640"/>
          </a:xfrm>
          <a:prstGeom prst="pentagon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附：双重预防机制是落实主体责任的重要抓手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18/80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第二部分</a:t>
            </a:r>
            <a:br/>
            <a:r>
              <a:t>PART 0二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主要存在问题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19/80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二、主要存在问题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43232"/>
                </a:solidFill>
              </a:rPr>
              <a:t>（一）</a:t>
            </a:r>
            <a:r>
              <a:rPr sz="1600" b="1">
                <a:solidFill>
                  <a:srgbClr val="333333"/>
                </a:solidFill>
              </a:rPr>
              <a:t>企业层面存在的问题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874519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43232"/>
                </a:solidFill>
              </a:rPr>
              <a:t>（二）</a:t>
            </a:r>
            <a:r>
              <a:rPr sz="1600" b="1">
                <a:solidFill>
                  <a:srgbClr val="333333"/>
                </a:solidFill>
              </a:rPr>
              <a:t>管理层面的问题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65176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43232"/>
                </a:solidFill>
              </a:rPr>
              <a:t>（三）</a:t>
            </a:r>
            <a:r>
              <a:rPr sz="1600" b="1">
                <a:solidFill>
                  <a:srgbClr val="333333"/>
                </a:solidFill>
              </a:rPr>
              <a:t>员工层面的问题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42900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43232"/>
                </a:solidFill>
              </a:rPr>
              <a:t>（四）</a:t>
            </a:r>
            <a:r>
              <a:rPr sz="1600" b="1">
                <a:solidFill>
                  <a:srgbClr val="333333"/>
                </a:solidFill>
              </a:rPr>
              <a:t>外部环境的问题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420624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43232"/>
                </a:solidFill>
              </a:rPr>
              <a:t>（五）</a:t>
            </a:r>
            <a:r>
              <a:rPr sz="1600" b="1">
                <a:solidFill>
                  <a:srgbClr val="333333"/>
                </a:solidFill>
              </a:rPr>
              <a:t>典型事故案例分析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20/80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二、主要存在问题</a:t>
            </a:r>
            <a:br/>
            <a:r>
              <a:t>（一）企业层面存在的问题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1. 安全投入不足，设施设备老化、落后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7335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2. 安全管理制度不健全，或者有制度不落实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29514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3. 安全教育培训流于形式，走过场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916936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4. 隐患排查治理不深入、不彻底，走形式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21/80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二、主要存在问题</a:t>
            </a:r>
            <a:br/>
            <a:r>
              <a:t>（一）企业层面存在的问题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5. 应急救援预案不完善，或者演练不足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7335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6. 违章指挥、违章作业行为时有发生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29514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7. 新改扩建项目安全设施"三同时"落实不到位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916936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8. 外包工程安全管理主体责任不清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企业是安全生产的内因和根本，必须切实履行主体责任！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22/80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二、主要存在问题</a:t>
            </a:r>
            <a:br/>
            <a:r>
              <a:t>（二）管理层面的问题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1. 安全生产责任制落实不到位，存在层层衰减现象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7335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2. 安全监管执法"宽松软虚"，不敢动真碰硬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29514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3. 安全检查走形式、走过场，发现不了问题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23/80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二、主要存在问题</a:t>
            </a:r>
            <a:br/>
            <a:r>
              <a:t>（二）管理层面的问题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4. 安全考核奖惩机制不完善，赏罚不明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7335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5. 安全信息传达不畅通，基层不知情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29514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6. 安全责任追究不严格，大事化小小事化了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管理是落实主体责任的关键环节，必须敢于动真碰硬！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24/80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二、主要存在问题</a:t>
            </a:r>
            <a:br/>
            <a:r>
              <a:t>（三）员工层面的问题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1. 安全意识淡薄，存在侥幸心理和麻痹思想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7335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2. 安全知识技能不足，不知道如何防范风险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29514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3. 对安全隐患识别能力不强，看不出问题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25/80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二、主要存在问题</a:t>
            </a:r>
            <a:br/>
            <a:r>
              <a:t>（三）员工层面的问题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4. 自我保护意识有待提高，违规行为屡禁不止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7335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5. 应急处置和自救互救能力欠缺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29514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6. 不愿意主动报告安全隐患，怕麻烦、怕考核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员工是安全生产的第一道防线，全员参与才能确保安全！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26/80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二、主要存在问题</a:t>
            </a:r>
            <a:br/>
            <a:r>
              <a:t>（四）外部环境的问题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1. 部分行业产能过剩，安全投入受限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7335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2. 小微企业安全基础薄弱，管理水平低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29514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3. 中介机构安全服务市场不规范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27/80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二、主要存在问题</a:t>
            </a:r>
            <a:br/>
            <a:r>
              <a:t>（四）外部环境的问题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4. 安全监管力量配置不足，监管能力有待提高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7335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5. 社会安全文化建设滞后，安全氛围不够浓厚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29514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6. 安全技术支撑能力有待加强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外部环境是影响因素，内因才是根本，外因通过内因起作用！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28/80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二、主要存在问题</a:t>
            </a:r>
            <a:br/>
            <a:r>
              <a:t>（五）典型事故案例分析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68580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（1）事故概况：2020年3月7日，泉州市鲤城区欣佳酒店发生坍塌，造成29人死亡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83080"/>
            <a:ext cx="8229600" cy="68580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（2）直接原因：违法违规建设施工，原四层钢结构被违规改建为七层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514600"/>
            <a:ext cx="8229600" cy="68580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（3）主要教训：违法违规建设、监管严重缺位、隐患长期存在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29/80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二、主要存在问题</a:t>
            </a:r>
            <a:br/>
            <a:r>
              <a:t>（五）典型事故案例分析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68580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（1）事故概况：2021年6月13日，十堰市张湾区艳湖社区集贸市场发生燃气爆炸，25人死亡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83080"/>
            <a:ext cx="8229600" cy="68580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（2）直接原因：燃气管道长期泄漏，达到爆炸极限后遇明火爆炸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514600"/>
            <a:ext cx="8229600" cy="68580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（3）主要教训：管道巡检不到位、监测预警不完善、应急处置不力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30/80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二、主要存在问题</a:t>
            </a:r>
            <a:br/>
            <a:r>
              <a:t>（五）典型事故案例分析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68580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（1）事故概况：2022年4月29日，长沙市望城区一居民自建房倒塌，54人死亡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83080"/>
            <a:ext cx="8229600" cy="68580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（2）直接原因：房屋地基承载力不足，违规加盖导致荷载大幅增加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514600"/>
            <a:ext cx="8229600" cy="68580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（3）主要教训：违规建设、监管缺失、排查整治不力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31/80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二、主要存在问题</a:t>
            </a:r>
            <a:br/>
            <a:r>
              <a:t>（五）典型事故案例分析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68580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（1）事故概况：2023年4月18日，北京长峰医院住院部发生火灾，29人死亡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83080"/>
            <a:ext cx="8229600" cy="68580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（2）直接原因：施工作业产生火花引燃涂料挥发物，形成爆燃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514600"/>
            <a:ext cx="8229600" cy="68580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（3）主要教训：动火作业安全管理缺失、消防设施故障、应急疏散不力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32/80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二、主要存在问题</a:t>
            </a:r>
            <a:br/>
            <a:r>
              <a:t>（五）典型事故案例分析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68580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（1）事故概况：2024年5月1日，梅大高速茶阳段塌方灾害，48人死亡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83080"/>
            <a:ext cx="8229600" cy="68580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（2）直接原因：连续强降雨导致路基边坡失稳，发生滑坡塌方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514600"/>
            <a:ext cx="8229600" cy="68580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（3）主要教训：地质风险评估不足、监测预警不完善、应急管控不及时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33/80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二、主要存在问题</a:t>
            </a:r>
            <a:br/>
            <a:r>
              <a:t>（五）典型事故案例分析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1. 主体责任不落实——企业安全意识淡薄，安全投入严重不足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7335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2. 主要负责人职责履行不到位，重生产轻安全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29514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3. 安全管理机构不健全，安全制度不落实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916936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4. 隐患排查治理不深入，双重预防机制流于形式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血的教训——主体责任不落实是一切事故的根源！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34/80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第二部分小结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（一）企业层面：投入不足、管理不严、培训不够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1907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（二）管理层面：责任衰减、执法不严、考核不明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4086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（三）员工层面：意识淡薄、技能不足、不愿报告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962656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（四）外部环境：基础薄弱、监管不足、氛围不浓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35/80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第二部分小结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（五）典型事故案例教训：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9164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1. 福建泉州欣佳酒店——违法违规建设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28600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2. 湖北十堰燃气爆炸——管道巡检不到位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8803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3. 长沙自建房倒塌——监管缺失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47472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4. 北京长峰医院火灾——动火作业管理缺失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406908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5. 广东梅大高速塌方——监测预警不足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36/80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第二部分小结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286000"/>
            <a:ext cx="7315200" cy="1828800"/>
          </a:xfrm>
          <a:prstGeom prst="pentagon">
            <a:avLst/>
          </a:prstGeom>
          <a:solidFill>
            <a:srgbClr val="FFF5F5"/>
          </a:solidFill>
          <a:ln w="381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B43232"/>
                </a:solidFill>
              </a:defRPr>
            </a:pPr>
            <a:r>
              <a:t>核心结论：主体责任不落实是一切安全生产事故的根本原因！</a:t>
            </a:r>
            <a:br/>
            <a:br/>
            <a:r>
              <a:t>必须坚持"两个不放过"原则：</a:t>
            </a:r>
            <a:br/>
            <a:r>
              <a:t>• 隐患不消除不放过</a:t>
            </a:r>
            <a:br/>
            <a:r>
              <a:t>• 责任不落实不放过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37/80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第三部分</a:t>
            </a:r>
            <a:br/>
            <a:r>
              <a:t>PART 0三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提升领导力带动企业落实责任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38/80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6450"/>
                </a:solidFill>
              </a:rPr>
              <a:t>（一）</a:t>
            </a:r>
            <a:r>
              <a:rPr sz="1600" b="1">
                <a:solidFill>
                  <a:srgbClr val="333333"/>
                </a:solidFill>
              </a:rPr>
              <a:t>领导者安全角色认知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874519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6450"/>
                </a:solidFill>
              </a:rPr>
              <a:t>（二）</a:t>
            </a:r>
            <a:r>
              <a:rPr sz="1600" b="1">
                <a:solidFill>
                  <a:srgbClr val="333333"/>
                </a:solidFill>
              </a:rPr>
              <a:t>领导者安全行为规范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65176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6450"/>
                </a:solidFill>
              </a:rPr>
              <a:t>（三）</a:t>
            </a:r>
            <a:r>
              <a:rPr sz="1600" b="1">
                <a:solidFill>
                  <a:srgbClr val="333333"/>
                </a:solidFill>
              </a:rPr>
              <a:t>安全领导力提升路径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42900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6450"/>
                </a:solidFill>
              </a:rPr>
              <a:t>（四）</a:t>
            </a:r>
            <a:r>
              <a:rPr sz="1600" b="1">
                <a:solidFill>
                  <a:srgbClr val="333333"/>
                </a:solidFill>
              </a:rPr>
              <a:t>安全文化建设推动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39/80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  <a:br/>
            <a:r>
              <a:t>（一）领导者安全角色认知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1188720" cy="50292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决策者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12471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将安全纳入企业战略规划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1764792"/>
            <a:ext cx="1188720" cy="50292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践行者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37943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以身作则遵守安全规定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2478024"/>
            <a:ext cx="1188720" cy="50292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推动者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55117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持续推进安全文化建设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3191256"/>
            <a:ext cx="1188720" cy="50292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监督者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6440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督促安全责任落实</a:t>
            </a:r>
          </a:p>
        </p:txBody>
      </p:sp>
      <p:sp>
        <p:nvSpPr>
          <p:cNvPr id="12" name="Regular Pentagon 11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00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06450"/>
                </a:solidFill>
              </a:defRPr>
            </a:pPr>
            <a:r>
              <a:t>领导重视是抓好安全生产工作的关键！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40/80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  <a:br/>
            <a:r>
              <a:t>（一）领导者安全角色认知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1. 走动管理：每天至少一次深入现场检查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7335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2. 关注重点：人员状态、设备设施、作业环境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29514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3. 发现问题：及时记录，建立台账，督促整改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916936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4. 沟通交流：与员工沟通安全话题，听取意见建议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53872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5. 示范引领：营造高层重视安全的氛围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41/80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  <a:br/>
            <a:r>
              <a:t>（二）领导者安全行为规范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1. 亲自研究部署安全工作，定期召开安全会议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7335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2. 定期带队检查安全生产，深入现场发现问题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29514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3. 带头参加安全教育培训，提升自身安全素养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916936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4. 及时研究解决安全问题，整改隐患不过夜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42/80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  <a:br/>
            <a:r>
              <a:t>（二）领导者安全行为规范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5. 建立健全安全考核机制，奖惩分明促落实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7335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6. 公开表彰安全先进典型，营造良好安全氛围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29514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7. 发生事故第一时间赶赴现场，指挥应急处置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916936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8. 主动接受职工代表大会监督，报告安全工作情况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领导者是安全生产的第一责任人，必须以上率下！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43/80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  <a:br/>
            <a:r>
              <a:t>（二）领导者安全行为规范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18288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【安全决策原则】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1848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1）安全优先原则：安全与效率冲突时，安全优先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16712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2）预防优先原则：事前投入大于事后代价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71576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3）综合治理原则：多措并举、系统推进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26440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4）科学决策原则：重大决策必须安全论证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381304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5）责任追究原则：发生事故必须严肃追责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44/80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  <a:br/>
            <a:r>
              <a:t>（三）安全领导力提升路径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1. 理念先行：树立"安全第一"理念，形成安全文化认同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7335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2. 制度保障：完善安全责任体系，明确各层各级职责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29514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3. 能力提升：加强安全培训学习，提高安全管理水平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916936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4. 行为示范：领导以身作则，带动全员安全行为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53872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5. 持续改进：定期评估反馈，不断优化安全管理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00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06450"/>
                </a:solidFill>
              </a:defRPr>
            </a:pPr>
            <a:r>
              <a:t>安全领导力提升是长期过程，需要持续学习和实践！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45/80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  <a:br/>
            <a:r>
              <a:t>（三）安全领导力提升路径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22860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【理念先行】具体措施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1848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1）将安全纳入企业战略规划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16712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2）建立全员安全责任体系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71576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3）完善安全管理制度流程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26440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4）健全安全考核奖惩机制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46/80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  <a:br/>
            <a:r>
              <a:t>（三）安全领导力提升路径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22860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【能力提升】具体措施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1848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1）参加安全管理培训，提升专业能力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16712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2）学习先进企业经验，拓展视野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71576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3）领导带头遵守安全规定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26440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4）领导带头参与安全活动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47/80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  <a:br/>
            <a:r>
              <a:t>（三）安全领导力提升路径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22860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【持续改进】具体措施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1848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1）定期开展安全绩效评估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16712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2）分析安全形势，查找薄弱环节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71576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3）学习借鉴先进经验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26440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4）持续改进安全工作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00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06450"/>
                </a:solidFill>
              </a:defRPr>
            </a:pPr>
            <a:r>
              <a:t>安全领导力提升路径：理念→制度→能力→行为→改进！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48/80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  <a:br/>
            <a:r>
              <a:t>（四）安全文化建设推动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6450"/>
                </a:solidFill>
              </a:rPr>
              <a:t>安全愿景：</a:t>
            </a:r>
            <a:r>
              <a:rPr sz="1300">
                <a:solidFill>
                  <a:srgbClr val="333333"/>
                </a:solidFill>
              </a:rPr>
              <a:t>零事故、零伤害、零污染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0992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6450"/>
                </a:solidFill>
              </a:rPr>
              <a:t>安全使命：</a:t>
            </a:r>
            <a:r>
              <a:rPr sz="1300">
                <a:solidFill>
                  <a:srgbClr val="333333"/>
                </a:solidFill>
              </a:rPr>
              <a:t>保障员工生命安全，守护企业健康发展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68296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6450"/>
                </a:solidFill>
              </a:rPr>
              <a:t>安全价值观：</a:t>
            </a:r>
            <a:r>
              <a:rPr sz="1300">
                <a:solidFill>
                  <a:srgbClr val="333333"/>
                </a:solidFill>
              </a:rPr>
              <a:t>安全是最大的效益，安全是最好的业绩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26663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6450"/>
                </a:solidFill>
              </a:rPr>
              <a:t>安全行为准则：</a:t>
            </a:r>
            <a:r>
              <a:rPr sz="1300">
                <a:solidFill>
                  <a:srgbClr val="333333"/>
                </a:solidFill>
              </a:rPr>
              <a:t>遵章守纪、按章操作、拒绝违章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00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06450"/>
                </a:solidFill>
              </a:defRPr>
            </a:pPr>
            <a:r>
              <a:t>文化管人管灵魂，制度管人管行为！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49/80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  <a:br/>
            <a:r>
              <a:t>（四）安全文化建设推动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256032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【安全生产责任体系】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1848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1）横向到边：各职能部门各司其职、齐抓共管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16712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2）纵向到底：层层分解，责任到人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71576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3）网格化管理：不留死角、不留空白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50/80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  <a:br/>
            <a:r>
              <a:t>（四）安全文化建设推动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256032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【安全生产标准化建设】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1848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1）一级：国家评审（评分≥90）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16712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2）二级：省级评审（评分≥75）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71576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3）三级：市县级评审（评分≥60）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26440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附：建立并保持安全生产管理体系，实现岗位达标、专业达标、企业达标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51/80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  <a:br/>
            <a:r>
              <a:t>（四）安全文化建设推动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256032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【杜邦安全管理十大理念】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58191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1）所有安全事故都可以预防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093976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2）各级管理层对安全负有直接责任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60604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3）各级管理者必须亲自检查安全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11810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4）员工必须接受严格的安全培训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363016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5）安全是聘用的条件之一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52/80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  <a:br/>
            <a:r>
              <a:t>（四）安全文化建设推动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6）员工必须参与安全事务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58191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7）隐患必须及时整改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11226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8）工作外的安全与工作内安全同样重要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642616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9）安全是衡量管理业绩的标准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17296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10）良好的安全创造良好的业绩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53/80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  <a:br/>
            <a:r>
              <a:t>（四）安全文化建设推动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22860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【班组安全管理】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1848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1）班前安全喊话——布置任务同时布置安全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16712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2）班中安全互保——互相监督、互相提醒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71576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3）班后安全总结——总结经验、改进不足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班组是安全生产的第一道防线！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54/80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  <a:br/>
            <a:r>
              <a:t>（四）安全文化建设推动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1371600" y="1371600"/>
            <a:ext cx="6400800" cy="109728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2024年安全生产月主题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"人人讲安全、个个会应急"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26517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1）强化安全发展理念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327355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2）普及安全知识技能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89534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3）提升应急处置能力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4517136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4）营造浓厚安全氛围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55/80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  <a:br/>
            <a:r>
              <a:t>（四）安全文化建设推动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27432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【安全风险管控技术】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1848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1）安全评价技术：预评价、验收评价、现状评价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16712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2）危险有害因素辨识：人、物、环境、管理因素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71576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3）风险评估方法：SCL、JHA、FTA、HAZOP等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56/80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  <a:br/>
            <a:r>
              <a:t>（四）安全文化建设推动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27432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【隐患排查治理技术】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1848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1）隐患分类：一般隐患与重大隐患分级管理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16712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2）排查方法：日常巡检、专项检查、综合检查、专家检查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71576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3）闭环管理：发现→报告→评估→整改→验收→销号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57/80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  <a:br/>
            <a:r>
              <a:t>（四）安全文化建设推动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27432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【安全监测监控技术】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1848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1）视频监控系统：24小时实时监控，重点区域全覆盖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16712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2）气体监测系统：实时监测有毒有害气体浓度，超限报警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71576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3）人员定位系统：掌握人员位置，实现智能考勤和应急救援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58/80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  <a:br/>
            <a:r>
              <a:t>（四）安全文化建设推动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27432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【智慧安全技术应用】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1848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1）物联网技术：设备互联互通，数据实时采集传输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16712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2）大数据分析：海量数据分析挖掘，精准发现问题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71576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3）人工智能：AI智能识别隐患，自动预警提醒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59/80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  <a:br/>
            <a:r>
              <a:t>（四）安全文化建设推动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27432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【应急管理体系建设】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1848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1）应急预案体系：综合预案、专项预案、现场处置方案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16712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2）应急救援队伍：专职救援队、兼职救援队、志愿者队伍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71576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3）应急演练：计划制定、实战演练、总结评估、持续改进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60/80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  <a:br/>
            <a:r>
              <a:t>（四）安全文化建设推动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27432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【特种设备安全管理】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1848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1）范围：锅炉、压力容器、压力管道、电梯、起重机械等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16712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2）管理要求：办理使用登记、定期检验检测、配备作业人员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71576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3）日常管理：日常维护保养、定期自行检查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61/80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  <a:br/>
            <a:r>
              <a:t>（四）安全文化建设推动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27432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【危险化学品安全管理】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1848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1）危化品管理：实施目录管理、规范储存管理、严格作业审批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16712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2）储存管理：分类储存、防火防爆、温湿度控制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71576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3）作业管理：动火作业、有限空间作业等必须执行作业许可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62/80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  <a:br/>
            <a:r>
              <a:t>（四）安全文化建设推动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27432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【建筑施工安全管理】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1848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1）事故类型：高处坠落52%、物体打击15%、坍塌10%、机械伤害9%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16712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2）预防措施：严格落实施工安全措施费、强化特种作业人员管理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71576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3）重点领域：基坑支护、脚手架搭设、临时用电、施工升降机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63/80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  <a:br/>
            <a:r>
              <a:t>（四）安全文化建设推动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27432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【应急处置程序】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1848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1）第一时间：启动应急响应，组织人员疏散撤离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16712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2）第二时间：报告事故情况，拨打119/120/110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71576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3）第三时间：组织先期处置，控制事态发展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26440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4）第四时间：配合救援调查，分析事故原因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64/80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（一）领导者安全角色认知：决策者、践行者、推动者、监督者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45919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（二）领导者安全行为规范：亲自部署、带头检查、参与培训、及时整改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240279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（三）安全领导力提升路径：理念先行、制度保障、能力提升、行为示范、持续改进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834639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（四）安全文化建设推动：核心理念、责任体系、标准化建设、班组管理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65/80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【安全管理技术】风险管控、隐患排查、监测监控、智慧安全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45919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【专业领域安全】特种设备、危化品、建筑施工、应急处置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66/80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核心结论：提升安全领导力是落实主体责任的关键！</a:t>
            </a:r>
            <a:br/>
            <a:br/>
            <a:r>
              <a:t>• 领导重视是抓好安全生产工作的关键</a:t>
            </a:r>
            <a:br/>
            <a:r>
              <a:t>• 以上率下才能带动全员参与</a:t>
            </a:r>
            <a:br/>
            <a:r>
              <a:t>• 文化引领才能实现长治久安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67/80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培训总结与承诺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1. 深入开展安全隐患大排查大整治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45919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2. 全面推进安全生产标准化建设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240279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3. 切实加强应急能力建设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834639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4. 持续强化安全培训和宣传教育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428999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5. 加快安全管理信息化建设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E3C72"/>
                </a:solidFill>
              </a:defRPr>
            </a:pPr>
            <a:r>
              <a:t>落实主体责任，确保安全生产！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68/80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gular Pentagon 1"/>
          <p:cNvSpPr/>
          <p:nvPr/>
        </p:nvSpPr>
        <p:spPr>
          <a:xfrm>
            <a:off x="914400" y="1371600"/>
            <a:ext cx="7315200" cy="365760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我郑重承诺：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✓ 严格遵守安全生产法律法规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✓ 认真落实安全生产主体责任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✓ 扎实开展安全隐患排查治理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✓ 不断提升安全管理能力和水平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✓ 切实保障员工生命安全和身体健康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69/80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附页 1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第1页备用内容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70/80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附页 2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第2页备用内容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71/80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附页 3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第3页备用内容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72/80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附页 4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第4页备用内容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73/80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附页 5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第5页备用内容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74/80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附页 6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第6页备用内容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75/80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附页 7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第7页备用内容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76/80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附页 8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第8页备用内容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77/80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附页 9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第9页备用内容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78/80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附页 10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第10页备用内容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79/80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附页 11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第11页备用内容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80/80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