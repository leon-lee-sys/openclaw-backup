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三维界面冷蒸发海水淡化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6699"/>
                </a:solidFill>
              </a:defRPr>
            </a:pPr>
            <a:r>
              <a:t>新型多孔钛三维界面技术在海水淡化中的应用研究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404040"/>
                </a:solidFill>
              </a:defRPr>
            </a:pPr>
            <a:r>
              <a:t>汇报人：李响</a:t>
            </a:r>
          </a:p>
          <a:p>
            <a:pPr algn="ctr">
              <a:defRPr sz="1800">
                <a:solidFill>
                  <a:srgbClr val="404040"/>
                </a:solidFill>
              </a:defRPr>
            </a:pPr>
            <a:r>
              <a:t>上海海事大学</a:t>
            </a:r>
          </a:p>
          <a:p>
            <a:pPr algn="ctr">
              <a:defRPr sz="1600">
                <a:solidFill>
                  <a:srgbClr val="404040"/>
                </a:solidFill>
              </a:defRPr>
            </a:pPr>
            <a:r>
              <a:t>2026年4月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目  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99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18288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04040"/>
                </a:solidFill>
              </a:defRPr>
            </a:pPr>
            <a:r>
              <a:t>项目简介和研究目的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65176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99"/>
                </a:solidFill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6517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04040"/>
                </a:solidFill>
              </a:defRPr>
            </a:pPr>
            <a:r>
              <a:t>研究内容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47472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99"/>
                </a:solidFill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4747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04040"/>
                </a:solidFill>
              </a:defRPr>
            </a:pPr>
            <a:r>
              <a:t>研究方法和技术路线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29768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99"/>
                </a:solidFill>
              </a:defRPr>
            </a:pPr>
            <a: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42976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04040"/>
                </a:solidFill>
              </a:defRPr>
            </a:pPr>
            <a:r>
              <a:t>创新点及拟达到目标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51206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99"/>
                </a:solidFill>
              </a:defRPr>
            </a:pPr>
            <a:r>
              <a:t>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5120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04040"/>
                </a:solidFill>
              </a:defRPr>
            </a:pPr>
            <a:r>
              <a:t>进度安排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Part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项目简介和研究目的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1.1 研究背景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全球水资源危机日益严峻，约20亿人面临水资源短缺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海水淡化是解决水资源短缺的重要途径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传统海水淡化技术存在能耗高、成本高等问题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亟需开发新型低碳、高效的海水淡化技术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1.2 传统技术痛点分析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技术类型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能耗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主要问题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多级闪蒸（MSF）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8-10 kWh/m³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能耗高、设备庞大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反渗透（RO）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3-5 kWh/m³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膜污染严重、预处理复杂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低温多效蒸馏（MED）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6-8 kWh/m³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结垢问题突出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传统蒸发技术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5-8 kWh/m³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热效率低、操作复杂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1.3 研究目的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核心目标</a:t>
            </a:r>
          </a:p>
          <a:p>
            <a:pPr>
              <a:spcAft>
                <a:spcPts val="800"/>
              </a:spcAft>
              <a:defRPr sz="1800">
                <a:solidFill>
                  <a:srgbClr val="646464"/>
                </a:solidFill>
              </a:defRPr>
            </a:pPr>
            <a:r>
              <a:t>  ‣ 揭示耦合机理与抗结垢机制</a:t>
            </a:r>
          </a:p>
          <a:p>
            <a:pPr>
              <a:spcAft>
                <a:spcPts val="800"/>
              </a:spcAft>
              <a:defRPr sz="1800">
                <a:solidFill>
                  <a:srgbClr val="646464"/>
                </a:solidFill>
              </a:defRPr>
            </a:pPr>
            <a:r>
              <a:t>  ‣ 构建多孔钛三维界面蒸发海水淡化系统</a:t>
            </a:r>
          </a:p>
          <a:p>
            <a:pPr>
              <a:spcAft>
                <a:spcPts val="800"/>
              </a:spcAft>
              <a:defRPr sz="1800">
                <a:solidFill>
                  <a:srgbClr val="646464"/>
                </a:solidFill>
              </a:defRPr>
            </a:pPr>
            <a:r>
              <a:t>  ‣ 深入揭示传质传热耦合机理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具体目标</a:t>
            </a:r>
          </a:p>
          <a:p>
            <a:pPr>
              <a:spcAft>
                <a:spcPts val="800"/>
              </a:spcAft>
              <a:defRPr sz="1800">
                <a:solidFill>
                  <a:srgbClr val="646464"/>
                </a:solidFill>
              </a:defRPr>
            </a:pPr>
            <a:r>
              <a:t>  ‣ 探究孔隙结构对蒸发性能的影响</a:t>
            </a:r>
          </a:p>
          <a:p>
            <a:pPr>
              <a:spcAft>
                <a:spcPts val="800"/>
              </a:spcAft>
              <a:defRPr sz="1800">
                <a:solidFill>
                  <a:srgbClr val="646464"/>
                </a:solidFill>
              </a:defRPr>
            </a:pPr>
            <a:r>
              <a:t>  ‣ 揭示结垢规律并提出抗结垢策略</a:t>
            </a:r>
          </a:p>
          <a:p>
            <a:pPr>
              <a:spcAft>
                <a:spcPts val="800"/>
              </a:spcAft>
              <a:defRPr sz="1800">
                <a:solidFill>
                  <a:srgbClr val="646464"/>
                </a:solidFill>
              </a:defRPr>
            </a:pPr>
            <a:r>
              <a:t>  ‣ 为高效抗结垢海水淡化提供理论与工程指导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Part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研究内容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2.1 研究内容概述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多孔钛三维界面材料设计</a:t>
            </a:r>
          </a:p>
          <a:p>
            <a:pPr>
              <a:spcAft>
                <a:spcPts val="800"/>
              </a:spcAft>
              <a:defRPr sz="1800">
                <a:solidFill>
                  <a:srgbClr val="646464"/>
                </a:solidFill>
              </a:defRPr>
            </a:pPr>
            <a:r>
              <a:t>  ‣ 材料制备与表征</a:t>
            </a:r>
          </a:p>
          <a:p>
            <a:pPr>
              <a:spcAft>
                <a:spcPts val="800"/>
              </a:spcAft>
              <a:defRPr sz="1800">
                <a:solidFill>
                  <a:srgbClr val="646464"/>
                </a:solidFill>
              </a:defRPr>
            </a:pPr>
            <a:r>
              <a:t>  ‣ 孔隙结构优化</a:t>
            </a:r>
          </a:p>
          <a:p>
            <a:pPr>
              <a:spcAft>
                <a:spcPts val="800"/>
              </a:spcAft>
              <a:defRPr sz="1800">
                <a:solidFill>
                  <a:srgbClr val="646464"/>
                </a:solidFill>
              </a:defRPr>
            </a:pPr>
            <a:r>
              <a:t>  ‣ 高比表面积设计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传质传热机理研究</a:t>
            </a:r>
          </a:p>
          <a:p>
            <a:pPr>
              <a:spcAft>
                <a:spcPts val="800"/>
              </a:spcAft>
              <a:defRPr sz="1800">
                <a:solidFill>
                  <a:srgbClr val="646464"/>
                </a:solidFill>
              </a:defRPr>
            </a:pPr>
            <a:r>
              <a:t>  ‣ 耦合机理分析</a:t>
            </a:r>
          </a:p>
          <a:p>
            <a:pPr>
              <a:spcAft>
                <a:spcPts val="800"/>
              </a:spcAft>
              <a:defRPr sz="1800">
                <a:solidFill>
                  <a:srgbClr val="646464"/>
                </a:solidFill>
              </a:defRPr>
            </a:pPr>
            <a:r>
              <a:t>  ‣ 理论模型构建</a:t>
            </a:r>
          </a:p>
          <a:p>
            <a:pPr>
              <a:spcAft>
                <a:spcPts val="800"/>
              </a:spcAft>
              <a:defRPr sz="1800">
                <a:solidFill>
                  <a:srgbClr val="646464"/>
                </a:solidFill>
              </a:defRPr>
            </a:pPr>
            <a:r>
              <a:t>  ‣ 多物理场耦合研究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抗结垢机制研究</a:t>
            </a:r>
          </a:p>
          <a:p>
            <a:pPr>
              <a:spcAft>
                <a:spcPts val="800"/>
              </a:spcAft>
              <a:defRPr sz="1800">
                <a:solidFill>
                  <a:srgbClr val="646464"/>
                </a:solidFill>
              </a:defRPr>
            </a:pPr>
            <a:r>
              <a:t>  ‣ 结垢规律探究</a:t>
            </a:r>
          </a:p>
          <a:p>
            <a:pPr>
              <a:spcAft>
                <a:spcPts val="800"/>
              </a:spcAft>
              <a:defRPr sz="1800">
                <a:solidFill>
                  <a:srgbClr val="646464"/>
                </a:solidFill>
              </a:defRPr>
            </a:pPr>
            <a:r>
              <a:t>  ‣ 抗垢策略开发</a:t>
            </a:r>
          </a:p>
          <a:p>
            <a:pPr>
              <a:spcAft>
                <a:spcPts val="800"/>
              </a:spcAft>
              <a:defRPr sz="1800">
                <a:solidFill>
                  <a:srgbClr val="646464"/>
                </a:solidFill>
              </a:defRPr>
            </a:pPr>
            <a:r>
              <a:t>  ‣ 表面改性技术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2.2 多孔钛三维界面技术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多孔钛材料特性</a:t>
            </a:r>
          </a:p>
          <a:p>
            <a:pPr>
              <a:spcAft>
                <a:spcPts val="800"/>
              </a:spcAft>
              <a:defRPr sz="1800">
                <a:solidFill>
                  <a:srgbClr val="646464"/>
                </a:solidFill>
              </a:defRPr>
            </a:pPr>
            <a:r>
              <a:t>  ‣ 高比表面积</a:t>
            </a:r>
          </a:p>
          <a:p>
            <a:pPr>
              <a:spcAft>
                <a:spcPts val="800"/>
              </a:spcAft>
              <a:defRPr sz="1800">
                <a:solidFill>
                  <a:srgbClr val="646464"/>
                </a:solidFill>
              </a:defRPr>
            </a:pPr>
            <a:r>
              <a:t>  ‣ 优异导热性</a:t>
            </a:r>
          </a:p>
          <a:p>
            <a:pPr>
              <a:spcAft>
                <a:spcPts val="800"/>
              </a:spcAft>
              <a:defRPr sz="1800">
                <a:solidFill>
                  <a:srgbClr val="646464"/>
                </a:solidFill>
              </a:defRPr>
            </a:pPr>
            <a:r>
              <a:t>  ‣ 良好耐腐蚀性</a:t>
            </a:r>
          </a:p>
          <a:p>
            <a:pPr>
              <a:spcAft>
                <a:spcPts val="800"/>
              </a:spcAft>
              <a:defRPr sz="1800">
                <a:solidFill>
                  <a:srgbClr val="646464"/>
                </a:solidFill>
              </a:defRPr>
            </a:pPr>
            <a:r>
              <a:t>  ‣ 可调控孔隙结构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三维界面设计原理</a:t>
            </a:r>
          </a:p>
          <a:p>
            <a:pPr>
              <a:spcAft>
                <a:spcPts val="800"/>
              </a:spcAft>
              <a:defRPr sz="1800">
                <a:solidFill>
                  <a:srgbClr val="646464"/>
                </a:solidFill>
              </a:defRPr>
            </a:pPr>
            <a:r>
              <a:t>  ‣ 毛细作用增强</a:t>
            </a:r>
          </a:p>
          <a:p>
            <a:pPr>
              <a:spcAft>
                <a:spcPts val="800"/>
              </a:spcAft>
              <a:defRPr sz="1800">
                <a:solidFill>
                  <a:srgbClr val="646464"/>
                </a:solidFill>
              </a:defRPr>
            </a:pPr>
            <a:r>
              <a:t>  ‣ 蒸发面积最大化</a:t>
            </a:r>
          </a:p>
          <a:p>
            <a:pPr>
              <a:spcAft>
                <a:spcPts val="800"/>
              </a:spcAft>
              <a:defRPr sz="1800">
                <a:solidFill>
                  <a:srgbClr val="646464"/>
                </a:solidFill>
              </a:defRPr>
            </a:pPr>
            <a:r>
              <a:t>  ‣ 热传导优化</a:t>
            </a:r>
          </a:p>
          <a:p>
            <a:pPr>
              <a:spcAft>
                <a:spcPts val="800"/>
              </a:spcAft>
              <a:defRPr sz="1800">
                <a:solidFill>
                  <a:srgbClr val="646464"/>
                </a:solidFill>
              </a:defRPr>
            </a:pPr>
            <a:r>
              <a:t>  ‣ 蒸汽逃逸通道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技术优势</a:t>
            </a:r>
          </a:p>
          <a:p>
            <a:pPr>
              <a:spcAft>
                <a:spcPts val="800"/>
              </a:spcAft>
              <a:defRPr sz="1800">
                <a:solidFill>
                  <a:srgbClr val="646464"/>
                </a:solidFill>
              </a:defRPr>
            </a:pPr>
            <a:r>
              <a:t>  ‣ 能耗降低50%以上</a:t>
            </a:r>
          </a:p>
          <a:p>
            <a:pPr>
              <a:spcAft>
                <a:spcPts val="800"/>
              </a:spcAft>
              <a:defRPr sz="1800">
                <a:solidFill>
                  <a:srgbClr val="646464"/>
                </a:solidFill>
              </a:defRPr>
            </a:pPr>
            <a:r>
              <a:t>  ‣ 常温（20-30°C）蒸发</a:t>
            </a:r>
          </a:p>
          <a:p>
            <a:pPr>
              <a:spcAft>
                <a:spcPts val="800"/>
              </a:spcAft>
              <a:defRPr sz="1800">
                <a:solidFill>
                  <a:srgbClr val="646464"/>
                </a:solidFill>
              </a:defRPr>
            </a:pPr>
            <a:r>
              <a:t>  ‣ 结垢显著减轻</a:t>
            </a:r>
          </a:p>
          <a:p>
            <a:pPr>
              <a:spcAft>
                <a:spcPts val="800"/>
              </a:spcAft>
              <a:defRPr sz="1800">
                <a:solidFill>
                  <a:srgbClr val="646464"/>
                </a:solidFill>
              </a:defRPr>
            </a:pPr>
            <a:r>
              <a:t>  ‣ 效率提高30%以上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2.3 技术性能对比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7620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传统技术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本项目技术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蒸发温度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60-80°C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常温（20-30°C）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能耗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降低50%以上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结垢程度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严重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显著减轻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蒸发效率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中等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提高30%以上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设备复杂度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复杂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简化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Part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研究方法和技术路线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3.1 总体技术路线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743200"/>
            <a:ext cx="2011680" cy="1097280"/>
          </a:xfrm>
          <a:prstGeom prst="roundRect">
            <a:avLst/>
          </a:prstGeom>
          <a:solidFill>
            <a:srgbClr val="CCE5FF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材料制备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788920" y="3200400"/>
            <a:ext cx="182880" cy="182880"/>
          </a:xfrm>
          <a:prstGeom prst="rightArrow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017520" y="2743200"/>
            <a:ext cx="2011680" cy="1097280"/>
          </a:xfrm>
          <a:prstGeom prst="roundRect">
            <a:avLst/>
          </a:prstGeom>
          <a:solidFill>
            <a:srgbClr val="CCE5FF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性能测试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074920" y="3200400"/>
            <a:ext cx="182880" cy="182880"/>
          </a:xfrm>
          <a:prstGeom prst="rightArrow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303520" y="2743200"/>
            <a:ext cx="2011680" cy="1097280"/>
          </a:xfrm>
          <a:prstGeom prst="roundRect">
            <a:avLst/>
          </a:prstGeom>
          <a:solidFill>
            <a:srgbClr val="CCE5FF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机理分析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360920" y="3200400"/>
            <a:ext cx="182880" cy="182880"/>
          </a:xfrm>
          <a:prstGeom prst="rightArrow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589520" y="2743200"/>
            <a:ext cx="2011680" cy="1097280"/>
          </a:xfrm>
          <a:prstGeom prst="roundRect">
            <a:avLst/>
          </a:prstGeom>
          <a:solidFill>
            <a:srgbClr val="CCE5FF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优化改进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646920" y="3200400"/>
            <a:ext cx="182880" cy="182880"/>
          </a:xfrm>
          <a:prstGeom prst="rightArrow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875520" y="2743200"/>
            <a:ext cx="2011680" cy="1097280"/>
          </a:xfrm>
          <a:prstGeom prst="roundRect">
            <a:avLst/>
          </a:prstGeom>
          <a:solidFill>
            <a:srgbClr val="CCE5FF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工程验证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3.2 材料制备与表征技术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材料制备方法</a:t>
            </a:r>
          </a:p>
          <a:p>
            <a:pPr>
              <a:spcAft>
                <a:spcPts val="800"/>
              </a:spcAft>
              <a:defRPr sz="1800">
                <a:solidFill>
                  <a:srgbClr val="646464"/>
                </a:solidFill>
              </a:defRPr>
            </a:pPr>
            <a:r>
              <a:t>  ‣ 粉末冶金法</a:t>
            </a:r>
          </a:p>
          <a:p>
            <a:pPr>
              <a:spcAft>
                <a:spcPts val="800"/>
              </a:spcAft>
              <a:defRPr sz="1800">
                <a:solidFill>
                  <a:srgbClr val="646464"/>
                </a:solidFill>
              </a:defRPr>
            </a:pPr>
            <a:r>
              <a:t>  ‣ 溶胶-凝胶法</a:t>
            </a:r>
          </a:p>
          <a:p>
            <a:pPr>
              <a:spcAft>
                <a:spcPts val="800"/>
              </a:spcAft>
              <a:defRPr sz="1800">
                <a:solidFill>
                  <a:srgbClr val="646464"/>
                </a:solidFill>
              </a:defRPr>
            </a:pPr>
            <a:r>
              <a:t>  ‣ 3D打印法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微观结构表征</a:t>
            </a:r>
          </a:p>
          <a:p>
            <a:pPr>
              <a:spcAft>
                <a:spcPts val="800"/>
              </a:spcAft>
              <a:defRPr sz="1800">
                <a:solidFill>
                  <a:srgbClr val="646464"/>
                </a:solidFill>
              </a:defRPr>
            </a:pPr>
            <a:r>
              <a:t>  ‣ SEM形貌观察</a:t>
            </a:r>
          </a:p>
          <a:p>
            <a:pPr>
              <a:spcAft>
                <a:spcPts val="800"/>
              </a:spcAft>
              <a:defRPr sz="1800">
                <a:solidFill>
                  <a:srgbClr val="646464"/>
                </a:solidFill>
              </a:defRPr>
            </a:pPr>
            <a:r>
              <a:t>  ‣ BET孔隙分析</a:t>
            </a:r>
          </a:p>
          <a:p>
            <a:pPr>
              <a:spcAft>
                <a:spcPts val="800"/>
              </a:spcAft>
              <a:defRPr sz="1800">
                <a:solidFill>
                  <a:srgbClr val="646464"/>
                </a:solidFill>
              </a:defRPr>
            </a:pPr>
            <a:r>
              <a:t>  ‣ XRD晶相鉴定</a:t>
            </a:r>
          </a:p>
          <a:p>
            <a:pPr>
              <a:spcAft>
                <a:spcPts val="800"/>
              </a:spcAft>
              <a:defRPr sz="1800">
                <a:solidFill>
                  <a:srgbClr val="646464"/>
                </a:solidFill>
              </a:defRPr>
            </a:pPr>
            <a:r>
              <a:t>  ‣ XPS表面化学分析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3.3 先进表征技术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技术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英文缩写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主要用途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关键参数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扫描电镜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SEM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微观形貌观察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放大倍数、表面元素分布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比表面积分析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BET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孔隙结构测定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比表面积、孔径分布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X射线衍射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XRD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晶相鉴定分析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晶粒大小、晶体结构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X射线光电子能谱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XPS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表面化学分析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元素组成、化学态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3.4 计算模拟方法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分子动力学模拟（MD）</a:t>
            </a:r>
          </a:p>
          <a:p>
            <a:pPr>
              <a:spcAft>
                <a:spcPts val="800"/>
              </a:spcAft>
              <a:defRPr sz="1800">
                <a:solidFill>
                  <a:srgbClr val="646464"/>
                </a:solidFill>
              </a:defRPr>
            </a:pPr>
            <a:r>
              <a:t>  ‣ 研究水分子与材料表面相互作用</a:t>
            </a:r>
          </a:p>
          <a:p>
            <a:pPr>
              <a:spcAft>
                <a:spcPts val="800"/>
              </a:spcAft>
              <a:defRPr sz="1800">
                <a:solidFill>
                  <a:srgbClr val="646464"/>
                </a:solidFill>
              </a:defRPr>
            </a:pPr>
            <a:r>
              <a:t>  ‣ 计算蒸发能垒</a:t>
            </a:r>
          </a:p>
          <a:p>
            <a:pPr>
              <a:spcAft>
                <a:spcPts val="800"/>
              </a:spcAft>
              <a:defRPr sz="1800">
                <a:solidFill>
                  <a:srgbClr val="646464"/>
                </a:solidFill>
              </a:defRPr>
            </a:pPr>
            <a:r>
              <a:t>  ‣ 分析离子分布规律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有限元模拟（FEM）</a:t>
            </a:r>
          </a:p>
          <a:p>
            <a:pPr>
              <a:spcAft>
                <a:spcPts val="800"/>
              </a:spcAft>
              <a:defRPr sz="1800">
                <a:solidFill>
                  <a:srgbClr val="646464"/>
                </a:solidFill>
              </a:defRPr>
            </a:pPr>
            <a:r>
              <a:t>  ‣ 温度场分布模拟</a:t>
            </a:r>
          </a:p>
          <a:p>
            <a:pPr>
              <a:spcAft>
                <a:spcPts val="800"/>
              </a:spcAft>
              <a:defRPr sz="1800">
                <a:solidFill>
                  <a:srgbClr val="646464"/>
                </a:solidFill>
              </a:defRPr>
            </a:pPr>
            <a:r>
              <a:t>  ‣ 速度场分析</a:t>
            </a:r>
          </a:p>
          <a:p>
            <a:pPr>
              <a:spcAft>
                <a:spcPts val="800"/>
              </a:spcAft>
              <a:defRPr sz="1800">
                <a:solidFill>
                  <a:srgbClr val="646464"/>
                </a:solidFill>
              </a:defRPr>
            </a:pPr>
            <a:r>
              <a:t>  ‣ 浓度场模拟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3.5 理论模型构建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传热传质模型</a:t>
            </a:r>
          </a:p>
          <a:p>
            <a:pPr>
              <a:spcAft>
                <a:spcPts val="800"/>
              </a:spcAft>
              <a:defRPr sz="1800">
                <a:solidFill>
                  <a:srgbClr val="646464"/>
                </a:solidFill>
              </a:defRPr>
            </a:pPr>
            <a:r>
              <a:t>  ‣ 基于能量守恒的能量方程</a:t>
            </a:r>
          </a:p>
          <a:p>
            <a:pPr>
              <a:spcAft>
                <a:spcPts val="800"/>
              </a:spcAft>
              <a:defRPr sz="1800">
                <a:solidFill>
                  <a:srgbClr val="646464"/>
                </a:solidFill>
              </a:defRPr>
            </a:pPr>
            <a:r>
              <a:t>  ‣ 基于质量守恒的质量方程</a:t>
            </a:r>
          </a:p>
          <a:p>
            <a:pPr>
              <a:spcAft>
                <a:spcPts val="800"/>
              </a:spcAft>
              <a:defRPr sz="1800">
                <a:solidFill>
                  <a:srgbClr val="646464"/>
                </a:solidFill>
              </a:defRPr>
            </a:pPr>
            <a:r>
              <a:t>  ‣ 考虑毛细作用的渗流模型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蒸发速率预测模型</a:t>
            </a:r>
          </a:p>
          <a:p>
            <a:pPr>
              <a:spcAft>
                <a:spcPts val="800"/>
              </a:spcAft>
              <a:defRPr sz="1800">
                <a:solidFill>
                  <a:srgbClr val="646464"/>
                </a:solidFill>
              </a:defRPr>
            </a:pPr>
            <a:r>
              <a:t>  ‣ 结合孔结构和操作条件</a:t>
            </a:r>
          </a:p>
          <a:p>
            <a:pPr>
              <a:spcAft>
                <a:spcPts val="800"/>
              </a:spcAft>
              <a:defRPr sz="1800">
                <a:solidFill>
                  <a:srgbClr val="646464"/>
                </a:solidFill>
              </a:defRPr>
            </a:pPr>
            <a:r>
              <a:t>  ‣ 预测蒸发速率</a:t>
            </a:r>
          </a:p>
          <a:p>
            <a:pPr>
              <a:spcAft>
                <a:spcPts val="800"/>
              </a:spcAft>
              <a:defRPr sz="1800">
                <a:solidFill>
                  <a:srgbClr val="646464"/>
                </a:solidFill>
              </a:defRPr>
            </a:pPr>
            <a:r>
              <a:t>  ‣ 指导结构优化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3.6 性能评价指标体系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7620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指标类别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具体指标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单位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测试方法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蒸发性能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蒸发速率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kg/m²·h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质量法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蒸发性能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能量效率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热平衡法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水质指标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产水盐度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mg/L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电导率法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稳定性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运行周期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长期测试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耐久性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材料寿命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加速老化试验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Part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创新点及拟达到目标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4.1 四大核心创新点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🌟 三维界面设计新概念 — 突破传统平面蒸发瓶颈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🌟 多孔钛材料新应用 — 首创多孔钛三维骨架蒸发基底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🌟 耦合机理新发现 — 首次系统揭示多物理场耦合机理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🌟 抗结垢机制新策略 — 提出疏水-亲水图案化抗垢新方法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4.2 创新点一：三维界面设计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核心创新：提出三维界面协同增效设计理念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实现毛细作用、热传导、蒸发扩散的协同优化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突破传统平面蒸发的效率瓶颈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为界面蒸发领域提供全新技术思路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4.3 创新点二：多孔钛材料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核心创新：首创多孔钛三维骨架作为蒸发基底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技术优势一：高导热性，加速热量传递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技术优势二：高比表面积，增大蒸发面积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技术优势三：优异耐腐蚀，适应海水环境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4.4 创新点三：耦合机理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核心创新：首次系统揭示传热-传质-相变多物理场耦合机理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建立定量预测模型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发表高水平学术论文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为后续研究奠定理论基础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4.5 创新点四：抗结垢机制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核心创新：提出疏水-亲水图案化抗垢新策略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结合外场辅助实现双重抗垢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大幅延长运行周期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显著降低维护成本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4.6 关键技术指标目标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7620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当前水平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目标值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提升幅度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蒸发速率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2-3 kg/m²·h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≥5 kg/m²·h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+70%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能量效率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50-60%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≥85%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+40%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产水盐度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&gt;1000 mg/L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&lt;500 mg/L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-50%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运行周期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7-10天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≥30天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+200%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结垢抑制率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20-30%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≥70%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+130%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4.7 预期研究成果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学术论文：SCI一区论文3-4篇，核心期刊2-3篇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专利申请：发明专利3-5项，实用新型2-3项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技术标准：形成1套技术标准或规范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人才培养：培养研究生3-5名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4.8 应用前景与市场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应用领域：海水淡化、苦咸水处理、废水回收利用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市场规模：全球百亿美元级，中国千亿人民币级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社会效益：缓解水资源短缺，助力碳中和目标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产业链条：带动材料、装备、运维全产业链发展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Part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进度安排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5.1 项目总体进度（4年）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743200"/>
            <a:ext cx="2011680" cy="1097280"/>
          </a:xfrm>
          <a:prstGeom prst="roundRect">
            <a:avLst/>
          </a:prstGeom>
          <a:solidFill>
            <a:srgbClr val="CCE5FF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第1年</a:t>
            </a:r>
            <a:br/>
            <a:r>
              <a:t>材料设计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788920" y="3200400"/>
            <a:ext cx="182880" cy="182880"/>
          </a:xfrm>
          <a:prstGeom prst="rightArrow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017520" y="2743200"/>
            <a:ext cx="2011680" cy="1097280"/>
          </a:xfrm>
          <a:prstGeom prst="roundRect">
            <a:avLst/>
          </a:prstGeom>
          <a:solidFill>
            <a:srgbClr val="CCE5FF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第2年</a:t>
            </a:r>
            <a:br/>
            <a:r>
              <a:t>实验研究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074920" y="3200400"/>
            <a:ext cx="182880" cy="182880"/>
          </a:xfrm>
          <a:prstGeom prst="rightArrow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303520" y="2743200"/>
            <a:ext cx="2011680" cy="1097280"/>
          </a:xfrm>
          <a:prstGeom prst="roundRect">
            <a:avLst/>
          </a:prstGeom>
          <a:solidFill>
            <a:srgbClr val="CCE5FF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第3年</a:t>
            </a:r>
            <a:br/>
            <a:r>
              <a:t>理论分析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360920" y="3200400"/>
            <a:ext cx="182880" cy="182880"/>
          </a:xfrm>
          <a:prstGeom prst="rightArrow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589520" y="2743200"/>
            <a:ext cx="2011680" cy="1097280"/>
          </a:xfrm>
          <a:prstGeom prst="roundRect">
            <a:avLst/>
          </a:prstGeom>
          <a:solidFill>
            <a:srgbClr val="CCE5FF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第4年</a:t>
            </a:r>
            <a:br/>
            <a:r>
              <a:t>成果总结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5.2 详细进度安排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阶段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时间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主要任务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预期成果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第一阶段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第1年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材料设计、制备、表征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材料样品、基本性能数据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第二阶段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第2年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性能测试、机理研究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性能优化方案、机理报告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第三阶段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第3年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理论分析、模型构建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理论模型、学术论文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第四阶段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第4年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优化改进、工程验证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示范工程、结题验收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5.3 阶段一：方案设计与材料制备（第1年）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Q1-Q2：文献调研与方案设计</a:t>
            </a:r>
          </a:p>
          <a:p>
            <a:pPr>
              <a:spcAft>
                <a:spcPts val="800"/>
              </a:spcAft>
              <a:defRPr sz="1800">
                <a:solidFill>
                  <a:srgbClr val="646464"/>
                </a:solidFill>
              </a:defRPr>
            </a:pPr>
            <a:r>
              <a:t>  ‣ 国内外研究现状调研</a:t>
            </a:r>
          </a:p>
          <a:p>
            <a:pPr>
              <a:spcAft>
                <a:spcPts val="800"/>
              </a:spcAft>
              <a:defRPr sz="1800">
                <a:solidFill>
                  <a:srgbClr val="646464"/>
                </a:solidFill>
              </a:defRPr>
            </a:pPr>
            <a:r>
              <a:t>  ‣ 技术路线确定</a:t>
            </a:r>
          </a:p>
          <a:p>
            <a:pPr>
              <a:spcAft>
                <a:spcPts val="800"/>
              </a:spcAft>
              <a:defRPr sz="1800">
                <a:solidFill>
                  <a:srgbClr val="646464"/>
                </a:solidFill>
              </a:defRPr>
            </a:pPr>
            <a:r>
              <a:t>  ‣ 实验方案设计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Q3-Q4：多孔钛材料制备与表征</a:t>
            </a:r>
          </a:p>
          <a:p>
            <a:pPr>
              <a:spcAft>
                <a:spcPts val="800"/>
              </a:spcAft>
              <a:defRPr sz="1800">
                <a:solidFill>
                  <a:srgbClr val="646464"/>
                </a:solidFill>
              </a:defRPr>
            </a:pPr>
            <a:r>
              <a:t>  ‣ 多孔钛材料制备</a:t>
            </a:r>
          </a:p>
          <a:p>
            <a:pPr>
              <a:spcAft>
                <a:spcPts val="800"/>
              </a:spcAft>
              <a:defRPr sz="1800">
                <a:solidFill>
                  <a:srgbClr val="646464"/>
                </a:solidFill>
              </a:defRPr>
            </a:pPr>
            <a:r>
              <a:t>  ‣ 微观结构表征</a:t>
            </a:r>
          </a:p>
          <a:p>
            <a:pPr>
              <a:spcAft>
                <a:spcPts val="800"/>
              </a:spcAft>
              <a:defRPr sz="1800">
                <a:solidFill>
                  <a:srgbClr val="646464"/>
                </a:solidFill>
              </a:defRPr>
            </a:pPr>
            <a:r>
              <a:t>  ‣ 初步性能测试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5.4 阶段二：实验研究（第2年）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Q1-Q2：系统性能测试与优化</a:t>
            </a:r>
          </a:p>
          <a:p>
            <a:pPr>
              <a:spcAft>
                <a:spcPts val="800"/>
              </a:spcAft>
              <a:defRPr sz="1800">
                <a:solidFill>
                  <a:srgbClr val="646464"/>
                </a:solidFill>
              </a:defRPr>
            </a:pPr>
            <a:r>
              <a:t>  ‣ 不同孔结构对比</a:t>
            </a:r>
          </a:p>
          <a:p>
            <a:pPr>
              <a:spcAft>
                <a:spcPts val="800"/>
              </a:spcAft>
              <a:defRPr sz="1800">
                <a:solidFill>
                  <a:srgbClr val="646464"/>
                </a:solidFill>
              </a:defRPr>
            </a:pPr>
            <a:r>
              <a:t>  ‣ 操作参数优化</a:t>
            </a:r>
          </a:p>
          <a:p>
            <a:pPr>
              <a:spcAft>
                <a:spcPts val="800"/>
              </a:spcAft>
              <a:defRPr sz="1800">
                <a:solidFill>
                  <a:srgbClr val="646464"/>
                </a:solidFill>
              </a:defRPr>
            </a:pPr>
            <a:r>
              <a:t>  ‣ 长期稳定性测试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Q3-Q4：传热传质与结垢机理研究</a:t>
            </a:r>
          </a:p>
          <a:p>
            <a:pPr>
              <a:spcAft>
                <a:spcPts val="800"/>
              </a:spcAft>
              <a:defRPr sz="1800">
                <a:solidFill>
                  <a:srgbClr val="646464"/>
                </a:solidFill>
              </a:defRPr>
            </a:pPr>
            <a:r>
              <a:t>  ‣ 传热传质机理实验</a:t>
            </a:r>
          </a:p>
          <a:p>
            <a:pPr>
              <a:spcAft>
                <a:spcPts val="800"/>
              </a:spcAft>
              <a:defRPr sz="1800">
                <a:solidFill>
                  <a:srgbClr val="646464"/>
                </a:solidFill>
              </a:defRPr>
            </a:pPr>
            <a:r>
              <a:t>  ‣ 结垢机理研究</a:t>
            </a:r>
          </a:p>
          <a:p>
            <a:pPr>
              <a:spcAft>
                <a:spcPts val="800"/>
              </a:spcAft>
              <a:defRPr sz="1800">
                <a:solidFill>
                  <a:srgbClr val="646464"/>
                </a:solidFill>
              </a:defRPr>
            </a:pPr>
            <a:r>
              <a:t>  ‣ 抗垢策略验证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5.5 阶段三/四：理论分析与成果总结（第3-4年）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第3年：理论模型构建与论文发表</a:t>
            </a:r>
          </a:p>
          <a:p>
            <a:pPr>
              <a:spcAft>
                <a:spcPts val="800"/>
              </a:spcAft>
              <a:defRPr sz="1800">
                <a:solidFill>
                  <a:srgbClr val="646464"/>
                </a:solidFill>
              </a:defRPr>
            </a:pPr>
            <a:r>
              <a:t>  ‣ 理论模型建立</a:t>
            </a:r>
          </a:p>
          <a:p>
            <a:pPr>
              <a:spcAft>
                <a:spcPts val="800"/>
              </a:spcAft>
              <a:defRPr sz="1800">
                <a:solidFill>
                  <a:srgbClr val="646464"/>
                </a:solidFill>
              </a:defRPr>
            </a:pPr>
            <a:r>
              <a:t>  ‣ 数值模拟验证</a:t>
            </a:r>
          </a:p>
          <a:p>
            <a:pPr>
              <a:spcAft>
                <a:spcPts val="800"/>
              </a:spcAft>
              <a:defRPr sz="1800">
                <a:solidFill>
                  <a:srgbClr val="646464"/>
                </a:solidFill>
              </a:defRPr>
            </a:pPr>
            <a:r>
              <a:t>  ‣ 高水平论文发表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第4年：优化改进与工程验证</a:t>
            </a:r>
          </a:p>
          <a:p>
            <a:pPr>
              <a:spcAft>
                <a:spcPts val="800"/>
              </a:spcAft>
              <a:defRPr sz="1800">
                <a:solidFill>
                  <a:srgbClr val="646464"/>
                </a:solidFill>
              </a:defRPr>
            </a:pPr>
            <a:r>
              <a:t>  ‣ 工程应用优化</a:t>
            </a:r>
          </a:p>
          <a:p>
            <a:pPr>
              <a:spcAft>
                <a:spcPts val="800"/>
              </a:spcAft>
              <a:defRPr sz="1800">
                <a:solidFill>
                  <a:srgbClr val="646464"/>
                </a:solidFill>
              </a:defRPr>
            </a:pPr>
            <a:r>
              <a:t>  ‣ 成本效益分析</a:t>
            </a:r>
          </a:p>
          <a:p>
            <a:pPr>
              <a:spcAft>
                <a:spcPts val="800"/>
              </a:spcAft>
              <a:defRPr sz="1800">
                <a:solidFill>
                  <a:srgbClr val="646464"/>
                </a:solidFill>
              </a:defRPr>
            </a:pPr>
            <a:r>
              <a:t>  ‣ 项目结题验收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5.6 项目风险管理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技术风险：材料制备工艺波动 → 预案：多方比较制备工艺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进度风险：实验周期较长 → 预案：并行开展多项实验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应用风险：成本控制挑战 → 预案：分阶段成本核算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5.7 研究团队与支撑条件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研究团队：教授2名、副教授2名、研究生5-8名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实验平台：材料制备实验室、性能测试平台、微观表征中心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计算资源：高性能计算集群、分子动力学软件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合作交流：国内外学术会议、联合研究计划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5.8 项目预期贡献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理论贡献：丰富界面蒸发理论体系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技术贡献：突破海水淡化能效瓶颈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应用贡献：为沿海地区水资源保障提供新方案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期待各位专家批评指正！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0"/>
            <a:ext cx="12191695" cy="32004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感谢各位专家的指导和建议！</a:t>
            </a:r>
          </a:p>
          <a:p>
            <a:pPr algn="ctr">
              <a:defRPr sz="2800">
                <a:solidFill>
                  <a:srgbClr val="FFFFFF"/>
                </a:solidFill>
              </a:defRPr>
            </a:pPr>
            <a:r>
              <a:t>欢迎批评指正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