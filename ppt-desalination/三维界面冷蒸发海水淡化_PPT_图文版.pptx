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三维界面冷蒸发海水淡化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6699"/>
                </a:solidFill>
              </a:defRPr>
            </a:pPr>
            <a:r>
              <a:t>新型多孔钛三维界面技术在海水淡化中的应用研究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04040"/>
                </a:solidFill>
              </a:defRPr>
            </a:pPr>
            <a:r>
              <a:t>汇报人：李响</a:t>
            </a:r>
          </a:p>
          <a:p/>
          <a:p>
            <a:pPr algn="ctr">
              <a:defRPr sz="1800">
                <a:solidFill>
                  <a:srgbClr val="404040"/>
                </a:solidFill>
              </a:defRPr>
            </a:pPr>
            <a:r>
              <a:t>上海海事大学</a:t>
            </a:r>
          </a:p>
          <a:p/>
          <a:p>
            <a:pPr algn="ctr">
              <a:defRPr sz="1600">
                <a:solidFill>
                  <a:srgbClr val="404040"/>
                </a:solidFill>
              </a:defRPr>
            </a:pPr>
            <a:r>
              <a:t>2026年4月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目  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99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04040"/>
                </a:solidFill>
              </a:defRPr>
            </a:pPr>
            <a:r>
              <a:t>项目简介和研究目的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6517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99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51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04040"/>
                </a:solidFill>
              </a:defRPr>
            </a:pPr>
            <a:r>
              <a:t>研究内容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4747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99"/>
                </a:solidFill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04040"/>
                </a:solidFill>
              </a:defRPr>
            </a:pPr>
            <a:r>
              <a:t>研究方法和技术路线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2976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99"/>
                </a:solidFill>
              </a:defRPr>
            </a:pPr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42976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04040"/>
                </a:solidFill>
              </a:defRPr>
            </a:pPr>
            <a:r>
              <a:t>创新点及拟达到目标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1206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99"/>
                </a:solidFill>
              </a:defRPr>
            </a:pPr>
            <a: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5120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04040"/>
                </a:solidFill>
              </a:defRPr>
            </a:pPr>
            <a:r>
              <a:t>进度安排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Part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项目简介和研究目的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1.1 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全球水资源危机日益严峻，约20亿人面临水资源短缺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海水淡化是解决水资源短缺的重要途径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传统海水淡化技术存在能耗高、成本高等问题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亟需开发新型低碳、高效的海水淡化技术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1.2 传统技术痛点分析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技术类型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能耗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主要问题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多级闪蒸（MSF）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8-10 kWh/m³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能耗高、设备庞大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反渗透（RO）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3-5 kWh/m³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膜污染严重、预处理复杂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低温多效蒸馏（MED）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6-8 kWh/m³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结垢问题突出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传统蒸发技术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5-8 kWh/m³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热效率低、操作复杂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1.3 研究目的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核心目标：揭示耦合机理与抗结垢机制，为海水淡化提供理论支撑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具体目标一：构建多孔钛三维界面蒸发海水淡化系统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具体目标二：深入揭示传质传热耦合机理，探究孔隙结构对蒸发性能的影响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具体目标三：揭示结垢规律并提出抗结垢策略，为高效海水淡化提供理论与工程指导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Part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研究内容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2.1 研究内容概述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多孔钛三维界面材料设计：材料制备与表征、孔隙结构优化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传质传热机理研究：耦合机理分析、理论模型构建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抗结垢机制研究：结垢规律探究、抗垢策略开发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2.2 多孔钛三维界面技术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多孔钛材料特性：高比表面积、优异导热性、良好耐腐蚀性、可调控孔隙结构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三维界面设计原理：毛细作用增强、蒸发面积最大化、热传导优化、蒸汽逃逸通道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技术优势：能耗降低50%以上、常温（20-30°C）蒸发、结垢显著减轻、效率提高30%以上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2.3 系统组成示意图</a:t>
            </a:r>
          </a:p>
        </p:txBody>
      </p:sp>
      <p:pic>
        <p:nvPicPr>
          <p:cNvPr id="4" name="Picture 3" descr="system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2895" cy="68795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图1：多孔钛三维界面冷蒸发海水淡化系统示意图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2.4 传统平面蒸发 vs 三维界面蒸发</a:t>
            </a:r>
          </a:p>
        </p:txBody>
      </p:sp>
      <p:pic>
        <p:nvPicPr>
          <p:cNvPr id="4" name="Picture 3" descr="principl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2895" cy="4398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图2：传统平面蒸发与三维界面蒸发原理对比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2.5 技术性能对比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传统技术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本项目技术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蒸发温度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60-80°C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常温（20-30°C）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能耗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降低50%以上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结垢程度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严重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显著减轻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蒸发效率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中等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提高30%以上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设备复杂度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复杂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简化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研究方法和技术路线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3.1 总体技术路线</a:t>
            </a:r>
          </a:p>
        </p:txBody>
      </p:sp>
      <p:pic>
        <p:nvPicPr>
          <p:cNvPr id="4" name="Picture 3" descr="tech_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2895" cy="4398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图3：项目总体技术路线图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3.2 材料制备与表征技术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材料制备方法：粉末冶金法、溶胶-凝胶法、3D打印法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微观结构表征：SEM形貌观察、BET孔隙分析、XRD晶相鉴定、XPS表面化学分析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3.3 先进表征技术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技术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英文缩写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主要用途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关键参数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扫描电镜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SEM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微观形貌观察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放大倍数、表面元素分布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比表面积分析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BET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孔隙结构测定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比表面积、孔径分布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X射线衍射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XRD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晶相鉴定分析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晶粒大小、晶体结构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X射线光电子能谱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XPS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表面化学分析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元素组成、化学态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3.4 计算模拟方法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分子动力学模拟（MD）：研究水分子与材料表面相互作用、计算蒸发能垒、分析离子分布规律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有限元模拟（FEM）：温度场分布模拟、速度场分析、浓度场模拟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3.5 理论模型构建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传热传质模型：基于能量守恒的能量方程、基于质量守恒的质量方程、考虑毛细作用的渗流模型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蒸发速率预测模型：结合孔结构和操作条件、预测蒸发速率、指导结构优化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3.6 性能评价指标体系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指标类别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具体指标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单位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测试方法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蒸发性能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蒸发速率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kg/m²·h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质量法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蒸发性能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能量效率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热平衡法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水质指标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产水盐度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mg/L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电导率法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稳定性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运行周期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长期测试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耐久性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材料寿命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加速老化试验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Part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创新点及拟达到目标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4.1 四大核心创新点</a:t>
            </a:r>
          </a:p>
        </p:txBody>
      </p:sp>
      <p:pic>
        <p:nvPicPr>
          <p:cNvPr id="4" name="Picture 3" descr="innovatio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2895" cy="60087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图4：四大核心创新点概览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4.2 创新点详解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创新一 - 三维界面设计：提出三维界面协同增效设计理念，实现毛细作用、热传导、蒸发扩散的协同优化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创新二 - 多孔钛材料：首创多孔钛三维骨架作为蒸发基底，高导热+高比表面积+优异耐腐蚀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创新三 - 耦合机理：首次系统揭示传热-传质-相变多物理场耦合机理，建立定量预测模型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创新四 - 抗垢策略：提出疏水-亲水图案化抗垢新策略，结合外场辅助实现双重抗垢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4.3 多孔钛材料微观结构</a:t>
            </a:r>
          </a:p>
        </p:txBody>
      </p:sp>
      <p:pic>
        <p:nvPicPr>
          <p:cNvPr id="4" name="Picture 3" descr="material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2895" cy="42612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图5：多孔钛材料微观结构示意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4.4 结垢机理与抗垢策略</a:t>
            </a:r>
          </a:p>
        </p:txBody>
      </p:sp>
      <p:pic>
        <p:nvPicPr>
          <p:cNvPr id="4" name="Picture 3" descr="fouling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2895" cy="43936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图6：结垢形成机理及抗结垢策略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4.5 性能指标对比</a:t>
            </a:r>
          </a:p>
        </p:txBody>
      </p:sp>
      <p:pic>
        <p:nvPicPr>
          <p:cNvPr id="4" name="Picture 3" descr="performa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2895" cy="61520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图7：传统技术与本项目目标性能对比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4.6 预期研究成果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学术论文：SCI一区论文3-4篇，核心期刊2-3篇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专利申请：发明专利3-5项，实用新型2-3项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技术标准：形成1套技术标准或规范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人才培养：培养研究生3-5名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4.7 应用前景与市场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应用领域：海水淡化、苦咸水处理、废水回收利用、工业废水零排放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市场规模：全球百亿美元级，中国千亿人民币级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社会效益：缓解水资源短缺，助力碳中和目标，带动材料装备全产业链发展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Part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进度安排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5.1 项目总体进度（4年）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2011680" cy="1097280"/>
          </a:xfrm>
          <a:prstGeom prst="roundRect">
            <a:avLst/>
          </a:prstGeom>
          <a:solidFill>
            <a:srgbClr val="CCE5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第1年</a:t>
            </a:r>
            <a:br/>
            <a:r>
              <a:t>材料设计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88920" y="3200400"/>
            <a:ext cx="182880" cy="182880"/>
          </a:xfrm>
          <a:prstGeom prst="right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17520" y="2743200"/>
            <a:ext cx="2011680" cy="1097280"/>
          </a:xfrm>
          <a:prstGeom prst="roundRect">
            <a:avLst/>
          </a:prstGeom>
          <a:solidFill>
            <a:srgbClr val="CCE5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第2年</a:t>
            </a:r>
            <a:br/>
            <a:r>
              <a:t>实验研究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074920" y="3200400"/>
            <a:ext cx="182880" cy="182880"/>
          </a:xfrm>
          <a:prstGeom prst="right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03520" y="2743200"/>
            <a:ext cx="2011680" cy="1097280"/>
          </a:xfrm>
          <a:prstGeom prst="roundRect">
            <a:avLst/>
          </a:prstGeom>
          <a:solidFill>
            <a:srgbClr val="CCE5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第3年</a:t>
            </a:r>
            <a:br/>
            <a:r>
              <a:t>理论分析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360920" y="3200400"/>
            <a:ext cx="182880" cy="182880"/>
          </a:xfrm>
          <a:prstGeom prst="right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89520" y="2743200"/>
            <a:ext cx="2011680" cy="1097280"/>
          </a:xfrm>
          <a:prstGeom prst="roundRect">
            <a:avLst/>
          </a:prstGeom>
          <a:solidFill>
            <a:srgbClr val="CCE5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第4年</a:t>
            </a:r>
            <a:br/>
            <a:r>
              <a:t>成果总结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5.2 详细进度安排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主要任务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预期成果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第一阶段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第1年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材料设计、制备、表征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材料样品、基本性能数据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第二阶段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第2年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性能测试、机理研究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性能优化方案、机理报告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第三阶段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第3年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理论分析、模型构建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理论模型、学术论文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第四阶段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第4年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优化改进、工程验证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示范工程、结题验收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5.3 阶段一：方案设计与材料制备（第1年）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Q1-Q2：文献调研与方案设计：国内外研究现状调研、技术路线确定、实验方案设计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Q3-Q4：多孔钛材料制备与表征：多孔钛材料制备、微观结构表征、初步性能测试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5.4 阶段二：实验研究（第2年）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Q1-Q2：系统性能测试与优化：不同孔结构对比、操作参数优化、长期稳定性测试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Q3-Q4：传热传质与结垢机理研究：传热传质机理实验、结垢机理研究、抗垢策略验证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5.5 阶段三/四：理论分析与成果总结（第3-4年）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第3年：理论模型构建与论文发表：理论模型建立、数值模拟验证、高水平论文发表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第4年：优化改进与工程验证：工程应用优化、成本效益分析、项目结题验收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5.6 项目风险管理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技术风险：材料制备工艺波动 → 预案：多方比较制备工艺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进度风险：实验周期较长 → 预案：并行开展多项实验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应用风险：成本控制挑战 → 预案：分阶段成本核算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5.7 研究团队与支撑条件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研究团队：教授2名、副教授2名、研究生5-8名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实验平台：材料制备实验室、性能测试平台、微观表征中心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计算资源：高性能计算集群、分子动力学软件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合作交流：国内外学术会议、联合研究计划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5.8 项目预期贡献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理论贡献：丰富界面蒸发理论体系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技术贡献：突破海水淡化能效瓶颈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应用贡献：为沿海地区水资源保障提供新方案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感谢各位专家批评指正！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感谢各位专家的指导和建议！</a:t>
            </a:r>
          </a:p>
          <a:p>
            <a:pPr algn="ctr">
              <a:defRPr sz="2800">
                <a:solidFill>
                  <a:srgbClr val="FFFFFF"/>
                </a:solidFill>
              </a:defRPr>
            </a:pPr>
            <a:r>
              <a:t>欢迎批评指正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