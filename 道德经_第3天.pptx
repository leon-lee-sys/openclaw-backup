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国学经典24章 · 第三天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600" b="1">
                <a:solidFill>
                  <a:srgbClr val="1E3C72"/>
                </a:solidFill>
              </a:defRPr>
            </a:pPr>
            <a:r>
              <a:t>《道德经》第7-9章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4682B4"/>
                </a:solidFill>
              </a:defRPr>
            </a:pPr>
            <a:r>
              <a:t>天长地久 · 上善若水 · 功遂身退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5303520"/>
            <a:ext cx="5486400" cy="109728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i="1">
                <a:solidFill>
                  <a:srgbClr val="1E3C72"/>
                </a:solidFill>
              </a:defRPr>
            </a:pPr>
            <a:r>
              <a:t>「上善若水，水善利万物而不争。」</a:t>
            </a:r>
          </a:p>
          <a:p>
            <a:pPr algn="ctr">
              <a:defRPr sz="1400">
                <a:solidFill>
                  <a:srgbClr val="969696"/>
                </a:solidFill>
              </a:defRPr>
            </a:pPr>
            <a:r>
              <a:t>—— 《道德经》第八章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69696"/>
                </a:solidFill>
              </a:defRPr>
            </a:pPr>
            <a:r>
              <a:t>1/12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第七章 · 天长地久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8229600" cy="201168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E3C72"/>
                </a:solidFill>
              </a:defRPr>
            </a:pPr>
            <a:r>
              <a:t>【原文】</a:t>
            </a:r>
          </a:p>
          <a:p>
            <a:pPr>
              <a:spcBef>
                <a:spcPts val="400"/>
              </a:spcBef>
              <a:defRPr sz="1800">
                <a:solidFill>
                  <a:srgbClr val="333333"/>
                </a:solidFill>
              </a:defRPr>
            </a:pPr>
            <a:r>
              <a:t>天长地久。天地所以能长且久者，以其不自生，故能长生。</a:t>
            </a:r>
          </a:p>
          <a:p>
            <a:pPr>
              <a:spcBef>
                <a:spcPts val="400"/>
              </a:spcBef>
              <a:defRPr sz="1800">
                <a:solidFill>
                  <a:srgbClr val="333333"/>
                </a:solidFill>
              </a:defRPr>
            </a:pPr>
            <a:r>
              <a:t>是以圣人后其身而身先，外其身而身存。</a:t>
            </a:r>
          </a:p>
          <a:p>
            <a:pPr>
              <a:spcBef>
                <a:spcPts val="400"/>
              </a:spcBef>
              <a:defRPr sz="1800">
                <a:solidFill>
                  <a:srgbClr val="333333"/>
                </a:solidFill>
              </a:defRPr>
            </a:pPr>
            <a:r>
              <a:t>非以其无私邪？故能成其私。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3C72"/>
                </a:solidFill>
              </a:defRPr>
            </a:pPr>
            <a:r>
              <a:t>【白话解读】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天地之道：天地之所以永恒存在，是因为它们不为自己而运作，故能长生。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圣人之道：圣人把自己放在最后，反而居于前列；置身度外，反而保全自身。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核心智慧：正因为无私，反而成就了自己——看似矛盾，实为天道。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69696"/>
                </a:solidFill>
              </a:defRPr>
            </a:pPr>
            <a:r>
              <a:t>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第七章 · 典故与案例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8229600" cy="137160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C72"/>
                </a:solidFill>
              </a:defRPr>
            </a:pPr>
            <a:r>
              <a:t>【中国典故】范蠡三散财</a:t>
            </a:r>
          </a:p>
          <a:p>
            <a:pPr>
              <a:defRPr sz="1300">
                <a:solidFill>
                  <a:srgbClr val="333333"/>
                </a:solidFill>
              </a:defRPr>
            </a:pPr>
            <a:r>
              <a:t>春秋范蠡辅佐越王勾践灭吴后，主动隐退，散尽家财，泛舟五湖。后又白手起家成为巨富，被后人尊为'商圣'。正因不争功名，反而名垂千古。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743200"/>
            <a:ext cx="8229600" cy="137160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C72"/>
                </a:solidFill>
              </a:defRPr>
            </a:pPr>
            <a:r>
              <a:t>【历史镜鉴】张良的智慧</a:t>
            </a:r>
          </a:p>
          <a:p>
            <a:pPr>
              <a:defRPr sz="1300">
                <a:solidFill>
                  <a:srgbClr val="333333"/>
                </a:solidFill>
              </a:defRPr>
            </a:pPr>
            <a:r>
              <a:t>张良运筹帷幄，助刘邦定天下功成名就后，选择辟谷修道，不恋权位。功成身退，保全自身与家族安稳。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206240"/>
            <a:ext cx="8229600" cy="137160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C72"/>
                </a:solidFill>
              </a:defRPr>
            </a:pPr>
            <a:r>
              <a:t>【国外案例】华盛顿急流勇退</a:t>
            </a:r>
          </a:p>
          <a:p>
            <a:pPr>
              <a:defRPr sz="1300">
                <a:solidFill>
                  <a:srgbClr val="333333"/>
                </a:solidFill>
              </a:defRPr>
            </a:pPr>
            <a:r>
              <a:t>美国国父华盛顿在连任两届总统后，主动放弃权力，开创了和平交接的先河。他放弃的是权力，得到的是永恒的尊敬。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69696"/>
                </a:solidFill>
              </a:defRPr>
            </a:pPr>
            <a:r>
              <a:t>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第七章 · 精华提炼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8229600" cy="91440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333333"/>
                </a:solidFill>
              </a:defRPr>
            </a:pPr>
            <a:r>
              <a:t>• 核心要义：天地不为自己，故能长生；圣人不私，故能成其私。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86000"/>
            <a:ext cx="8229600" cy="91440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333333"/>
                </a:solidFill>
              </a:defRPr>
            </a:pPr>
            <a:r>
              <a:t>• 关键词：无私、后其身、外其身、功成身退。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291840"/>
            <a:ext cx="8229600" cy="91440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333333"/>
                </a:solidFill>
              </a:defRPr>
            </a:pPr>
            <a:r>
              <a:t>• 生活践行：竞争中不争一时之名，得理时让人三分。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297680"/>
            <a:ext cx="8229600" cy="91440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333333"/>
                </a:solidFill>
              </a:defRPr>
            </a:pPr>
            <a:r>
              <a:t>• 管理启示：成事之后不居功，主动分享荣誉给团队。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303520"/>
            <a:ext cx="8229600" cy="914400"/>
          </a:xfrm>
          <a:prstGeom prst="roundRect">
            <a:avLst/>
          </a:prstGeom>
          <a:solidFill>
            <a:srgbClr val="4682B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一句话总结：不为自己，反而能成就自己；懂得退让，才是真正的领先。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69696"/>
                </a:solidFill>
              </a:defRPr>
            </a:pPr>
            <a:r>
              <a:t>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第八章 · 上善若水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8229600" cy="219456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E3C72"/>
                </a:solidFill>
              </a:defRPr>
            </a:pPr>
            <a:r>
              <a:t>【原文】</a:t>
            </a:r>
          </a:p>
          <a:p>
            <a:pPr>
              <a:spcBef>
                <a:spcPts val="400"/>
              </a:spcBef>
              <a:defRPr sz="1700">
                <a:solidFill>
                  <a:srgbClr val="333333"/>
                </a:solidFill>
              </a:defRPr>
            </a:pPr>
            <a:r>
              <a:t>上善若水。水善利万物而不争，处众人之所恶，故几于道。</a:t>
            </a:r>
          </a:p>
          <a:p>
            <a:pPr>
              <a:spcBef>
                <a:spcPts val="400"/>
              </a:spcBef>
              <a:defRPr sz="1700">
                <a:solidFill>
                  <a:srgbClr val="333333"/>
                </a:solidFill>
              </a:defRPr>
            </a:pPr>
            <a:r>
              <a:t>居善地，心善渊，与善仁，言善信，正善治，事善能，动善时。</a:t>
            </a:r>
          </a:p>
          <a:p>
            <a:pPr>
              <a:spcBef>
                <a:spcPts val="400"/>
              </a:spcBef>
              <a:defRPr sz="1700">
                <a:solidFill>
                  <a:srgbClr val="333333"/>
                </a:solidFill>
              </a:defRPr>
            </a:pPr>
            <a:r>
              <a:t>夫唯不争，故无尤。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3C72"/>
                </a:solidFill>
              </a:defRPr>
            </a:pPr>
            <a:r>
              <a:t>【白话解读】</a:t>
            </a:r>
          </a:p>
          <a:p>
            <a:pPr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• 最高善行：最高善行就像水：水善于帮助万物，却不与万物争夺。</a:t>
            </a:r>
          </a:p>
          <a:p>
            <a:pPr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• 接近于道：水甘居众人厌恶的低洼之地，所以最接近于「道」。</a:t>
            </a:r>
          </a:p>
          <a:p>
            <a:pPr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• 人生七善：居地、心渊、与仁、言信、政治，事能、动时——水的七大美德。</a:t>
            </a:r>
          </a:p>
          <a:p>
            <a:pPr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• 不争无尤：正因为不争，所以无过——这便是水智慧的完美诠释。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69696"/>
                </a:solidFill>
              </a:defRPr>
            </a:pPr>
            <a:r>
              <a:t>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第八章 · 典故与案例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8229600" cy="137160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C72"/>
                </a:solidFill>
              </a:defRPr>
            </a:pPr>
            <a:r>
              <a:t>【中国典故】大禹治水</a:t>
            </a:r>
          </a:p>
          <a:p>
            <a:pPr>
              <a:defRPr sz="1300">
                <a:solidFill>
                  <a:srgbClr val="333333"/>
                </a:solidFill>
              </a:defRPr>
            </a:pPr>
            <a:r>
              <a:t>不像父亲鲧那样用堵截，而是顺水之性，疏通九河，让水自行流入大海。不争之争，是最高明的治理。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743200"/>
            <a:ext cx="8229600" cy="137160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C72"/>
                </a:solidFill>
              </a:defRPr>
            </a:pPr>
            <a:r>
              <a:t>【历史人物】曹参的'萧规曹随'</a:t>
            </a:r>
          </a:p>
          <a:p>
            <a:pPr>
              <a:defRPr sz="1300">
                <a:solidFill>
                  <a:srgbClr val="333333"/>
                </a:solidFill>
              </a:defRPr>
            </a:pPr>
            <a:r>
              <a:t>汉相曹参继萧何之后，不折腾、不创新，沿用既有制度。不争功，不炫耀，反而百姓安宁。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206240"/>
            <a:ext cx="8229600" cy="137160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C72"/>
                </a:solidFill>
              </a:defRPr>
            </a:pPr>
            <a:r>
              <a:t>【国外案例】圣雄甘地</a:t>
            </a:r>
          </a:p>
          <a:p>
            <a:pPr>
              <a:defRPr sz="1300">
                <a:solidFill>
                  <a:srgbClr val="333333"/>
                </a:solidFill>
              </a:defRPr>
            </a:pPr>
            <a:r>
              <a:t>甘地以'非暴力不合作'抗争，看似柔软如水，却最终瓦解了大英帝国。柔弱胜刚强，不争而天下莫能与之争。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69696"/>
                </a:solidFill>
              </a:defRPr>
            </a:pPr>
            <a:r>
              <a:t>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第八章 · 精华提炼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8229600" cy="91440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333333"/>
                </a:solidFill>
              </a:defRPr>
            </a:pPr>
            <a:r>
              <a:t>• 核心要义：最高善行如水，不争而利万物，故几于道。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86000"/>
            <a:ext cx="8229600" cy="91440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333333"/>
                </a:solidFill>
              </a:defRPr>
            </a:pPr>
            <a:r>
              <a:t>• 关键词：上善若水、不争、利万物、七善（居，心，与，言，正，事，动）。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291840"/>
            <a:ext cx="8229600" cy="91440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333333"/>
                </a:solidFill>
              </a:defRPr>
            </a:pPr>
            <a:r>
              <a:t>• 生活践行：遇事不硬顶，顺势而为；待人不争长短，平和相处。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297680"/>
            <a:ext cx="8229600" cy="91440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333333"/>
                </a:solidFill>
              </a:defRPr>
            </a:pPr>
            <a:r>
              <a:t>• 商业启示：好的产品如水，润物无声，不强迫用户，自然受欢迎。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303520"/>
            <a:ext cx="8229600" cy="914400"/>
          </a:xfrm>
          <a:prstGeom prst="roundRect">
            <a:avLst/>
          </a:prstGeom>
          <a:solidFill>
            <a:srgbClr val="4682B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一句话总结：柔弱胜刚强，不争而无尤——水是道最形象的化身。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69696"/>
                </a:solidFill>
              </a:defRPr>
            </a:pPr>
            <a:r>
              <a:t>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第九章 · 功遂身退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8229600" cy="201168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E3C72"/>
                </a:solidFill>
              </a:defRPr>
            </a:pPr>
            <a:r>
              <a:t>【原文】</a:t>
            </a:r>
          </a:p>
          <a:p>
            <a:pPr>
              <a:spcBef>
                <a:spcPts val="400"/>
              </a:spcBef>
              <a:defRPr sz="1800">
                <a:solidFill>
                  <a:srgbClr val="333333"/>
                </a:solidFill>
              </a:defRPr>
            </a:pPr>
            <a:r>
              <a:t>持而盈之，不如其已。揣而锐之，不可长保。</a:t>
            </a:r>
          </a:p>
          <a:p>
            <a:pPr>
              <a:spcBef>
                <a:spcPts val="400"/>
              </a:spcBef>
              <a:defRPr sz="1800">
                <a:solidFill>
                  <a:srgbClr val="333333"/>
                </a:solidFill>
              </a:defRPr>
            </a:pPr>
            <a:r>
              <a:t>金玉满堂，莫之能守。富贵而骄，自遗其咎。</a:t>
            </a:r>
          </a:p>
          <a:p>
            <a:pPr>
              <a:spcBef>
                <a:spcPts val="400"/>
              </a:spcBef>
              <a:defRPr sz="1800">
                <a:solidFill>
                  <a:srgbClr val="333333"/>
                </a:solidFill>
              </a:defRPr>
            </a:pPr>
            <a:r>
              <a:t>功遂身退，天之道。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3C72"/>
                </a:solidFill>
              </a:defRPr>
            </a:pPr>
            <a:r>
              <a:t>【白话解读】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持盈揣锐：执持盈满，不如及时停止；磨砺锋芒，难以长久保持。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金玉满堂：金玉满堂，无法守得住；富贵而骄，必自留祸患。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功遂身退：功成业就之后，全身而退——这是自然天道运行的法则。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核心警示：贪多求全、锋芒毕露、富贵而骄——三者皆为取祸之道。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69696"/>
                </a:solidFill>
              </a:defRPr>
            </a:pPr>
            <a:r>
              <a:t>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第九章 · 典故与案例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8229600" cy="137160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C72"/>
                </a:solidFill>
              </a:defRPr>
            </a:pPr>
            <a:r>
              <a:t>【中国典故】范蠡功成身退</a:t>
            </a:r>
          </a:p>
          <a:p>
            <a:pPr>
              <a:defRPr sz="1300">
                <a:solidFill>
                  <a:srgbClr val="333333"/>
                </a:solidFill>
              </a:defRPr>
            </a:pPr>
            <a:r>
              <a:t>越王灭吴后，范蠡深知'蜚鸟尽，良弓藏'之理，主动泛舟五湖。而文种不听劝，终被勾践赐死。功成身退，保全性命；贪恋权位，祸及其身。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743200"/>
            <a:ext cx="8229600" cy="137160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C72"/>
                </a:solidFill>
              </a:defRPr>
            </a:pPr>
            <a:r>
              <a:t>【曾国藩的智慧</a:t>
            </a:r>
          </a:p>
          <a:p>
            <a:pPr>
              <a:defRPr sz="1300">
                <a:solidFill>
                  <a:srgbClr val="333333"/>
                </a:solidFill>
              </a:defRPr>
            </a:pPr>
            <a:r>
              <a:t>曾国藩平定太平天国后，主动削减湘军，裁撤万余兵力，向朝廷表明无政治野心。正是这份'功遂身退'的清醒，保全了自身与家族。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206240"/>
            <a:ext cx="8229600" cy="137160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C72"/>
                </a:solidFill>
              </a:defRPr>
            </a:pPr>
            <a:r>
              <a:t>【国外案例】诺贝尔的明智选择</a:t>
            </a:r>
          </a:p>
          <a:p>
            <a:pPr>
              <a:defRPr sz="1300">
                <a:solidFill>
                  <a:srgbClr val="333333"/>
                </a:solidFill>
              </a:defRPr>
            </a:pPr>
            <a:r>
              <a:t>诺贝尔在世时将大部分财产设立和平奖，功成之后不将财富留给子孙，而是回馈社会。他的名字因此永垂不朽。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69696"/>
                </a:solidFill>
              </a:defRPr>
            </a:pPr>
            <a:r>
              <a:t>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第九章 · 精华提炼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8229600" cy="91440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333333"/>
                </a:solidFill>
              </a:defRPr>
            </a:pPr>
            <a:r>
              <a:t>• 核心要义：功成身退是自然天道，贪恋富贵、锋芒毕露必招祸患。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86000"/>
            <a:ext cx="8229600" cy="91440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333333"/>
                </a:solidFill>
              </a:defRPr>
            </a:pPr>
            <a:r>
              <a:t>• 关键词：持盈、揣锐、富贵而骄、功遂身退。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291840"/>
            <a:ext cx="8229600" cy="91440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333333"/>
                </a:solidFill>
              </a:defRPr>
            </a:pPr>
            <a:r>
              <a:t>• 生活践行：见好就收，不追求完美结局；得意时想到退路。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297680"/>
            <a:ext cx="8229600" cy="91440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333333"/>
                </a:solidFill>
              </a:defRPr>
            </a:pPr>
            <a:r>
              <a:t>• 领导力启示：功高震主时，主动让功于团队，不独占荣誉。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303520"/>
            <a:ext cx="8229600" cy="914400"/>
          </a:xfrm>
          <a:prstGeom prst="roundRect">
            <a:avLst/>
          </a:prstGeom>
          <a:solidFill>
            <a:srgbClr val="4682B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一句话总结：月圆则亏，水满则溢——功成之日，即是退隐之时。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69696"/>
                </a:solidFill>
              </a:defRPr>
            </a:pPr>
            <a:r>
              <a:t>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三天精华 · 第7-9章总览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8229600" cy="137160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E3C72"/>
                </a:solidFill>
              </a:defRPr>
            </a:pPr>
            <a:r>
              <a:t>第七章 · 天长地久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核心：无私故能成其私</a:t>
            </a:r>
          </a:p>
          <a:p>
            <a:pPr>
              <a:defRPr sz="1300" i="1">
                <a:solidFill>
                  <a:srgbClr val="4682B4"/>
                </a:solidFill>
              </a:defRPr>
            </a:pPr>
            <a:r>
              <a:t>原文：后其身而身先，外其身而身存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743200"/>
            <a:ext cx="8229600" cy="137160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E3C72"/>
                </a:solidFill>
              </a:defRPr>
            </a:pPr>
            <a:r>
              <a:t>第八章 · 上善若水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核心：不争故无尤</a:t>
            </a:r>
          </a:p>
          <a:p>
            <a:pPr>
              <a:defRPr sz="1300" i="1">
                <a:solidFill>
                  <a:srgbClr val="4682B4"/>
                </a:solidFill>
              </a:defRPr>
            </a:pPr>
            <a:r>
              <a:t>原文：水善利万物而不争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206240"/>
            <a:ext cx="8229600" cy="137160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E3C72"/>
                </a:solidFill>
              </a:defRPr>
            </a:pPr>
            <a:r>
              <a:t>第九章 · 功遂身退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核心：功成身退天之道</a:t>
            </a:r>
          </a:p>
          <a:p>
            <a:pPr>
              <a:defRPr sz="1300" i="1">
                <a:solidFill>
                  <a:srgbClr val="4682B4"/>
                </a:solidFill>
              </a:defRPr>
            </a:pPr>
            <a:r>
              <a:t>原文：持而盈之不如其已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69696"/>
                </a:solidFill>
              </a:defRPr>
            </a:pPr>
            <a:r>
              <a:t>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第7-9章 · 学习完成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2286000"/>
            <a:ext cx="6400800" cy="182880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i="1">
                <a:solidFill>
                  <a:srgbClr val="1E3C72"/>
                </a:solidFill>
              </a:defRPr>
            </a:pPr>
            <a:r>
              <a:t>「知足者富，强行者有志。</a:t>
            </a:r>
          </a:p>
          <a:p>
            <a:pPr algn="ctr">
              <a:defRPr sz="2200" i="1">
                <a:solidFill>
                  <a:srgbClr val="1E3C72"/>
                </a:solidFill>
              </a:defRPr>
            </a:pPr>
            <a:r>
              <a:t>不失其所者久，死而不亡者寿。」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4682B4"/>
                </a:solidFill>
              </a:defRPr>
            </a:pPr>
            <a:r>
              <a:t>天长地久 · 上善若水 · 功遂身退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69696"/>
                </a:solidFill>
              </a:defRPr>
            </a:pPr>
            <a:r>
              <a:t>12/12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