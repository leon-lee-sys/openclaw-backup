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6400800" cy="36576"/>
          </a:xfrm>
          <a:prstGeom prst="rect">
            <a:avLst/>
          </a:prstGeom>
          <a:solidFill>
            <a:srgbClr val="C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02814"/>
                </a:solidFill>
              </a:defRPr>
            </a:pPr>
            <a:r>
              <a:t>道德经 · 第三天</a:t>
            </a:r>
          </a:p>
          <a:p>
            <a:pPr algn="ctr">
              <a:spcBef>
                <a:spcPts val="1200"/>
              </a:spcBef>
              <a:defRPr sz="2200">
                <a:solidFill>
                  <a:srgbClr val="B45A28"/>
                </a:solidFill>
              </a:defRPr>
            </a:pPr>
            <a:r>
              <a:t>第7章 · 第8章 · 第9章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657600"/>
            <a:ext cx="6400800" cy="36576"/>
          </a:xfrm>
          <a:prstGeom prst="rect">
            <a:avLst/>
          </a:prstGeom>
          <a:solidFill>
            <a:srgbClr val="C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B45A28"/>
                </a:solidFill>
              </a:defRPr>
            </a:pPr>
            <a:r>
              <a:t>「上善若水，水善利万物而不争。」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A03C"/>
                </a:solidFill>
              </a:defRPr>
            </a:pPr>
            <a:r>
              <a:t>Chapter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第7章 · 天长地久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1463040"/>
          </a:xfrm>
          <a:prstGeom prst="roundRect">
            <a:avLst/>
          </a:prstGeom>
          <a:solidFill>
            <a:srgbClr val="F0E8DA"/>
          </a:solidFill>
          <a:ln>
            <a:solidFill>
              <a:srgbClr val="C8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02814"/>
                </a:solidFill>
              </a:defRPr>
            </a:pPr>
            <a:r>
              <a:t>天长地久。天地所以能长且久者，以其不自生，故能长生。是以圣人后其身而身先，外其身而身存。非以其无私邪？故能成其私。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1E0F"/>
                </a:solidFill>
              </a:defRPr>
            </a:pPr>
            <a:r>
              <a:t>📜 天地之所以永恒存在，是因为它们不为自己而运作，故能长生。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1E0F"/>
                </a:solidFill>
              </a:defRPr>
            </a:pPr>
            <a:r>
              <a:t>📜 圣人把自己放在最后，反而居于前列；置身度外，反而保全自身。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1E0F"/>
                </a:solidFill>
              </a:defRPr>
            </a:pPr>
            <a:r>
              <a:t>📜 正因为无私，反而成就了自己——看似矛盾，实为天道。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A03C"/>
                </a:solidFill>
              </a:defRPr>
            </a:pPr>
            <a:r>
              <a:t>Chapter 7 ·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第7章 · 典故与案例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🏛️ 【中国典故】范蠡三散财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春秋范蠡辅佐越王勾践灭吴后，主动隐退，散尽家财，泛舟五湖。后又白手起家成为巨富，三散三聚，被后人尊为'商圣'。正因不争功名，反而名垂千古。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5760" y="3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🏛️ 【历史镜鉴】张良的智慧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张良运筹帷幄，助刘邦定天下功成名就后，选择辟谷修道，不恋权位。功成身退，保全自身与家族安稳。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🌍 【国外案例】华盛顿急流勇退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美国国父华盛顿在连任两届总统后，主动放弃权力，开创了和平交接的先河。他放弃的是权力，得到的是永恒的尊敬。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663440" y="3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💡 【管理启示】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真正卓越的领导者懂得'后其身而身先'——不争功、不揽权，反而赢得团队的追随与信任。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A03C"/>
                </a:solidFill>
              </a:defRPr>
            </a:pPr>
            <a:r>
              <a:t>Chapter 7 ·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第7章 · 精华提炼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核心要义：天地不为自己，故能长生；圣人不私，故能成其私。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关键词：无私、后其身、外其身、功成身退。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生活践行：竞争中不争一时之名，得理时让人三分。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管理启示：成事之后不居功，主动分享荣誉给团队。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7680960" cy="1188720"/>
          </a:xfrm>
          <a:prstGeom prst="roundRect">
            <a:avLst/>
          </a:prstGeom>
          <a:solidFill>
            <a:srgbClr val="B4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💡 一句话总结：不为自己，反而能成就自己；懂得退让，才是真正的领先。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A03C"/>
                </a:solidFill>
              </a:defRPr>
            </a:pPr>
            <a:r>
              <a:t>Chapter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第8章 · 上善若水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1645920"/>
          </a:xfrm>
          <a:prstGeom prst="roundRect">
            <a:avLst/>
          </a:prstGeom>
          <a:solidFill>
            <a:srgbClr val="F0E8DA"/>
          </a:solidFill>
          <a:ln>
            <a:solidFill>
              <a:srgbClr val="C8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02814"/>
                </a:solidFill>
              </a:defRPr>
            </a:pPr>
            <a:r>
              <a:t>上善若水。水善利万物而不争，处众人之所恶，故几于道。居善地，心善渊，与善仁，言善信，正善治，事善能，动善时。夫唯不争，故无尤。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1E0F"/>
                </a:solidFill>
              </a:defRPr>
            </a:pPr>
            <a:r>
              <a:t>📜 最高善行就像水：水善于帮助万物，却不与万物争夺。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1E0F"/>
                </a:solidFill>
              </a:defRPr>
            </a:pPr>
            <a:r>
              <a:t>📜 水甘居众人厌恶的低洼之地，所以最接近于「道」。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1E0F"/>
                </a:solidFill>
              </a:defRPr>
            </a:pPr>
            <a:r>
              <a:t>📜 人生七善：居地、心渊、与仁、言信、政治、事能、动时。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1E0F"/>
                </a:solidFill>
              </a:defRPr>
            </a:pPr>
            <a:r>
              <a:t>📜 正因为不争，所以无过——这便是水智慧的完美诠释。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A03C"/>
                </a:solidFill>
              </a:defRPr>
            </a:pPr>
            <a:r>
              <a:t>Chapter 8 ·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第8章 · 典故与案例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🏛️ 【中国典故】水利万物而不争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大禹治水：不像父亲鲧那样用堵截，而是顺水之性，疏通九河，让水自行流入大海。不争之争，是最高明的治理。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5760" y="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🏛️ 【历史人物】曹参的'萧规曹随'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汉相曹参继萧何之后，不折腾、不创新，沿用既有制度。他说'高祖与萧何定天下，法令即明矣'——不争功，不炫耀，反而百姓安宁。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🌍 【国外案例】圣雄甘地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甘地以'非暴力不合作'抗争，看似柔软如水，却最终瓦解了大英帝国。柔弱胜刚强，不争而天下莫能与之争。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663440" y="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💡 【日常应用】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遇冲突时，先退一步——不是软弱，而是'居善地'；说话留余地，言出必践——是'言善信'；顺势而为，不强行改变——是'动善时'。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A03C"/>
                </a:solidFill>
              </a:defRPr>
            </a:pPr>
            <a:r>
              <a:t>Chapter 8 ·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第8章 · 精华提炼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核心要义：最高善行如水，不争而利万物，故几于道。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关键词：上善若水、不争、利万物、七善（居、心、与、言、正、事、动）。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生活践行：遇事不硬顶，顺势而为；待人不争长短，平和相处。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商业启示：好的产品如水，润物无声，不强迫用户，自然受欢迎。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7680960" cy="1188720"/>
          </a:xfrm>
          <a:prstGeom prst="roundRect">
            <a:avLst/>
          </a:prstGeom>
          <a:solidFill>
            <a:srgbClr val="B4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💡 一句话总结：柔弱胜刚强，不争而无尤——水是道最形象的化身。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A03C"/>
                </a:solidFill>
              </a:defRPr>
            </a:pPr>
            <a:r>
              <a:t>Chapter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第9章 · 功遂身退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1463040"/>
          </a:xfrm>
          <a:prstGeom prst="roundRect">
            <a:avLst/>
          </a:prstGeom>
          <a:solidFill>
            <a:srgbClr val="F0E8DA"/>
          </a:solidFill>
          <a:ln>
            <a:solidFill>
              <a:srgbClr val="C8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02814"/>
                </a:solidFill>
              </a:defRPr>
            </a:pPr>
            <a:r>
              <a:t>持而盈之，不如其已。揣而锐之，不可长保。金玉满堂，莫之能守。富贵而骄，自遗其咎。功遂身退，天之道。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1E0F"/>
                </a:solidFill>
              </a:defRPr>
            </a:pPr>
            <a:r>
              <a:t>📜 执持盈满，不如及时停止；磨砺锋芒，难以长久保持。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1E0F"/>
                </a:solidFill>
              </a:defRPr>
            </a:pPr>
            <a:r>
              <a:t>📜 金玉满堂，无法守得住；富贵而骄，必自留祸患。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1E0F"/>
                </a:solidFill>
              </a:defRPr>
            </a:pPr>
            <a:r>
              <a:t>📜 功成业就之后，全身而退——这是自然天道运行的法则。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1E0F"/>
                </a:solidFill>
              </a:defRPr>
            </a:pPr>
            <a:r>
              <a:t>📜 核心警示：贪多求全、锋芒毕露、富贵而骄——三者皆为取祸之道。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A03C"/>
                </a:solidFill>
              </a:defRPr>
            </a:pPr>
            <a:r>
              <a:t>Chapter 9 ·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第9章 · 典故与案例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🏛️ 【中国典故】范蠡功成身退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越王灭吴后，范蠡深知'蜚鸟尽，良弓藏'之理，主动泛舟五湖。而文种不听劝，终被勾践赐死。功成身退，保全性命；贪恋权位，祸及其身。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5760" y="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🏛️ 【曾国藩的智慧】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曾国藩平定太平天国后，主动削减湘军，裁撤万余兵力，向朝廷表明无政治野心。正是这份'功遂身退'的清醒，保全了自身与家族。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🌍 【国外案例】诺贝尔的明智选择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诺贝尔在世时将大部分财产设立和平奖，功成之后不将财富留给子孙，而是回馈社会。他的名字因此永垂不朽。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663440" y="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💡 【投资理财启示】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21E0F"/>
                </a:solidFill>
              </a:defRPr>
            </a:pPr>
            <a:r>
              <a:t>'金玉满堂，莫之能守'——单一资产过于集中，风险极高。分散配置、适时止盈，是现代投资对这一古老智慧的最佳注解。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A03C"/>
                </a:solidFill>
              </a:defRPr>
            </a:pPr>
            <a:r>
              <a:t>Chapter 9 ·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第9章 · 精华提炼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核心要义：功成身退是自然天道，贪恋富贵、锋芒毕露必招祸患。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关键词：持盈、揣锐、富贵而骄、功遂身退。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生活践行：见好就收，不追求完美结局；得意时想到退路。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1E0F"/>
                </a:solidFill>
              </a:defRPr>
            </a:pPr>
            <a:r>
              <a:t>✅ 领导力启示：功高震主时，主动让功于团队，不独占荣誉。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7680960" cy="1188720"/>
          </a:xfrm>
          <a:prstGeom prst="roundRect">
            <a:avLst/>
          </a:prstGeom>
          <a:solidFill>
            <a:srgbClr val="B4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💡 一句话总结：月圆则亏，水满则溢——功成之日，即是退隐之时。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A03C"/>
                </a:solidFill>
              </a:defRPr>
            </a:pPr>
            <a:r>
              <a:t>Review: Ch 7-9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三天精华 · 第7-9章总览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"/>
            <a:ext cx="8229600" cy="1280160"/>
          </a:xfrm>
          <a:prstGeom prst="roundRect">
            <a:avLst/>
          </a:prstGeom>
          <a:solidFill>
            <a:srgbClr val="F0E8DA"/>
          </a:solidFill>
          <a:ln>
            <a:solidFill>
              <a:srgbClr val="C8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5A28"/>
                </a:solidFill>
              </a:defRPr>
            </a:pPr>
            <a:r>
              <a:t>第7章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02814"/>
                </a:solidFill>
              </a:defRPr>
            </a:pPr>
            <a:r>
              <a:t>天长地久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"/>
            <a:ext cx="6217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1E0F"/>
                </a:solidFill>
              </a:defRPr>
            </a:pPr>
            <a:r>
              <a:t>核心：无私故能成其私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"/>
            <a:ext cx="6217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>
                <a:solidFill>
                  <a:srgbClr val="B45A28"/>
                </a:solidFill>
              </a:defRPr>
            </a:pPr>
            <a:r>
              <a:t>原文：后其身而身先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"/>
            <a:ext cx="8229600" cy="1280160"/>
          </a:xfrm>
          <a:prstGeom prst="roundRect">
            <a:avLst/>
          </a:prstGeom>
          <a:solidFill>
            <a:srgbClr val="F0E8DA"/>
          </a:solidFill>
          <a:ln>
            <a:solidFill>
              <a:srgbClr val="C8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5A28"/>
                </a:solidFill>
              </a:defRPr>
            </a:pPr>
            <a:r>
              <a:t>第8章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02814"/>
                </a:solidFill>
              </a:defRPr>
            </a:pPr>
            <a:r>
              <a:t>上善若水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"/>
            <a:ext cx="6217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1E0F"/>
                </a:solidFill>
              </a:defRPr>
            </a:pPr>
            <a:r>
              <a:t>核心：不争故无尤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"/>
            <a:ext cx="6217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>
                <a:solidFill>
                  <a:srgbClr val="B45A28"/>
                </a:solidFill>
              </a:defRPr>
            </a:pPr>
            <a:r>
              <a:t>原文：水善利万物而不争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"/>
            <a:ext cx="8229600" cy="1280160"/>
          </a:xfrm>
          <a:prstGeom prst="roundRect">
            <a:avLst/>
          </a:prstGeom>
          <a:solidFill>
            <a:srgbClr val="F0E8DA"/>
          </a:solidFill>
          <a:ln>
            <a:solidFill>
              <a:srgbClr val="C8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5A28"/>
                </a:solidFill>
              </a:defRPr>
            </a:pPr>
            <a:r>
              <a:t>第9章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02814"/>
                </a:solidFill>
              </a:defRPr>
            </a:pPr>
            <a:r>
              <a:t>功遂身退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"/>
            <a:ext cx="6217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1E0F"/>
                </a:solidFill>
              </a:defRPr>
            </a:pPr>
            <a:r>
              <a:t>核心：功成身退天之道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"/>
            <a:ext cx="6217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>
                <a:solidFill>
                  <a:srgbClr val="B45A28"/>
                </a:solidFill>
              </a:defRPr>
            </a:pPr>
            <a:r>
              <a:t>原文：持而盈之不如其已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6400800" cy="36576"/>
          </a:xfrm>
          <a:prstGeom prst="rect">
            <a:avLst/>
          </a:prstGeom>
          <a:solidFill>
            <a:srgbClr val="C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502814"/>
                </a:solidFill>
              </a:defRPr>
            </a:pPr>
            <a:r>
              <a:t>第7-9章 · 学习完成</a:t>
            </a:r>
          </a:p>
          <a:p>
            <a:pPr algn="ctr">
              <a:spcBef>
                <a:spcPts val="1400"/>
              </a:spcBef>
              <a:defRPr sz="2000">
                <a:solidFill>
                  <a:srgbClr val="B45A28"/>
                </a:solidFill>
              </a:defRPr>
            </a:pPr>
            <a:r>
              <a:t>天长地久 · 上善若水 · 功遂身退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36576"/>
          </a:xfrm>
          <a:prstGeom prst="rect">
            <a:avLst/>
          </a:prstGeom>
          <a:solidFill>
            <a:srgbClr val="C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B45A28"/>
                </a:solidFill>
              </a:defRPr>
            </a:pPr>
            <a:r>
              <a:t>「知足者富，强行者有志。不失其所者久，死而不亡者寿。」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5A28"/>
                </a:solidFill>
              </a:defRPr>
            </a:pPr>
            <a:r>
              <a:t>《道德经》打卡学习 · 小燕子 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