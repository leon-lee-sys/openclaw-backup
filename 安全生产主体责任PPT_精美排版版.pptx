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全面落实安全生产主体责任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682B4"/>
                </a:solidFill>
              </a:defRPr>
            </a:pPr>
            <a:r>
              <a:t>有力保障企业高质量发展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926080"/>
            <a:ext cx="36576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E3C72"/>
                </a:solidFill>
              </a:defRPr>
            </a:pPr>
            <a:r>
              <a:t>—— 企业安全生产主体责任落实专题培训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4572000"/>
            <a:ext cx="731520" cy="731520"/>
          </a:xfrm>
          <a:prstGeom prst="ellips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0" y="4572000"/>
            <a:ext cx="731520" cy="731520"/>
          </a:xfrm>
          <a:prstGeom prst="ellips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2026年4月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1/80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188720"/>
            <a:ext cx="548640" cy="54864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783080"/>
            <a:ext cx="73152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574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主要存在问题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73152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34640"/>
            <a:ext cx="548640" cy="548640"/>
          </a:xfrm>
          <a:prstGeom prst="ellipse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80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429000"/>
            <a:ext cx="7315200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2/80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培训背景与目的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18872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3444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安全生产是企业发展的生命线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19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落实主体责任是安全生产的根本保障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近年来安全生产形势依然严峻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5468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需要各级领导和员工共同参与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947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通过培训提升全员安全意识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3/80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习近平总书记关于安全生产重要论述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i="1">
                <a:solidFill>
                  <a:srgbClr val="1E3C72"/>
                </a:solidFill>
              </a:defRPr>
            </a:pPr>
            <a:r>
              <a:t>"人命关天，发展决不能以牺牲人的生命为代价。"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8229600" cy="9144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i="1">
                <a:solidFill>
                  <a:srgbClr val="1E3C72"/>
                </a:solidFill>
              </a:defRPr>
            </a:pPr>
            <a:r>
              <a:t>"安全生产必须警钟长鸣、常抓不懈。"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i="1">
                <a:solidFill>
                  <a:srgbClr val="1E3C72"/>
                </a:solidFill>
              </a:defRPr>
            </a:pPr>
            <a:r>
              <a:t>"落实安全生产责任制，要落实行业主管部门直接监管、安全监管部门综合监管、地方政府属地监管。"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8229600" cy="9144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i="1">
                <a:solidFill>
                  <a:srgbClr val="1E3C72"/>
                </a:solidFill>
              </a:defRPr>
            </a:pPr>
            <a:r>
              <a:t>"要抓紧建立健全安全生产责任体系。"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安全生产是必须守住的底线，不可逾越的红线！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4/80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重要指示批示核心要点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【红线意识】</a:t>
            </a:r>
            <a:r>
              <a:rPr sz="1300">
                <a:solidFill>
                  <a:srgbClr val="333333"/>
                </a:solidFill>
              </a:rPr>
              <a:t>发展绝不能以牺牲安全为代价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【两个至上】</a:t>
            </a:r>
            <a:r>
              <a:rPr sz="1300">
                <a:solidFill>
                  <a:srgbClr val="333333"/>
                </a:solidFill>
              </a:rPr>
              <a:t>人民至上，生命至上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【两个根本】</a:t>
            </a:r>
            <a:r>
              <a:rPr sz="1300">
                <a:solidFill>
                  <a:srgbClr val="333333"/>
                </a:solidFill>
              </a:rPr>
              <a:t>从根本上消除隐患、从根本上解决问题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29000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【三管三必须】</a:t>
            </a:r>
            <a:r>
              <a:rPr sz="1300">
                <a:solidFill>
                  <a:srgbClr val="333333"/>
                </a:solidFill>
              </a:rPr>
              <a:t>管行业必须管安全、管业务必须管安全、管生产经营必须管安全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【四不放过】</a:t>
            </a:r>
            <a:r>
              <a:rPr sz="1300">
                <a:solidFill>
                  <a:srgbClr val="333333"/>
                </a:solidFill>
              </a:rPr>
              <a:t>事故原因不查清不放过，责任人员不处理不放过、整改措施不落实不放过、教训不汲取不放过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5/80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安全生产重大事故警示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685800"/>
          </a:xfrm>
          <a:prstGeom prst="round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2020年福建泉州欣佳酒店"3·7"坍塌事故 — 29人死亡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8229600" cy="685800"/>
          </a:xfrm>
          <a:prstGeom prst="round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2021年湖北十堰燃气爆炸事故 — 25人死亡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8229600" cy="685800"/>
          </a:xfrm>
          <a:prstGeom prst="round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2022年湖南长沙望城区自建房倒塌事故 — 54人死亡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29000"/>
            <a:ext cx="8229600" cy="685800"/>
          </a:xfrm>
          <a:prstGeom prst="round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2023年北京丰台长峰医院火灾 — 29人死亡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8229600" cy="685800"/>
          </a:xfrm>
          <a:prstGeom prst="roundRect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2024年广东梅大高速塌方灾害 — 48人死亡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血的教训——安全绝非小事，责任重于泰山！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6/80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第一部分</a:t>
            </a:r>
          </a:p>
          <a:p>
            <a:pPr algn="ctr">
              <a:defRPr sz="1800">
                <a:solidFill>
                  <a:srgbClr val="96B4DC"/>
                </a:solidFill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7/80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3152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43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落实主体责任是法律的基本要求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73152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落实主体责任是企业发展的根本保障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73152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97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落实主体责任是员工权益的基本保障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29000"/>
            <a:ext cx="73152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落实主体责任是社会和谐的重要基础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8/80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（一）落实主体责任是法律的基本要求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《安全生产法》明确规定生产经营单位是安全生产责任主体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55448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主要负责人对本单位安全生产工作全面负责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4884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3. 建立健全安全生产责任制是法定义务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74320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4. 未落实主体责任将承担法律责任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33756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B43232"/>
                </a:solidFill>
              </a:defRPr>
            </a:pPr>
            <a:r>
              <a:t>法律是底线，落实主体责任是企业的根本义务！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9/80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（二）落实主体责任是企业发展的根本保障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安全生产是企业可持续发展的重要基石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55448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事故会给企业带来巨大经济损失和声誉损害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4884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3. 落实主体责任有助于提升企业管理水平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74320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4. 良好的安全业绩是企业核心竞争力的重要组成部分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337560"/>
            <a:ext cx="137160" cy="1371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3C72"/>
                </a:solidFill>
              </a:defRPr>
            </a:pPr>
            <a:r>
              <a:t>安全是最大的效益，安全出问题一切归零！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10/80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8C8"/>
                </a:solidFill>
              </a:defRPr>
            </a:pPr>
            <a:r>
              <a:t>第二部分</a:t>
            </a:r>
          </a:p>
          <a:p>
            <a:pPr algn="ctr">
              <a:defRPr sz="1800">
                <a:solidFill>
                  <a:srgbClr val="FFDCDC"/>
                </a:solidFill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主要存在问题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11/80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二、主要存在问题概述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企业层面存在的问题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管理层面的问题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员工层面的问题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外部环境的问题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12/80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（一）企业层面存在的问题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安全投入不足，设施设备老化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安全管理制度不健全或不落实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安全教育培训流于形式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62656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隐患排查治理不深入、不彻底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应急救援预案不完善或演练不足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违章指挥、违章作业行为时有发生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13/80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（二）管理层面的问题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安全生产责任制落实不到位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安全监管执法"宽松软虚"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安全检查走形式、走过场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62656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安全考核奖惩机制不完善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安全信息传达不畅通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安全责任追究不严格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14/80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（三）员工层面的问题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安全意识淡薄，存在侥幸心理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安全知识技能不足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对安全隐患识别能力不强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62656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自我保护意识有待提高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应急处置和自救互救能力欠缺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不愿意主动报告安全隐患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15/80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（四）外部环境的问题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部分行业产能过剩，安全投入受限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小微企业安全基础薄弱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中介机构安全服务市场不规范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62656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安全监管力量配置不足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社会安全文化建设滞后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安全技术支撑能力有待加强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16/80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DCC8"/>
                </a:solidFill>
              </a:defRPr>
            </a:pPr>
            <a:r>
              <a:t>第三部分</a:t>
            </a:r>
          </a:p>
          <a:p>
            <a:pPr algn="ctr">
              <a:defRPr sz="1800">
                <a:solidFill>
                  <a:srgbClr val="96C8B4"/>
                </a:solidFill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17/80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三、提升领导力带动企业落实责任概述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领导者安全角色认知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领导者安全行为规范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安全领导力提升路径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8229600" cy="64008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安全文化建设推动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18/80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（一）领导者安全角色认知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097280" cy="502920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决策者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704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将安全纳入企业战略规划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097280" cy="502920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践行者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以身作则遵守安全规定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1097280" cy="502920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推动者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3347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持续推进安全文化建设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39"/>
            <a:ext cx="1097280" cy="502920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监督者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64991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督促安全责任落实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领导重视是抓好安全生产工作的关键！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19/80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（二）领导者安全行为规范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亲自研究部署安全工作，定期召开安全会议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8229600" cy="54864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定期带队检查安全生产，深入现场发现问题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8229600" cy="54864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带头参加安全教育培训，提升自身安全素养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62656"/>
            <a:ext cx="8229600" cy="54864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及时研究解决安全问题，整改隐患不过夜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54864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建立健全安全考核机制，奖惩分明促落实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公开表彰安全先进典型，营造良好安全氛围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20/80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（三）安全领导力提升路径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3716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理念先行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7043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树立"安全第一"理念，形成安全文化认同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3716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制度保障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0195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完善安全责任体系，明确各层各级职责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13716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能力提升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3347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加强安全培训学习，提高安全管理水平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39"/>
            <a:ext cx="13716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行为示范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364991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领导以身作则，带动全员安全行为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59"/>
            <a:ext cx="13716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持续改进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096511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定期评估反馈，不断优化安全管理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21/80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（四）安全文化建设推动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安全愿景：</a:t>
            </a:r>
            <a:r>
              <a:rPr sz="1400">
                <a:solidFill>
                  <a:srgbClr val="333333"/>
                </a:solidFill>
              </a:rPr>
              <a:t>零事故、零伤害、零污染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安全使命：</a:t>
            </a:r>
            <a:r>
              <a:rPr sz="1400">
                <a:solidFill>
                  <a:srgbClr val="333333"/>
                </a:solidFill>
              </a:rPr>
              <a:t>保障员工生命安全，守护企业健康发展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安全价值观：</a:t>
            </a:r>
            <a:r>
              <a:rPr sz="1400">
                <a:solidFill>
                  <a:srgbClr val="333333"/>
                </a:solidFill>
              </a:rPr>
              <a:t>安全是最大的效益，安全是最好的业绩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29000"/>
            <a:ext cx="8229600" cy="685800"/>
          </a:xfrm>
          <a:prstGeom prst="round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安全行为准则：</a:t>
            </a:r>
            <a:r>
              <a:rPr sz="1400">
                <a:solidFill>
                  <a:srgbClr val="333333"/>
                </a:solidFill>
              </a:rPr>
              <a:t>遵章守纪、按章操作、拒绝违章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6450"/>
                </a:solidFill>
              </a:defRPr>
            </a:pPr>
            <a:r>
              <a:t>文化管人管灵魂，制度管人管行为！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22/80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