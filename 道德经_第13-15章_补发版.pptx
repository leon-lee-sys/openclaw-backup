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道德经</a:t>
            </a:r>
          </a:p>
          <a:p>
            <a:pPr algn="ctr">
              <a:defRPr sz="3600">
                <a:solidFill>
                  <a:srgbClr val="4682B4"/>
                </a:solidFill>
              </a:defRPr>
            </a:pPr>
            <a:r>
              <a:t>第13-15章（补发）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3C72"/>
                </a:solidFill>
              </a:defRPr>
            </a:pPr>
            <a:r>
              <a:t>第十三章 身与天下 | 第十四章 视之不见</a:t>
            </a:r>
            <a:br/>
            <a:r>
              <a:t>第十五章 微妙玄通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2026年4月（补发）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第十三章 身与天下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宠辱若惊，贵大患若身。</a:t>
            </a:r>
            <a:br/>
            <a:r>
              <a:t>何谓宠辱若惊？</a:t>
            </a:r>
            <a:br/>
            <a:r>
              <a:t>宠为下，得之若惊，失之若惊，</a:t>
            </a:r>
            <a:br/>
            <a:r>
              <a:t>是谓宠辱若惊。</a:t>
            </a:r>
            <a:br/>
            <a:r>
              <a:t>何谓贵大患若身？</a:t>
            </a:r>
            <a:br/>
            <a:r>
              <a:t>吾所以有大患者，为吾有身，</a:t>
            </a:r>
            <a:br/>
            <a:r>
              <a:t>及吾无身，吾有何患？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【解读】受宠或受辱都像受惊一样，害怕大的祸患是因为看重自身。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宠辱若惊：受宠和受辱都令人惊惶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贵大患若身：重视祸患如同重视身体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无身则无患：如果没有自身，还有什么祸患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故贵以身为天下：把天下看得比自身更重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第十四章 视之不见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视之不见名曰夷，听之不闻名曰希，</a:t>
            </a:r>
            <a:br/>
            <a:r>
              <a:t>搏之不得名曰微。</a:t>
            </a:r>
            <a:br/>
            <a:r>
              <a:t>此三者不可致诘，故混而为一。</a:t>
            </a:r>
            <a:br/>
            <a:r>
              <a:t>其上不皦，其下不昧，</a:t>
            </a:r>
            <a:br/>
            <a:r>
              <a:t>绳绳不可名，复归于无物。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【解读】道看不见、听不到、摸不着，是超越感官的存在。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视之不见曰夷：看不见叫做夷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听之不闻名曰希：听不到叫做希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搏之不得名曰微：摸不着叫做微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道之为物，惟恍惟惚：道这个东西，若有若无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第十五章 微妙玄通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古之善为士者，微妙玄通，深不可识。</a:t>
            </a:r>
            <a:br/>
            <a:r>
              <a:t>夫唯不可识，故强为之容：</a:t>
            </a:r>
            <a:br/>
            <a:r>
              <a:t>豫兮若冬涉川，犹兮若畏四邻，</a:t>
            </a:r>
            <a:br/>
            <a:r>
              <a:t>俨兮其若客，涣兮若冰之将释，</a:t>
            </a:r>
            <a:br/>
            <a:r>
              <a:t>敦兮其若朴，旷兮其若谷。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【解读】古代得道之人，精微奥妙而深远通达，深不可识。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豫兮若冬涉川：谨慎啊，如冬天涉水过河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犹兮若畏四邻：警觉啊，如害怕四邻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俨兮其若客：庄重啊，如做客一样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涣兮若冰之释：柔和啊，如冰雪消融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第13-15章 总结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第十三章：宠辱若惊，贵身若贵天下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第十四章：视之不见，听之不闻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第十五章：微妙玄通，深不可识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914400" y="3657600"/>
            <a:ext cx="7315200" cy="13716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E3C72"/>
                </a:solidFill>
              </a:defRPr>
            </a:pPr>
            <a:r>
              <a:t>【核心要义】</a:t>
            </a:r>
            <a:br/>
            <a:r>
              <a:t>道超越感官，无法用言语形容。</a:t>
            </a:r>
            <a:br/>
            <a:r>
              <a:t>得道之人谨慎谦下，微妙玄通。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修正后的学习进度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第1-4天 | 第1-12章 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91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第5天 | 第13-15章 ← 补发（今天）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860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第6天 | 第16-18章（之前已发）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80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第7天 | 第19-21章（之前已发）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74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第8天 | 第22-24章（明天）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0690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第9天 | 第25-27章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6634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总结说明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828800"/>
            <a:ext cx="7315200" cy="27432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【问题原因】</a:t>
            </a:r>
            <a:br/>
            <a:br/>
            <a:r>
              <a:t>从第5天开始，课件制作就跳过了第13-15章。</a:t>
            </a:r>
            <a:br/>
            <a:br/>
            <a:r>
              <a:t>第5天直接发了16-18章，第6天发了19-21章，第7天发了22-24章。</a:t>
            </a:r>
            <a:br/>
            <a:br/>
            <a:r>
              <a:t>本次补发第13-15章，之后按正确顺序继续。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