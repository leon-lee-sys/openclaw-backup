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全面落实安全生产主体责任</a:t>
            </a:r>
          </a:p>
          <a:p>
            <a:pPr algn="ctr">
              <a:defRPr sz="3200" b="1">
                <a:solidFill>
                  <a:srgbClr val="4682B4"/>
                </a:solidFill>
              </a:defRPr>
            </a:pPr>
            <a:r>
              <a:t>有力保障企业高质量发展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926080"/>
            <a:ext cx="36576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E3C72"/>
                </a:solidFill>
              </a:defRPr>
            </a:pPr>
            <a:r>
              <a:t>—— 企业安全生产主体责任落实专题培训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2026年4月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1/80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188720"/>
            <a:ext cx="548640" cy="54864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落实企业安全生产主体责任的重要性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主要存在问题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34640"/>
            <a:ext cx="548640" cy="548640"/>
          </a:xfrm>
          <a:prstGeom prst="ellipse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80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提升领导力带动企业落实责任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2/80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培训背景与目的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3444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安全生产是企业发展的生命线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19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落实主体责任是安全生产的根本保障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近年来安全生产形势依然严峻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5468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需要各级领导和员工共同参与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947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通过培训提升全员安全意识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3/80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习近平总书记关于安全生产重要论述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"人命关天，发展决不能以牺牲人的生命为代价。"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1031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"安全生产必须警钟长鸣、常抓不懈。"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31089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"落实安全生产责任制，要落实行业主管部门直接监管、安全监管部门综合监管、地方政府属地监管。"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4114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"要抓紧建立健全安全生产责任体系。"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303520"/>
            <a:ext cx="8229600" cy="109728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43232"/>
                </a:solidFill>
              </a:defRPr>
            </a:pPr>
            <a:r>
              <a:t>安全生产是必须守住的底线，不可逾越的红线！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4/80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重要指示批示核心要点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85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【红线意识】</a:t>
            </a:r>
            <a:r>
              <a:rPr sz="1300">
                <a:solidFill>
                  <a:srgbClr val="333333"/>
                </a:solidFill>
              </a:rPr>
              <a:t>发展绝不能以牺牲安全为代价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685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【两个至上】</a:t>
            </a:r>
            <a:r>
              <a:rPr sz="1300">
                <a:solidFill>
                  <a:srgbClr val="333333"/>
                </a:solidFill>
              </a:rPr>
              <a:t>人民至上，生命至上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685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【两个根本】</a:t>
            </a:r>
            <a:r>
              <a:rPr sz="1300">
                <a:solidFill>
                  <a:srgbClr val="333333"/>
                </a:solidFill>
              </a:rPr>
              <a:t>从根本上消除隐患、从根本上解决问题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29000"/>
            <a:ext cx="8229600" cy="685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【三管三必须】</a:t>
            </a:r>
            <a:r>
              <a:rPr sz="1300">
                <a:solidFill>
                  <a:srgbClr val="333333"/>
                </a:solidFill>
              </a:rPr>
              <a:t>管行业必须管安全、管业务必须管安全、管生产经营必须管安全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206240"/>
            <a:ext cx="8229600" cy="685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3232"/>
                </a:solidFill>
              </a:rPr>
              <a:t>【四不放过】</a:t>
            </a:r>
            <a:r>
              <a:rPr sz="1300">
                <a:solidFill>
                  <a:srgbClr val="333333"/>
                </a:solidFill>
              </a:rPr>
              <a:t>事故原因不查清不放过，责任人员不处理不放过、整改措施不落实不放过、教训不汲取不放过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5/80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安全生产重大事故警示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2020年福建泉州欣佳酒店"3·7"坍塌事故 — 29人死亡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2021年湖北十堰燃气爆炸事故 — 25人死亡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2022年湖南长沙望城区自建房倒塌事故 — 54人死亡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2900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2023年北京丰台长峰医院火灾 — 29人死亡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20624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2024年广东梅大高速塌方灾害 — 48人死亡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5303520"/>
            <a:ext cx="8229600" cy="109728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43232"/>
                </a:solidFill>
              </a:defRPr>
            </a:pPr>
            <a:r>
              <a:t>血的教训——安全绝非小事，责任重于泰山！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6/80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第一部分</a:t>
            </a:r>
            <a:br/>
            <a:r>
              <a:t>PART 0一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落实企业安全生产主体责任的重要性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7/80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一、落实企业安全生产主体责任的重要性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73152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43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落实主体责任是法律的基本要求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74519"/>
            <a:ext cx="73152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落实主体责任是企业发展的根本保障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651760"/>
            <a:ext cx="73152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974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落实主体责任是员工权益的基本保障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429000"/>
            <a:ext cx="73152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（四）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落实主体责任是社会和谐的重要基础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8/80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（一）落实主体责任是法律的基本要求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《安全生产法》明确规定生产经营单位是安全生产责任主体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主要负责人对本单位安全生产工作全面负责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建立健全安全生产责任制是法定义务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未落实主体责任将承担法律责任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303520"/>
            <a:ext cx="8229600" cy="109728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43232"/>
                </a:solidFill>
              </a:defRPr>
            </a:pPr>
            <a:r>
              <a:t>法律是底线，落实主体责任是企业的根本义务！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9/80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（二）落实主体责任是企业发展的根本保障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安全生产是企业可持续发展的重要基石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事故会给企业带来巨大经济损失和声誉损害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落实主体责任有助于提升企业管理水平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良好的安全业绩是企业核心竞争力的重要组成部分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303520"/>
            <a:ext cx="8229600" cy="109728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E3C72"/>
                </a:solidFill>
              </a:defRPr>
            </a:pPr>
            <a:r>
              <a:t>安全是最大的效益，安全出问题一切归零！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10/80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第二部分</a:t>
            </a:r>
            <a:br/>
            <a:r>
              <a:t>PART 0二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主要存在问题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11/80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二、主要存在问题概述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（一）</a:t>
            </a:r>
            <a:r>
              <a:rPr sz="1600" b="1">
                <a:solidFill>
                  <a:srgbClr val="333333"/>
                </a:solidFill>
              </a:rPr>
              <a:t>企业层面存在的问题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92024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（二）</a:t>
            </a:r>
            <a:r>
              <a:rPr sz="1600" b="1">
                <a:solidFill>
                  <a:srgbClr val="333333"/>
                </a:solidFill>
              </a:rPr>
              <a:t>管理层面的问题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74320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（三）</a:t>
            </a:r>
            <a:r>
              <a:rPr sz="1600" b="1">
                <a:solidFill>
                  <a:srgbClr val="333333"/>
                </a:solidFill>
              </a:rPr>
              <a:t>员工层面的问题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56616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3232"/>
                </a:solidFill>
              </a:rPr>
              <a:t>（四）</a:t>
            </a:r>
            <a:r>
              <a:rPr sz="1600" b="1">
                <a:solidFill>
                  <a:srgbClr val="333333"/>
                </a:solidFill>
              </a:rPr>
              <a:t>外部环境的问题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12/80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（一）企业层面存在的问题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安全投入不足，设施设备老化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安全管理制度不健全或不落实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安全教育培训流于形式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隐患排查治理不深入、不彻底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84448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应急救援预案不完善或演练不足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206240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违章指挥、违章作业行为时有发生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13/80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（二）管理层面的问题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安全生产责任制落实不到位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安全监管执法"宽松软虚"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安全检查走形式、走过场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安全考核奖惩机制不完善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84448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安全信息传达不畅通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206240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安全责任追究不严格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14/80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（三）员工层面的问题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安全意识淡薄，存在侥幸心理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安全知识技能不足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对安全隐患识别能力不强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自我保护意识有待提高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84448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应急处置和自救互救能力欠缺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206240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不愿意主动报告安全隐患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15/80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（四）外部环境的问题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部分行业产能过剩，安全投入受限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小微企业安全基础薄弱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中介机构安全服务市场不规范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安全监管力量配置不足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84448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社会安全文化建设滞后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206240"/>
            <a:ext cx="8229600" cy="548640"/>
          </a:xfrm>
          <a:prstGeom prst="pentagon">
            <a:avLst/>
          </a:prstGeom>
          <a:solidFill>
            <a:srgbClr val="FF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安全技术支撑能力有待加强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16/80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第三部分</a:t>
            </a:r>
            <a:br/>
            <a:r>
              <a:t>PART 0三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提升领导力带动企业落实责任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17/80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三、提升领导力带动企业落实责任概述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（一）</a:t>
            </a:r>
            <a:r>
              <a:rPr sz="1600" b="1">
                <a:solidFill>
                  <a:srgbClr val="333333"/>
                </a:solidFill>
              </a:rPr>
              <a:t>领导者安全角色认知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92024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（二）</a:t>
            </a:r>
            <a:r>
              <a:rPr sz="1600" b="1">
                <a:solidFill>
                  <a:srgbClr val="333333"/>
                </a:solidFill>
              </a:rPr>
              <a:t>领导者安全行为规范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74320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（三）</a:t>
            </a:r>
            <a:r>
              <a:rPr sz="1600" b="1">
                <a:solidFill>
                  <a:srgbClr val="333333"/>
                </a:solidFill>
              </a:rPr>
              <a:t>安全领导力提升路径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56616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450"/>
                </a:solidFill>
              </a:rPr>
              <a:t>（四）</a:t>
            </a:r>
            <a:r>
              <a:rPr sz="1600" b="1">
                <a:solidFill>
                  <a:srgbClr val="333333"/>
                </a:solidFill>
              </a:rPr>
              <a:t>安全文化建设推动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18/80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（一）领导者安全角色认知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109728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决策者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17043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将安全纳入企业战略规划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28800"/>
            <a:ext cx="109728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践行者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0195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以身作则遵守安全规定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560320"/>
            <a:ext cx="109728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推动者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3347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持续推进安全文化建设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291839"/>
            <a:ext cx="1097280" cy="50292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监督者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364991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督促安全责任落实</a:t>
            </a:r>
          </a:p>
        </p:txBody>
      </p:sp>
      <p:sp>
        <p:nvSpPr>
          <p:cNvPr id="12" name="Regular Pentagon 11"/>
          <p:cNvSpPr/>
          <p:nvPr/>
        </p:nvSpPr>
        <p:spPr>
          <a:xfrm>
            <a:off x="457200" y="5303520"/>
            <a:ext cx="8229600" cy="109728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6450"/>
                </a:solidFill>
              </a:defRPr>
            </a:pPr>
            <a:r>
              <a:t>领导重视是抓好安全生产工作的关键！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19/80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（二）领导者安全行为规范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1. 亲自研究部署安全工作，定期召开安全会议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2. 定期带队检查安全生产，深入现场发现问题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3. 带头参加安全教育培训，提升自身安全素养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4. 及时研究解决安全问题，整改隐患不过夜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8444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5. 建立健全安全考核机制，奖惩分明促落实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20624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6. 公开表彰安全先进典型，营造良好安全氛围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20/80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（三）安全领导力提升路径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137160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理念先行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7043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树立"安全第一"理念，形成安全文化认同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1828800"/>
            <a:ext cx="137160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制度保障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0195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完善安全责任体系，明确各层各级职责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2560320"/>
            <a:ext cx="137160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3347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加强安全培训学习，提高安全管理水平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291839"/>
            <a:ext cx="137160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行为示范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364991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领导以身作则，带动全员安全行为</a:t>
            </a:r>
          </a:p>
        </p:txBody>
      </p:sp>
      <p:sp>
        <p:nvSpPr>
          <p:cNvPr id="12" name="Regular Pentagon 11"/>
          <p:cNvSpPr/>
          <p:nvPr/>
        </p:nvSpPr>
        <p:spPr>
          <a:xfrm>
            <a:off x="457200" y="4023359"/>
            <a:ext cx="1371600" cy="50292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持续改进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096511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定期评估反馈，不断优化安全管理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21/80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（四）安全文化建设推动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85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安全愿景：</a:t>
            </a:r>
            <a:r>
              <a:rPr sz="1400">
                <a:solidFill>
                  <a:srgbClr val="333333"/>
                </a:solidFill>
              </a:rPr>
              <a:t>零事故、零伤害、零污染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685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安全使命：</a:t>
            </a:r>
            <a:r>
              <a:rPr sz="1400">
                <a:solidFill>
                  <a:srgbClr val="333333"/>
                </a:solidFill>
              </a:rPr>
              <a:t>保障员工生命安全，守护企业健康发展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685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安全价值观：</a:t>
            </a:r>
            <a:r>
              <a:rPr sz="1400">
                <a:solidFill>
                  <a:srgbClr val="333333"/>
                </a:solidFill>
              </a:rPr>
              <a:t>安全是最大的效益，安全是最好的业绩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29000"/>
            <a:ext cx="8229600" cy="685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6450"/>
                </a:solidFill>
              </a:rPr>
              <a:t>安全行为准则：</a:t>
            </a:r>
            <a:r>
              <a:rPr sz="1400">
                <a:solidFill>
                  <a:srgbClr val="333333"/>
                </a:solidFill>
              </a:rPr>
              <a:t>遵章守纪，按章操作、拒绝违章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5303520"/>
            <a:ext cx="8229600" cy="109728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6450"/>
                </a:solidFill>
              </a:defRPr>
            </a:pPr>
            <a:r>
              <a:t>文化管人管灵魂，制度管人管行为！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22/80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安全生产法律体系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【上位法】《中华人民共和国安全生产法》（2021年修订）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【专门法】《中华人民共和国消防法》《危险化学品安全管理条例》等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【行政法规】《生产安全事故应急条例》《安全生产许可证条例》等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【部门规章】《生产安全事故报告和调查处理条例》等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【地方性法规】各省市安全生产条例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23/80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安全生产主体责任的法定定义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1371600"/>
            <a:ext cx="7315200" cy="137160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i="1">
                <a:solidFill>
                  <a:srgbClr val="1E3C72"/>
                </a:solidFill>
              </a:defRPr>
            </a:pPr>
            <a:r>
              <a:t>"生产经营单位是安全生产的责任主体，对本单位的安全生产承担主体责任。"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主体责任包括：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3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① 建立健全安全生产责任制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5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② 配备安全生产管理人员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2627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③ 保障安全生产投入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19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④ 落实安全教育培训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53211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⑤ 强化应急救援体系建设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24/80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企业主要负责人七项职责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建立、健全本单位安全生产责任制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组织制定本单位安全生产规章制度和操作规程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组织制定并实施本单位安全生产教育和培训计划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保证本单位安全生产投入的有效实施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督促、检查本单位的安全生产工作，及时消除生产安全事故隐患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38911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6. 组织制定并实施本单位的生产安全事故应急救援预案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5047487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7. 及时、如实报告生产安全事故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25/80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安全生产法律责任追究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【行政处罚】责令限期改正、罚款、停产停业整顿、吊销证照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10512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【民事责任】赔偿损失、消除影响、恢复原状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23744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【刑事责任】重大责任事故罪、重大劳动安全事故罪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236976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【量刑标准】造成死亡1-3人：3年以下；3人以上：3-7年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50208"/>
            <a:ext cx="8229600" cy="64008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【加重情节】存在谎报、瞒报、伪造现场等行为从重处罚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5303520"/>
            <a:ext cx="8229600" cy="109728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43232"/>
                </a:solidFill>
              </a:defRPr>
            </a:pPr>
            <a:r>
              <a:t>法网恢恢，疏而不漏！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26/80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双重预防机制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45720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【风险分级管控】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0020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① 全面辨识风险 — 确定风险点 — 评估风险等级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10312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② 制定管控措施 — 明确责任人和管控周期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606039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③ 动态更新 — 根据实际情况及时调整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291839"/>
            <a:ext cx="45720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【隐患排查治理】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794759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① 日常排查 — 班前班后检查 — 专项检查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297679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② 分级治理 — 班组级/车间级/厂级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4800599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③ 闭环管理 — 整改-验收-销号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27/80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2024年安全生产月主题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1371600" y="1828800"/>
            <a:ext cx="6400800" cy="13716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"人人讲安全、个个会应急"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▸ 强化安全发展理念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▸ 普及安全知识技能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199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▸ 提升应急处置能力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▸ 营造浓厚安全氛围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28/80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安全生产费用提取与使用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45720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【提取标准】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55448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营业收入&lt;1000万：提3‰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01168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营业收入1000万-10亿：提1.5‰（上限800万）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46888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营业收入&gt;10亿：提0.5‰（上限2000万）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063240"/>
            <a:ext cx="45720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【使用范围】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52044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安全防护设施设备改造更新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977639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安全生产技术推广应用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443484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应急救援装备器材配备</a:t>
            </a:r>
          </a:p>
        </p:txBody>
      </p:sp>
      <p:sp>
        <p:nvSpPr>
          <p:cNvPr id="12" name="Regular Pentagon 11"/>
          <p:cNvSpPr/>
          <p:nvPr/>
        </p:nvSpPr>
        <p:spPr>
          <a:xfrm>
            <a:off x="457200" y="489204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安全教育培训宣传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29/80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安全生产标准化建设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45720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【创建要求】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55448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建立并保持安全生产管理体系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01168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涵盖安全生产所有相关要素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46888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实现岗位达标，专业达标、企业达标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063240"/>
            <a:ext cx="4572000" cy="457200"/>
          </a:xfrm>
          <a:prstGeom prst="pentagon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【评审等级】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352044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一级：国家评审（评分≥90）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3977639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二级：省级评审（评分≥75）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4434840"/>
            <a:ext cx="4572000" cy="457200"/>
          </a:xfrm>
          <a:prstGeom prst="pentagon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三级：市县级评审（评分≥60）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30/80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案例一：福建泉州欣佳酒店"3·7"坍塌事故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【事故概况】2020年3月7日，泉州市鲤城区欣佳酒店发生坍塌，造成29人死亡、42人受伤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【直接原因】违法违规建设施工，原四层钢结构建筑被违规增加夹层改建为七层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【主要教训】违法违规建设、监管严重缺位、隐患长期存在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31/80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案例二：湖北十堰燃气爆炸事故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【事故概况】2021年6月13日，十堰市张湾区艳湖社区集贸市场发生燃气爆炸，造成25人死亡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【直接原因】燃气管道长期泄漏，积累的燃气达到爆炸极限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【主要教训】管道巡检维护不到位、监测预警不完善、应急处置不力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32/80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案例三：湖南长沙"4·29"自建房倒塌事故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【事故概况】2022年4月29日，长沙市望城区一居民自建房倒塌，造成54人死亡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【直接原因】房屋地基承载力不足，违规加盖导致荷载增加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【主要教训】违规建设、监管缺失、排查整治不力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33/80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案例四：北京丰台长峰医院火灾事故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【事故概况】2023年4月18日，北京长峰医院住院部发生火灾，造成29人死亡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【直接原因】施工作业产生的火花引燃涂料挥发物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【主要教训】动火作业安全管理缺失、消防设施故障、应急疏散不力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34/80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案例五：广东梅大高速塌方灾害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【事故概况】2024年5月1日，梅大高速茶阳段发生塌方灾害，造成48人死亡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74519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【直接原因】连续强降雨导致路基边坡失稳，发生滑坡塌方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73152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【主要教训】地质风险评估不足、监测预警不完善、应急管控不及时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35/80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事故共性教训（一）——主体责任不落实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企业安全意识淡薄，安全投入严重不足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10512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主要负责人安全职责履行不到位，重生产轻安全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23744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安全管理机构不健全，安全制度不落实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37/80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事故共性教训（二）——法规执行不严格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有法不依、有章不循，违法违规行为普遍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10512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安全审批把关不严，源头管控流于形式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23744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监管执法"宽松软虚"，处罚不到位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38/80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事故共性教训（三）——隐患排查治理不深入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隐患排查走形式、搞过场，发现不了问题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10512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重大隐患视而不见，长期得不到治理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23744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双重预防机制流于形式，运行不到位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39/80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事故共性教训（四）——应急管理不到位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应急预案可操作性差，演练走过场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10512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应急响应不及时，错失最佳救援时机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23744"/>
            <a:ext cx="8229600" cy="64008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人员应急能力不足，自救互救意识差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40/80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建筑施工事故典型案例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高处坠落——占比52%以上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物体打击——占比15%左右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坍塌事故——占比10%左右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机械伤害——占比9%左右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其他事故——触电、车辆伤害等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41/80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危险化学品事故案例与教训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【2015年天津港爆炸】硝酸铵违规储存，事故致165人遇难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847088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【2019年江苏响水爆炸】危化品违法储存，事故致78人死亡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596896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【共同教训】危化品储存管理混乱、隐患长期存在、监管严重缺位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346703"/>
            <a:ext cx="8229600" cy="685800"/>
          </a:xfrm>
          <a:prstGeom prst="pentagon">
            <a:avLst/>
          </a:prstGeom>
          <a:solidFill>
            <a:srgbClr val="FF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【防控重点】危化品全生命周期管控、风险辨识、储罐监测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42/80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安全管理核心理念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C72"/>
                </a:solidFill>
              </a:rPr>
              <a:t>【安全第一】</a:t>
            </a:r>
            <a:r>
              <a:rPr sz="1200">
                <a:solidFill>
                  <a:srgbClr val="333333"/>
                </a:solidFill>
              </a:rPr>
              <a:t>安全是一切工作的前提和基础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C72"/>
                </a:solidFill>
              </a:rPr>
              <a:t>【预防为主】</a:t>
            </a:r>
            <a:r>
              <a:rPr sz="1200">
                <a:solidFill>
                  <a:srgbClr val="333333"/>
                </a:solidFill>
              </a:rPr>
              <a:t>防患于未然，将事故消灭在萌芽状态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C72"/>
                </a:solidFill>
              </a:rPr>
              <a:t>【综合治理】</a:t>
            </a:r>
            <a:r>
              <a:rPr sz="1200">
                <a:solidFill>
                  <a:srgbClr val="333333"/>
                </a:solidFill>
              </a:rPr>
              <a:t>统筹兼顾、多措并举、系统推进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C72"/>
                </a:solidFill>
              </a:rPr>
              <a:t>【全员参与】</a:t>
            </a:r>
            <a:r>
              <a:rPr sz="1200">
                <a:solidFill>
                  <a:srgbClr val="333333"/>
                </a:solidFill>
              </a:rPr>
              <a:t>安全人人有责，安全关系你我他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8444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C72"/>
                </a:solidFill>
              </a:rPr>
              <a:t>【持续改进】</a:t>
            </a:r>
            <a:r>
              <a:rPr sz="1200">
                <a:solidFill>
                  <a:srgbClr val="333333"/>
                </a:solidFill>
              </a:rPr>
              <a:t>安全管理工作永远在路上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43/80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安全文化理念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C72"/>
                </a:solidFill>
              </a:rPr>
              <a:t>【安全愿景】</a:t>
            </a:r>
            <a:r>
              <a:rPr sz="1200">
                <a:solidFill>
                  <a:srgbClr val="333333"/>
                </a:solidFill>
              </a:rPr>
              <a:t>零事故、零伤害、零污染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C72"/>
                </a:solidFill>
              </a:rPr>
              <a:t>【安全使命】</a:t>
            </a:r>
            <a:r>
              <a:rPr sz="1200">
                <a:solidFill>
                  <a:srgbClr val="333333"/>
                </a:solidFill>
              </a:rPr>
              <a:t>保障员工生命安全，守护企业健康发展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C72"/>
                </a:solidFill>
              </a:rPr>
              <a:t>【安全价值观】</a:t>
            </a:r>
            <a:r>
              <a:rPr sz="1200">
                <a:solidFill>
                  <a:srgbClr val="333333"/>
                </a:solidFill>
              </a:rPr>
              <a:t>安全是最大的效益，安全是最好的业绩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C72"/>
                </a:solidFill>
              </a:rPr>
              <a:t>【安全行为准则】</a:t>
            </a:r>
            <a:r>
              <a:rPr sz="1200">
                <a:solidFill>
                  <a:srgbClr val="333333"/>
                </a:solidFill>
              </a:rPr>
              <a:t>遵章守纪、按章操作、拒绝违章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44/80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杜邦安全管理十大理念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所有安全事故都可以预防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各级管理层对安全负有直接责任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各级管理者必须亲自检查安全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员工必须接受严格的安全培训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584448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安全是聘用的条件之一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20624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6. 员工必须参与安全事务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82803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7. 隐患必须及时整改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544982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8. 工作外的安全与工作内安全同样重要</a:t>
            </a:r>
          </a:p>
        </p:txBody>
      </p:sp>
      <p:sp>
        <p:nvSpPr>
          <p:cNvPr id="12" name="Regular Pentagon 11"/>
          <p:cNvSpPr/>
          <p:nvPr/>
        </p:nvSpPr>
        <p:spPr>
          <a:xfrm>
            <a:off x="457200" y="607161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9. 安全是衡量管理业绩的标准</a:t>
            </a:r>
          </a:p>
        </p:txBody>
      </p:sp>
      <p:sp>
        <p:nvSpPr>
          <p:cNvPr id="13" name="Regular Pentagon 12"/>
          <p:cNvSpPr/>
          <p:nvPr/>
        </p:nvSpPr>
        <p:spPr>
          <a:xfrm>
            <a:off x="457200" y="6693407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10. 良好的安全创造良好的业绩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45/80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安全生产责任体系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【横向到边】各职能部门各司其职、齐抓共管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【纵向到底】层层分解，责任到人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【网格化管理】不留死角、不留空白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46/80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安全管理制度体系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【基础管理制度】安全生产责任制、安全目标管理、安全绩效考核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【日常管理制度】隐患排查治理、安全检查、安全例会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【专项管理制度】危化品管理、特种设备管理、动火作业管理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962656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【应急管理制度】应急预案、应急演练、应急物资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47/80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安全管理组织机构设置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【安全生产委员会（安委会）】企业最高安全决策机构，主要负责人任主任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【安全管理机构（安监部门）】配备专职安全管理人员，行使安全监管职能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【基层安全组织】各车间、班组设立专兼职安全员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48/80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安全风险管控技术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【安全评价技术】安全预评价、安全验收评价、安全现状评价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【危险有害因素辨识】人的因素、物的因素、环境因素、管理因素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【风险评估方法】SCL、JHA、FTA、HAZOP等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49/80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隐患排查治理技术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【隐患分类】一般隐患与重大隐患分级管理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19072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【隐患排查方法】日常巡检、专项检查、综合检查、专家检查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40864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【闭环管理流程】发现 → 报告 → 评估 → 整改 → 验收 → 销号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50/80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安全监测监控技术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【视频监控系统】24小时实时监控，重点区域全覆盖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【气体监测系统】实时监测有毒有害气体浓度，超限报警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【温度压力监测】关键设备运行参数在线监测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【人员定位系统】掌握人员位置，实现智能考勤和应急救援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【智能预警系统】数据综合分析，提前预警潜在风险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51/80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智慧安全技术应用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【物联网技术】设备互联互通，数据实时采集传输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【大数据分析】海量数据分析挖掘，精准发现问题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【人工智能】AI智能识别隐患，自动预警提醒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【BIM技术】建筑信息模型，实现可视化安全管理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52/80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特种设备安全管理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【特种设备范围】锅炉、压力容器、压力管道、电梯、起重机械等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【管理要求】办理使用登记、定期检验检测、配备作业人员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【日常管理】日常维护保养、定期自行检查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53/80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应急管理体系建设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【应急预案体系】综合预案、专项预案、现场处置方案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【应急救援队伍】专职救援队、兼职救援队、志愿者队伍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【应急物资装备】救援装备、医疗急救、通讯指挥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【应急演练】计划制定、实战演练、总结评估、持续改进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54/80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应急处置程序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【第一时间】启动应急响应，组织人员疏散撤离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【第二时间】报告事故情况，拨打119/120/110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【第三时间】组织先期处置，控制事态发展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【第四时间】配合救援调查，分析事故原因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【第五时间】落实整改措施，防止事故重复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55/80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安全培训教育体系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【三级安全教育】厂级教育 → 车间教育 → 班组教育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【培训内容】安全法律法规、安全管理制度、操作规程、应急知识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【培训方式】集中授课、实操演练、案例分析、在线学习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【培训考核】理论考试、实操考核、持证上岗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56/80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承包商安全管理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【资质审查】严格审查承包商资质、安全业绩和施工能力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【安全协议】签订安全协议，明确双方安全责任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【入厂培训】对承包商人员进行入厂安全教育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【过程监管】加强作业过程监督检查，发现问题及时纠正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57/80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安全绩效考核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【考核指标】事故指标、管理指标、效果指标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【考核方式】月度考核、季度评价、年度总评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【结果应用】与薪酬挂钩、与晋升挂钩、与评优挂钩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58/80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班组安全管理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【班组安全核心】班前安全喊话、班中安全互保、班后安全总结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【安全员职责】检查现场安全状态、纠正违章作业行为、报告安全隐患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59/80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作业现场安全管理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【定置管理】物品定位摆放，通道畅通有序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【目视管理】安全标识清晰，风险提示明确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【防护管理】正确佩戴防护用品，做好个人防护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60/80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培训总结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安全生产必须警钟长鸣、常抓不懈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落实主体责任是安全生产的根本保障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隐患排查治理是防范事故的关键抓手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应急能力建设是减少损失的重要手段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▸ 安全文化建设是长治久安的根本途径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61/80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下一步工作要求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深入开展安全隐患大排查大整治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全面推进安全生产标准化建设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切实加强应急能力建设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持续强化安全培训和宣传教育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5. 加快安全管理信息化建设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62/80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庄严承诺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严格遵守安全生产法律法规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认真落实安全生产主体责任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扎实开展安全隐患排查治理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不断提升安全管理能力和水平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730751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切实保障员工生命安全和身体健康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63/80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安全寄语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18288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i="1">
                <a:solidFill>
                  <a:srgbClr val="1E3C72"/>
                </a:solidFill>
              </a:defRPr>
            </a:pPr>
            <a:r>
              <a:t>安全生产只有起点，没有终点；只有逗号，没有句号。让我们共同努力，守护安全，共创美好未来！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64/80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思考与讨论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1. 结合本职工作，谈谈如何落实安全生产责任？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2. 请举例说明本岗位存在的主要安全风险及防控措施？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3. 如果发现重大安全隐患，应该如何处理？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072383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4. 发生事故时，你会如何进行初期处置和应急疏散？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65/80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培训效果评估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【评估方式】理论测试（40%）+ 实操考核（40%）+ 培训表现（20%）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【评估要求】80分以上为合格，不合格者需补训补考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66/80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学习资料推荐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【法规文件】《安全生产法》《消防法》《危化品安全管理条例》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【标准规范】《企业安全生产标准化基本规范》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【专业书籍】《现代安全管理》《安全心理学》《事故预防与控制》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67/80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联系方式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【安全管理部门】联系电话：XXX-XXXX-XXXX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556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【应急救援电话】消防：119 | 急救：120 | 报警：110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414015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【安全举报】匿名举报邮箱：report@company.com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68/80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感谢各位领导和同事的积极参与！</a:t>
            </a:r>
          </a:p>
          <a:p>
            <a:pPr algn="ctr">
              <a:defRPr sz="2800">
                <a:solidFill>
                  <a:srgbClr val="4682B4"/>
                </a:solidFill>
              </a:defRPr>
            </a:pPr>
            <a:r>
              <a:t>安全生产，人人有责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让我们共同守护安全，共享美好生活！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69/80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37160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本PPT可根据实际需要增补以下内容：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01168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企业安全生产实际情况分析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65176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行业安全事故案例汇编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29184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本单位安全生产规章制度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3192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应急预案文本及演练记录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572000"/>
            <a:ext cx="8229600" cy="54864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▸ 安全生产考核奖惩办法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70/80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1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第1页备用内容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71/80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2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第2页备用内容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72/80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3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第3页备用内容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73/80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4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第4页备用内容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74/80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5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第5页备用内容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75/80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6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第6页备用内容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76/80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7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第7页备用内容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77/80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8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第8页备用内容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78/80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9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第9页备用内容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79/80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附页 10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2743200"/>
            <a:ext cx="7315200" cy="18288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C72"/>
                </a:solidFill>
              </a:defRPr>
            </a:pPr>
            <a:r>
              <a:t>第10页备用内容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80/80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